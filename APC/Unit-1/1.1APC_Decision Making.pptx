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31"/>
  </p:notesMasterIdLst>
  <p:handoutMasterIdLst>
    <p:handoutMasterId r:id="rId32"/>
  </p:handoutMasterIdLst>
  <p:sldIdLst>
    <p:sldId id="256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1" r:id="rId26"/>
    <p:sldId id="290" r:id="rId27"/>
    <p:sldId id="292" r:id="rId28"/>
    <p:sldId id="294" r:id="rId29"/>
    <p:sldId id="29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3E"/>
    <a:srgbClr val="6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7853C-536D-4A76-A0AE-DD22124D55A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328" autoAdjust="0"/>
  </p:normalViewPr>
  <p:slideViewPr>
    <p:cSldViewPr snapToGrid="0">
      <p:cViewPr varScale="1">
        <p:scale>
          <a:sx n="56" d="100"/>
          <a:sy n="56" d="100"/>
        </p:scale>
        <p:origin x="10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42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EDD3B8-5E68-48E9-AAB1-5DE570C28E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97E35-4312-4077-83D3-69953080BC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36F02-AF67-416B-AB85-08CFF698F86D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53C52-2B92-4B9E-86F4-DB78684BEC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E0EA4-BAD2-4335-9446-CA4CCFEC14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5BC62-3B36-43F8-8B69-D6E5E743D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518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7E8F0-931C-4E43-98D1-A3CD0E0034DC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EB063-7F11-4E3B-BA52-07405B1C2D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93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 specific and direct in the title. Use the subtitle to give the specific context of the speech.</a:t>
            </a:r>
          </a:p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-The goal should be to capture the audience’s attention which can be done with a quote, a startling statistic, or fact.  It is not necessary to include this attention getter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45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816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81388F-6D01-4763-9497-2C5F78AF5477}"/>
              </a:ext>
            </a:extLst>
          </p:cNvPr>
          <p:cNvSpPr/>
          <p:nvPr userDrawn="1"/>
        </p:nvSpPr>
        <p:spPr>
          <a:xfrm>
            <a:off x="0" y="4818185"/>
            <a:ext cx="12192000" cy="2039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 6"/>
          <p:cNvSpPr/>
          <p:nvPr/>
        </p:nvSpPr>
        <p:spPr bwMode="ltGray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 algn="ctr">
              <a:defRPr sz="54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7432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  <a:noFill/>
          <a:ln w="25400">
            <a:gradFill>
              <a:gsLst>
                <a:gs pos="50000">
                  <a:schemeClr val="bg2"/>
                </a:gs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4059F8-A688-4FFE-AA79-3B6D811FA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22287"/>
            <a:ext cx="5181600" cy="36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AB4A3-AE75-4D00-9BE1-AF3996C6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71F3C4-BAAF-4391-B574-8E340EDA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B8DD71F-FEC6-4AB5-974A-FD2B82A7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491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Content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ltGray">
          <a:xfrm>
            <a:off x="0" y="1"/>
            <a:ext cx="12192000" cy="6251330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14" y="451513"/>
            <a:ext cx="11288972" cy="5149187"/>
          </a:xfrm>
        </p:spPr>
        <p:txBody>
          <a:bodyPr anchor="ctr" anchorCtr="0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40B6DF-7478-4740-A710-DA5E9EBA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2D89951-67E9-4086-AED0-C236A00A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553809-8746-49E3-BCB5-0A9FF406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731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 flipH="1">
            <a:off x="12699" y="0"/>
            <a:ext cx="6004585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14" y="375313"/>
            <a:ext cx="5114017" cy="1139895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1514" y="2222287"/>
            <a:ext cx="5553071" cy="3638763"/>
          </a:xfrm>
          <a:ln w="25400">
            <a:gradFill>
              <a:gsLst>
                <a:gs pos="0">
                  <a:schemeClr val="bg2"/>
                </a:gs>
                <a:gs pos="50000">
                  <a:srgbClr val="4A3030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C95D556F-51D2-4EF4-B60F-D319BF2328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099" y="375312"/>
            <a:ext cx="5186363" cy="5485737"/>
          </a:xfrm>
        </p:spPr>
        <p:txBody>
          <a:bodyPr anchor="t" anchorCtr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F86C4-C3A0-4CA8-8809-1D90DE9E4D4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DD26EA8-C9F2-49A7-8F7B-A782D30B82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1DD2E8-07A6-430F-A2FB-E2746C9352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464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 flipH="1">
            <a:off x="6187414" y="0"/>
            <a:ext cx="6004583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696" y="359551"/>
            <a:ext cx="5114017" cy="1139895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1514" y="451513"/>
            <a:ext cx="5553071" cy="5409537"/>
          </a:xfrm>
        </p:spPr>
        <p:txBody>
          <a:bodyPr anchor="t" anchorCtr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54563" y="2222287"/>
            <a:ext cx="5553071" cy="3638764"/>
          </a:xfrm>
          <a:ln>
            <a:gradFill>
              <a:gsLst>
                <a:gs pos="0">
                  <a:schemeClr val="bg2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2940641-87D1-48C5-879E-8A5FBA53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BFA68A8-3A7A-430B-9A66-482C28DC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17F98-4E3F-4327-8CCF-D13C3371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703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2B99B50-4971-48A5-8202-4CC55C7F9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7999"/>
          </a:xfrm>
          <a:custGeom>
            <a:avLst/>
            <a:gdLst>
              <a:gd name="connsiteX0" fmla="*/ 404916 w 6526400"/>
              <a:gd name="connsiteY0" fmla="*/ 0 h 6857999"/>
              <a:gd name="connsiteX1" fmla="*/ 1425163 w 6526400"/>
              <a:gd name="connsiteY1" fmla="*/ 0 h 6857999"/>
              <a:gd name="connsiteX2" fmla="*/ 2955534 w 6526400"/>
              <a:gd name="connsiteY2" fmla="*/ 0 h 6857999"/>
              <a:gd name="connsiteX3" fmla="*/ 6526400 w 6526400"/>
              <a:gd name="connsiteY3" fmla="*/ 0 h 6857999"/>
              <a:gd name="connsiteX4" fmla="*/ 6526400 w 6526400"/>
              <a:gd name="connsiteY4" fmla="*/ 6857999 h 6857999"/>
              <a:gd name="connsiteX5" fmla="*/ 404916 w 6526400"/>
              <a:gd name="connsiteY5" fmla="*/ 6857999 h 6857999"/>
              <a:gd name="connsiteX6" fmla="*/ 377830 w 6526400"/>
              <a:gd name="connsiteY6" fmla="*/ 2463800 h 6857999"/>
              <a:gd name="connsiteX7" fmla="*/ 0 w 6526400"/>
              <a:gd name="connsiteY7" fmla="*/ 2203407 h 6857999"/>
              <a:gd name="connsiteX8" fmla="*/ 391373 w 6526400"/>
              <a:gd name="connsiteY8" fmla="*/ 1854200 h 6857999"/>
              <a:gd name="connsiteX9" fmla="*/ 404916 w 6526400"/>
              <a:gd name="connsiteY9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6400" h="6857999">
                <a:moveTo>
                  <a:pt x="404916" y="0"/>
                </a:moveTo>
                <a:lnTo>
                  <a:pt x="1425163" y="0"/>
                </a:lnTo>
                <a:lnTo>
                  <a:pt x="2955534" y="0"/>
                </a:lnTo>
                <a:lnTo>
                  <a:pt x="6526400" y="0"/>
                </a:lnTo>
                <a:lnTo>
                  <a:pt x="6526400" y="6857999"/>
                </a:lnTo>
                <a:lnTo>
                  <a:pt x="404916" y="6857999"/>
                </a:lnTo>
                <a:lnTo>
                  <a:pt x="377830" y="2463800"/>
                </a:lnTo>
                <a:lnTo>
                  <a:pt x="0" y="2203407"/>
                </a:lnTo>
                <a:lnTo>
                  <a:pt x="391373" y="1854200"/>
                </a:lnTo>
                <a:cubicBezTo>
                  <a:pt x="395887" y="1282700"/>
                  <a:pt x="400402" y="571500"/>
                  <a:pt x="404916" y="0"/>
                </a:cubicBez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396" y="311813"/>
            <a:ext cx="5334448" cy="1453488"/>
          </a:xfrm>
          <a:effectLst/>
        </p:spPr>
        <p:txBody>
          <a:bodyPr anchor="b">
            <a:normAutofit/>
          </a:bodyPr>
          <a:lstStyle>
            <a:lvl1pPr algn="l">
              <a:defRPr sz="4000" b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4FB892-38DF-40F9-B034-BC1E61FC6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6" y="2057400"/>
            <a:ext cx="5334448" cy="3811588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ED24-3C5F-4326-A304-DBDBA6CE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532AEE-3AAE-4FBF-969F-8A364CE8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17C1A8-7DBE-4E24-BCA1-D820D780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9730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10001" y="2222287"/>
            <a:ext cx="10571998" cy="3638764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66CE2-DFEE-46B8-AFB2-817272E3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E9A94A-136A-4208-8F98-012BDAC1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1459C8B-DA0F-4808-A642-40471D1D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768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89884"/>
            <a:ext cx="10561418" cy="1426004"/>
          </a:xfrm>
        </p:spPr>
        <p:txBody>
          <a:bodyPr anchor="ctr" anchorCtr="0">
            <a:normAutofit/>
          </a:bodyPr>
          <a:lstStyle>
            <a:lvl1pPr algn="ctr">
              <a:defRPr sz="4000" b="0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1FEB3F-0898-4AE0-B8C4-970BF80A3766}"/>
              </a:ext>
            </a:extLst>
          </p:cNvPr>
          <p:cNvSpPr>
            <a:spLocks noGrp="1"/>
          </p:cNvSpPr>
          <p:nvPr>
            <p:ph sz="quarter" idx="14"/>
          </p:nvPr>
        </p:nvSpPr>
        <p:spPr bwMode="ltGray">
          <a:xfrm>
            <a:off x="-5291" y="-57584"/>
            <a:ext cx="12192000" cy="4851400"/>
          </a:xfrm>
          <a:custGeom>
            <a:avLst/>
            <a:gdLst>
              <a:gd name="connsiteX0" fmla="*/ 0 w 10561638"/>
              <a:gd name="connsiteY0" fmla="*/ 0 h 3937000"/>
              <a:gd name="connsiteX1" fmla="*/ 1760273 w 10561638"/>
              <a:gd name="connsiteY1" fmla="*/ 0 h 3937000"/>
              <a:gd name="connsiteX2" fmla="*/ 1760273 w 10561638"/>
              <a:gd name="connsiteY2" fmla="*/ 0 h 3937000"/>
              <a:gd name="connsiteX3" fmla="*/ 4400683 w 10561638"/>
              <a:gd name="connsiteY3" fmla="*/ 0 h 3937000"/>
              <a:gd name="connsiteX4" fmla="*/ 10561638 w 10561638"/>
              <a:gd name="connsiteY4" fmla="*/ 0 h 3937000"/>
              <a:gd name="connsiteX5" fmla="*/ 10561638 w 10561638"/>
              <a:gd name="connsiteY5" fmla="*/ 2296583 h 3937000"/>
              <a:gd name="connsiteX6" fmla="*/ 10561638 w 10561638"/>
              <a:gd name="connsiteY6" fmla="*/ 2296583 h 3937000"/>
              <a:gd name="connsiteX7" fmla="*/ 10561638 w 10561638"/>
              <a:gd name="connsiteY7" fmla="*/ 3280833 h 3937000"/>
              <a:gd name="connsiteX8" fmla="*/ 10561638 w 10561638"/>
              <a:gd name="connsiteY8" fmla="*/ 3937000 h 3937000"/>
              <a:gd name="connsiteX9" fmla="*/ 4400683 w 10561638"/>
              <a:gd name="connsiteY9" fmla="*/ 3937000 h 3937000"/>
              <a:gd name="connsiteX10" fmla="*/ 2077263 w 10561638"/>
              <a:gd name="connsiteY10" fmla="*/ 4251330 h 3937000"/>
              <a:gd name="connsiteX11" fmla="*/ 1760273 w 10561638"/>
              <a:gd name="connsiteY11" fmla="*/ 3937000 h 3937000"/>
              <a:gd name="connsiteX12" fmla="*/ 0 w 10561638"/>
              <a:gd name="connsiteY12" fmla="*/ 3937000 h 3937000"/>
              <a:gd name="connsiteX13" fmla="*/ 0 w 10561638"/>
              <a:gd name="connsiteY13" fmla="*/ 3280833 h 3937000"/>
              <a:gd name="connsiteX14" fmla="*/ 0 w 10561638"/>
              <a:gd name="connsiteY14" fmla="*/ 2296583 h 3937000"/>
              <a:gd name="connsiteX15" fmla="*/ 0 w 10561638"/>
              <a:gd name="connsiteY15" fmla="*/ 2296583 h 3937000"/>
              <a:gd name="connsiteX16" fmla="*/ 0 w 10561638"/>
              <a:gd name="connsiteY16" fmla="*/ 0 h 393700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482983 w 10561638"/>
              <a:gd name="connsiteY9" fmla="*/ 39751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878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624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243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61638" h="4251330">
                <a:moveTo>
                  <a:pt x="0" y="0"/>
                </a:moveTo>
                <a:lnTo>
                  <a:pt x="1760273" y="0"/>
                </a:lnTo>
                <a:lnTo>
                  <a:pt x="1760273" y="0"/>
                </a:lnTo>
                <a:lnTo>
                  <a:pt x="4400683" y="0"/>
                </a:lnTo>
                <a:lnTo>
                  <a:pt x="10561638" y="0"/>
                </a:lnTo>
                <a:lnTo>
                  <a:pt x="10561638" y="2296583"/>
                </a:lnTo>
                <a:lnTo>
                  <a:pt x="10561638" y="2296583"/>
                </a:lnTo>
                <a:lnTo>
                  <a:pt x="10561638" y="3280833"/>
                </a:lnTo>
                <a:lnTo>
                  <a:pt x="10561638" y="3937000"/>
                </a:lnTo>
                <a:lnTo>
                  <a:pt x="2343283" y="3924300"/>
                </a:lnTo>
                <a:lnTo>
                  <a:pt x="2077263" y="4251330"/>
                </a:lnTo>
                <a:lnTo>
                  <a:pt x="1760273" y="3937000"/>
                </a:lnTo>
                <a:lnTo>
                  <a:pt x="0" y="3937000"/>
                </a:lnTo>
                <a:lnTo>
                  <a:pt x="0" y="3280833"/>
                </a:lnTo>
                <a:lnTo>
                  <a:pt x="0" y="2296583"/>
                </a:lnTo>
                <a:lnTo>
                  <a:pt x="0" y="229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E71A4-2AD7-44A1-9075-3AB1A226C1C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F74D3-28C0-4AA1-8508-75D32DA3C2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D83112-B341-46D2-8B30-46DBC3DAE3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111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13A633-0BBE-491F-94FD-A319FC7D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16FEDE-3F7F-4F2C-A341-BDA56AA7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1EE25F-3E3B-45D3-B259-498E69BF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4028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ltGray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606669"/>
            <a:ext cx="10561418" cy="3813527"/>
          </a:xfrm>
        </p:spPr>
        <p:txBody>
          <a:bodyPr anchor="ctr" anchorCtr="0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F5D18E-4241-429D-BEDB-6A7415C5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5CFD55-6AD5-4B7E-AC33-483174EF1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4D43F5-DCFF-4B29-AC19-0BF28605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64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3473E37-6504-470F-92FA-792C3ACA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523DE74-18E2-4EF3-A1FC-8A32CCFE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1B4AF82-5505-4A7E-AA81-139F214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5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F03C3-E3F3-4845-8D9E-9BD2A676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9C7230-29FF-42F2-A662-1BC1D19C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EBD02D-5A68-4A14-892F-DE4953F2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98126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D14D8-4D13-4DFE-938B-B710F891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4B8A5-6021-4208-A587-B45576E6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6ABC-E632-4853-B7CC-A2FB4B7C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40365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ltGray">
          <a:xfrm>
            <a:off x="1073151" y="446087"/>
            <a:ext cx="3547533" cy="283844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 anchor="ctr" anchorCtr="0"/>
          <a:lstStyle>
            <a:lvl1pPr algn="l">
              <a:defRPr sz="4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73151" y="3022600"/>
            <a:ext cx="3547533" cy="2838449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F97433-9C09-4B71-A1E0-24F75011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EDA271-FE91-46E6-ABB5-0A3AD244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4DCFF3-B944-4C24-A12C-689D1FF7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5611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ltGray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7574642" y="1081456"/>
            <a:ext cx="3810001" cy="4075465"/>
          </a:xfrm>
        </p:spPr>
        <p:txBody>
          <a:bodyPr anchor="t" anchorCtr="0">
            <a:normAutofit/>
          </a:bodyPr>
          <a:lstStyle>
            <a:lvl1pPr marL="0" indent="0" algn="l">
              <a:buFontTx/>
              <a:buNone/>
              <a:defRPr sz="28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64F81E-11BA-4BB3-AC2C-0A729DC676E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93A4488-E8DE-4FEB-88F9-B37F95CC83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909D08-1E53-42D5-954B-F61B508364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0964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ltGray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 anchor="ctr" anchorCtr="0"/>
          <a:lstStyle>
            <a:lvl1pPr algn="l">
              <a:defRPr sz="4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56000" y="2286000"/>
            <a:ext cx="4880300" cy="2295525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28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42ECB-4FB1-4B01-80F3-04208C781B1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76F215A-F354-440E-A263-A920F595083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90FC50C-9C02-4BD6-9CBE-6880E12977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846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ltGray">
          <a:xfrm>
            <a:off x="7669651" y="0"/>
            <a:ext cx="4522349" cy="5861051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3754460" cy="5134798"/>
          </a:xfrm>
        </p:spPr>
        <p:txBody>
          <a:bodyPr vert="horz" anchor="ctr" anchorCtr="1"/>
          <a:lstStyle>
            <a:lvl1pPr algn="l">
              <a:defRPr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10001" y="446089"/>
            <a:ext cx="6611540" cy="5414962"/>
          </a:xfrm>
        </p:spPr>
        <p:txBody>
          <a:bodyPr vert="horz" anchor="ctr" anchorCtr="1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128B4-F868-4384-A8AA-473DA351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FF940D-9281-4C2A-BA62-E5854A11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1454F-842C-4F51-A7E7-0335B2FB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369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B7F6C47-B260-4BB6-8230-7D14D5CDE026}" type="datetimeFigureOut">
              <a:rPr lang="en-US" noProof="0" smtClean="0"/>
              <a:t>6/24/2026</a:t>
            </a:fld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4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7" r:id="rId3"/>
    <p:sldLayoutId id="2147483688" r:id="rId4"/>
    <p:sldLayoutId id="2147483689" r:id="rId5"/>
    <p:sldLayoutId id="2147483681" r:id="rId6"/>
    <p:sldLayoutId id="2147483690" r:id="rId7"/>
    <p:sldLayoutId id="2147483682" r:id="rId8"/>
    <p:sldLayoutId id="2147483674" r:id="rId9"/>
    <p:sldLayoutId id="2147483675" r:id="rId10"/>
    <p:sldLayoutId id="2147483677" r:id="rId11"/>
    <p:sldLayoutId id="2147483678" r:id="rId12"/>
    <p:sldLayoutId id="2147483679" r:id="rId13"/>
    <p:sldLayoutId id="2147483680" r:id="rId14"/>
    <p:sldLayoutId id="2147483683" r:id="rId15"/>
    <p:sldLayoutId id="2147483684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000" b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D37BC-7D91-4F83-845D-70080D7DD6FC}"/>
              </a:ext>
            </a:extLst>
          </p:cNvPr>
          <p:cNvSpPr>
            <a:spLocks noGrp="1"/>
          </p:cNvSpPr>
          <p:nvPr>
            <p:ph type="ctrTitle"/>
          </p:nvPr>
        </p:nvSpPr>
        <p:spPr bwMode="black"/>
        <p:txBody>
          <a:bodyPr/>
          <a:lstStyle/>
          <a:p>
            <a:r>
              <a:rPr lang="en-US" dirty="0"/>
              <a:t>Decision Making: Applying Analytical Frameworks and Cognitive Biases</a:t>
            </a:r>
            <a:endParaRPr lang="en-US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5DACC-1D74-41AD-B036-C015472B94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Dr Martha Karunakar 30.06.2026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D618E2-C3E2-4721-A4CA-1E9208B1959E}"/>
              </a:ext>
            </a:extLst>
          </p:cNvPr>
          <p:cNvSpPr txBox="1"/>
          <p:nvPr/>
        </p:nvSpPr>
        <p:spPr>
          <a:xfrm>
            <a:off x="8767355" y="360063"/>
            <a:ext cx="3019646" cy="584775"/>
          </a:xfrm>
          <a:prstGeom prst="rect">
            <a:avLst/>
          </a:prstGeom>
          <a:solidFill>
            <a:schemeClr val="tx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a typeface="Tahoma" panose="020B0604030504040204" pitchFamily="34" charset="0"/>
                <a:cs typeface="Tahoma" panose="020B0604030504040204" pitchFamily="34" charset="0"/>
              </a:rPr>
              <a:t>Tip: Use graphics to set the tone of the speech.</a:t>
            </a:r>
          </a:p>
        </p:txBody>
      </p:sp>
    </p:spTree>
    <p:extLst>
      <p:ext uri="{BB962C8B-B14F-4D97-AF65-F5344CB8AC3E}">
        <p14:creationId xmlns:p14="http://schemas.microsoft.com/office/powerpoint/2010/main" val="161397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4C2D7-31D6-969B-D07E-B549848C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B8900-BEE8-9688-1128-CE3DD81AC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Understand the decision-making process. </a:t>
            </a:r>
          </a:p>
          <a:p>
            <a:r>
              <a:rPr lang="en-US" sz="2400" dirty="0"/>
              <a:t>Apply analytical frameworks to solve engineering problems. </a:t>
            </a:r>
          </a:p>
          <a:p>
            <a:r>
              <a:rPr lang="en-US" sz="2400" dirty="0"/>
              <a:t>Identify common cognitive biases that affect decision-making. </a:t>
            </a:r>
          </a:p>
          <a:p>
            <a:r>
              <a:rPr lang="en-US" sz="2400" dirty="0"/>
              <a:t>Develop strategies to make logical, ethical, and evidence-based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760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9F9E7-AD4E-57AB-8D4C-2DC9BCC0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E8CEB-023B-8CE5-CF95-42FCE0467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What is Decision Making?</a:t>
            </a:r>
          </a:p>
          <a:p>
            <a:r>
              <a:rPr lang="en-US" sz="2400" dirty="0"/>
              <a:t>Decision making is the process of </a:t>
            </a:r>
            <a:r>
              <a:rPr lang="en-US" sz="2400" b="1" dirty="0"/>
              <a:t>identifying a problem, evaluating alternatives, and selecting the most appropriate course of action to achieve a desired outcome.</a:t>
            </a:r>
            <a:endParaRPr lang="en-US" sz="2400" dirty="0"/>
          </a:p>
          <a:p>
            <a:r>
              <a:rPr lang="en-US" sz="2400" b="1" dirty="0"/>
              <a:t>Definition:</a:t>
            </a:r>
            <a:r>
              <a:rPr lang="en-US" sz="2400" dirty="0"/>
              <a:t> Decision making is the systematic process of choosing the best alternative from available options based on evidence, analysis, and objectives.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2062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13D0-FD38-B8CC-4EBB-9DA62B87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US" b="1" dirty="0"/>
              <a:t>Characteristics of Good Decision Making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B2BFE-E500-940B-E950-5A332A9A5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 good decision is:</a:t>
            </a:r>
          </a:p>
          <a:p>
            <a:r>
              <a:rPr lang="en-US" b="1" dirty="0"/>
              <a:t>Evidence-based </a:t>
            </a:r>
          </a:p>
          <a:p>
            <a:r>
              <a:rPr lang="en-US" b="1" dirty="0"/>
              <a:t>Logical </a:t>
            </a:r>
          </a:p>
          <a:p>
            <a:r>
              <a:rPr lang="en-US" b="1" dirty="0"/>
              <a:t>Timely </a:t>
            </a:r>
          </a:p>
          <a:p>
            <a:r>
              <a:rPr lang="en-US" b="1" dirty="0"/>
              <a:t>Ethical </a:t>
            </a:r>
          </a:p>
          <a:p>
            <a:r>
              <a:rPr lang="en-US" b="1" dirty="0"/>
              <a:t>Practical </a:t>
            </a:r>
          </a:p>
          <a:p>
            <a:r>
              <a:rPr lang="en-US" b="1" dirty="0"/>
              <a:t>Cost-effective </a:t>
            </a:r>
          </a:p>
          <a:p>
            <a:r>
              <a:rPr lang="en-US" b="1" dirty="0"/>
              <a:t>Sustainable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866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04D6D-59FB-8FC5-4997-A915C20A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US" b="1" dirty="0"/>
              <a:t>The Decision-Making Process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5DF22-933F-32C3-B15C-71100393E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Step 1: Identify the Problem</a:t>
            </a:r>
          </a:p>
          <a:p>
            <a:r>
              <a:rPr lang="en-US" dirty="0"/>
              <a:t>Ask: What is the issue?  Why is it happening? </a:t>
            </a:r>
          </a:p>
          <a:p>
            <a:r>
              <a:rPr lang="en-US" dirty="0"/>
              <a:t>Example: A manufacturing machine frequently stops during production.</a:t>
            </a:r>
          </a:p>
          <a:p>
            <a:endParaRPr lang="en-US" dirty="0"/>
          </a:p>
          <a:p>
            <a:r>
              <a:rPr lang="en-IN" b="1" dirty="0"/>
              <a:t>Step 2: Gather Information</a:t>
            </a:r>
          </a:p>
          <a:p>
            <a:r>
              <a:rPr lang="en-IN" dirty="0"/>
              <a:t>Collect:</a:t>
            </a:r>
          </a:p>
          <a:p>
            <a:r>
              <a:rPr lang="en-IN" dirty="0"/>
              <a:t>Data </a:t>
            </a:r>
          </a:p>
          <a:p>
            <a:r>
              <a:rPr lang="en-IN" dirty="0"/>
              <a:t>Facts </a:t>
            </a:r>
          </a:p>
          <a:p>
            <a:r>
              <a:rPr lang="en-IN" dirty="0"/>
              <a:t>Expert opinions </a:t>
            </a:r>
          </a:p>
          <a:p>
            <a:r>
              <a:rPr lang="en-IN" dirty="0"/>
              <a:t>Constraints </a:t>
            </a:r>
          </a:p>
          <a:p>
            <a:r>
              <a:rPr lang="en-IN" dirty="0"/>
              <a:t>Resources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5952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DA25F-04B5-6FBD-54A1-713D95008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Decision-Making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F7BBF-D77A-48C0-67FB-ECCF34DD3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Step 3: Identify Alternatives</a:t>
            </a:r>
          </a:p>
          <a:p>
            <a:r>
              <a:rPr lang="en-US" sz="2800" dirty="0"/>
              <a:t>Possible solutions:</a:t>
            </a:r>
          </a:p>
          <a:p>
            <a:r>
              <a:rPr lang="en-US" sz="2800" dirty="0"/>
              <a:t>Repair the machine </a:t>
            </a:r>
          </a:p>
          <a:p>
            <a:r>
              <a:rPr lang="en-US" sz="2800" dirty="0"/>
              <a:t>Replace the machine </a:t>
            </a:r>
          </a:p>
          <a:p>
            <a:r>
              <a:rPr lang="en-US" sz="2800" dirty="0"/>
              <a:t>Modify the process </a:t>
            </a:r>
          </a:p>
          <a:p>
            <a:r>
              <a:rPr lang="en-US" sz="2800" dirty="0"/>
              <a:t>Train operators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8965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F5BC-C2A4-BC52-0895-8922D949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Decision-Making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5857E-2990-8CED-73C2-2376813EB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4: Evaluate Alternatives</a:t>
            </a:r>
          </a:p>
          <a:p>
            <a:r>
              <a:rPr lang="en-US" dirty="0"/>
              <a:t>Consider:</a:t>
            </a:r>
          </a:p>
          <a:p>
            <a:r>
              <a:rPr lang="en-US" dirty="0"/>
              <a:t>Cost </a:t>
            </a:r>
          </a:p>
          <a:p>
            <a:r>
              <a:rPr lang="en-US" dirty="0"/>
              <a:t>Time </a:t>
            </a:r>
          </a:p>
          <a:p>
            <a:r>
              <a:rPr lang="en-US" dirty="0"/>
              <a:t>Safety </a:t>
            </a:r>
          </a:p>
          <a:p>
            <a:r>
              <a:rPr lang="en-US" dirty="0"/>
              <a:t>Reliability </a:t>
            </a:r>
          </a:p>
          <a:p>
            <a:r>
              <a:rPr lang="en-US" dirty="0"/>
              <a:t>Feasibility </a:t>
            </a:r>
          </a:p>
          <a:p>
            <a:r>
              <a:rPr lang="en-US" dirty="0"/>
              <a:t>Environmental impact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5228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D8EF-D8A3-35B1-8AD4-1DDF9B08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Decision-Making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5885B-F2E8-B5DB-B5CE-9D19ABF4F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5: Choose the Best Option</a:t>
            </a:r>
          </a:p>
          <a:p>
            <a:r>
              <a:rPr lang="en-US" dirty="0"/>
              <a:t>Select the alternative that best meets project goals.</a:t>
            </a:r>
          </a:p>
          <a:p>
            <a:r>
              <a:rPr lang="en-US" b="1" dirty="0"/>
              <a:t>Step 6: Implement the Decision</a:t>
            </a:r>
          </a:p>
          <a:p>
            <a:r>
              <a:rPr lang="en-US" dirty="0"/>
              <a:t>Assign responsibilities and execute the plan.</a:t>
            </a:r>
          </a:p>
          <a:p>
            <a:r>
              <a:rPr lang="en-US" b="1" dirty="0"/>
              <a:t>Step 7: Evaluate Results</a:t>
            </a:r>
          </a:p>
          <a:p>
            <a:r>
              <a:rPr lang="en-US" dirty="0"/>
              <a:t>Ask:</a:t>
            </a:r>
          </a:p>
          <a:p>
            <a:r>
              <a:rPr lang="en-US" dirty="0"/>
              <a:t>Did the decision solve the problem? </a:t>
            </a:r>
          </a:p>
          <a:p>
            <a:r>
              <a:rPr lang="en-US" dirty="0"/>
              <a:t>What improvements are needed?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162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1C140-5414-4BB6-ADDA-0A7A72AA6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Analytical Frameworks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D7B34-96B8-44AD-2106-84D985A674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180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62108-D811-F3D4-7A7E-5E81E96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frameworks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50AF5-E057-76C4-A86B-263FAFF1D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Analytical frameworks provide structured approaches for making decisions.</a:t>
            </a:r>
          </a:p>
          <a:p>
            <a:r>
              <a:rPr lang="en-US" b="1" dirty="0"/>
              <a:t>SWOT Analysis: Strengths, Weaknesses, Opportunities, Threats</a:t>
            </a:r>
            <a:endParaRPr lang="en-US" dirty="0"/>
          </a:p>
          <a:p>
            <a:endParaRPr lang="en-US" dirty="0"/>
          </a:p>
          <a:p>
            <a:pPr fontAlgn="ctr"/>
            <a:r>
              <a:rPr lang="en-IN" b="1" dirty="0"/>
              <a:t>Strengths -</a:t>
            </a:r>
            <a:r>
              <a:rPr lang="en-IN" dirty="0"/>
              <a:t> Innovative technology</a:t>
            </a:r>
          </a:p>
          <a:p>
            <a:pPr fontAlgn="ctr"/>
            <a:r>
              <a:rPr lang="en-IN" b="1" dirty="0"/>
              <a:t>Weaknesses </a:t>
            </a:r>
            <a:r>
              <a:rPr lang="en-IN" dirty="0"/>
              <a:t>- Limited funding</a:t>
            </a:r>
          </a:p>
          <a:p>
            <a:pPr fontAlgn="ctr"/>
            <a:r>
              <a:rPr lang="en-IN" b="1" dirty="0"/>
              <a:t>Opportunities</a:t>
            </a:r>
            <a:r>
              <a:rPr lang="en-IN" dirty="0"/>
              <a:t> - Growing market</a:t>
            </a:r>
          </a:p>
          <a:p>
            <a:pPr fontAlgn="ctr"/>
            <a:r>
              <a:rPr lang="en-IN" b="1" dirty="0"/>
              <a:t>Threats</a:t>
            </a:r>
            <a:r>
              <a:rPr lang="en-IN" dirty="0"/>
              <a:t> - Strong competitors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399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81953-48BB-2FDF-4AF8-03B51C6C5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frameworks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3E43D-1019-A6F7-5494-8EF8EC7F7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Cost-Benefit Analysis</a:t>
            </a:r>
          </a:p>
          <a:p>
            <a:r>
              <a:rPr lang="en-US" dirty="0"/>
              <a:t>Compare: </a:t>
            </a:r>
            <a:r>
              <a:rPr lang="en-US" b="1" dirty="0"/>
              <a:t>Benefits  </a:t>
            </a:r>
            <a:r>
              <a:rPr lang="en-US" dirty="0"/>
              <a:t>versus </a:t>
            </a:r>
            <a:r>
              <a:rPr lang="en-US" b="1" dirty="0"/>
              <a:t>Costs</a:t>
            </a:r>
            <a:endParaRPr lang="en-US" dirty="0"/>
          </a:p>
          <a:p>
            <a:r>
              <a:rPr lang="en-US" dirty="0"/>
              <a:t>Choose the option where benefits outweigh costs.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Example: </a:t>
            </a:r>
            <a:r>
              <a:rPr lang="en-US" dirty="0"/>
              <a:t>Should a company purchase a new robotic arm?</a:t>
            </a:r>
          </a:p>
          <a:p>
            <a:r>
              <a:rPr lang="en-US" b="1" dirty="0"/>
              <a:t>Benefits: </a:t>
            </a:r>
            <a:r>
              <a:rPr lang="en-US" dirty="0"/>
              <a:t>Faster production, improved quality, reduced </a:t>
            </a:r>
            <a:r>
              <a:rPr lang="en-US" dirty="0" err="1"/>
              <a:t>labour</a:t>
            </a:r>
            <a:r>
              <a:rPr lang="en-US" dirty="0"/>
              <a:t> costs</a:t>
            </a:r>
          </a:p>
          <a:p>
            <a:r>
              <a:rPr lang="en-US" b="1" dirty="0"/>
              <a:t>Costs: </a:t>
            </a:r>
            <a:r>
              <a:rPr lang="en-US" dirty="0"/>
              <a:t>Purchase price, installation, training, maintenance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6848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5B3CD-460C-07F7-7073-9F4790860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frameworks 3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8615-E044-C733-72A0-E14549B9A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Root Cause Analysis (5 Whys)</a:t>
            </a:r>
          </a:p>
          <a:p>
            <a:r>
              <a:rPr lang="en-US" sz="2300" dirty="0"/>
              <a:t>Ask </a:t>
            </a:r>
            <a:r>
              <a:rPr lang="en-US" sz="2300" b="1" dirty="0"/>
              <a:t>"Why?"</a:t>
            </a:r>
            <a:r>
              <a:rPr lang="en-US" sz="2300" dirty="0"/>
              <a:t> repeatedly until the underlying cause is identified.</a:t>
            </a:r>
          </a:p>
          <a:p>
            <a:r>
              <a:rPr lang="en-US" sz="2300" b="1" dirty="0"/>
              <a:t>Example: </a:t>
            </a:r>
            <a:r>
              <a:rPr lang="en-US" sz="2300" dirty="0"/>
              <a:t>Problem: The server crashed.</a:t>
            </a:r>
          </a:p>
          <a:p>
            <a:r>
              <a:rPr lang="en-US" sz="2300" dirty="0"/>
              <a:t>Why? Power failure.</a:t>
            </a:r>
          </a:p>
          <a:p>
            <a:r>
              <a:rPr lang="en-US" sz="2300" dirty="0"/>
              <a:t>Why? Backup battery failed.</a:t>
            </a:r>
          </a:p>
          <a:p>
            <a:r>
              <a:rPr lang="en-US" sz="2300" dirty="0"/>
              <a:t>Why? Maintenance was delayed.</a:t>
            </a:r>
          </a:p>
          <a:p>
            <a:r>
              <a:rPr lang="en-US" sz="2300" dirty="0"/>
              <a:t>Why? No maintenance schedule.</a:t>
            </a:r>
          </a:p>
          <a:p>
            <a:r>
              <a:rPr lang="en-US" sz="2300" dirty="0"/>
              <a:t>Root Cause: Lack of preventive maintenance.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714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8AC7-D6BE-4774-199D-4155D2F2A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frameworks 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DE23E-3B5F-0DF4-5865-CD376536E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Pareto Analysis, or </a:t>
            </a:r>
            <a:r>
              <a:rPr lang="en-US" b="1" dirty="0"/>
              <a:t>80/20 Rule</a:t>
            </a:r>
            <a:r>
              <a:rPr lang="en-US" dirty="0"/>
              <a:t>, is a prioritization technique stating that roughly 80% of outcomes result from 20% of all causes. It helps individuals and businesses maximize efficiency by identifying the vital few factors that yield the largest results.</a:t>
            </a:r>
          </a:p>
          <a:p>
            <a:r>
              <a:rPr lang="en-US" b="1" dirty="0"/>
              <a:t>Real-World Examples</a:t>
            </a:r>
          </a:p>
          <a:p>
            <a:r>
              <a:rPr lang="en-US" b="1" dirty="0"/>
              <a:t>Business &amp; Sales:</a:t>
            </a:r>
            <a:r>
              <a:rPr lang="en-US" dirty="0"/>
              <a:t> 80% of a company's profits often come from just 20% of its customers.</a:t>
            </a:r>
          </a:p>
          <a:p>
            <a:r>
              <a:rPr lang="en-US" b="1" dirty="0"/>
              <a:t>Time Management &amp; Productivity:</a:t>
            </a:r>
            <a:r>
              <a:rPr lang="en-US" dirty="0"/>
              <a:t> 80% of your daily output and progress is usually driven by 20% of the tasks on your to-do list.</a:t>
            </a:r>
          </a:p>
          <a:p>
            <a:r>
              <a:rPr lang="en-US" b="1" dirty="0"/>
              <a:t>Software &amp; Engineering:</a:t>
            </a:r>
            <a:r>
              <a:rPr lang="en-US" dirty="0"/>
              <a:t> Up to 80% of system crashes or bugs are caused by 20% of the software errors.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9471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8F50E-98DA-F50D-D331-6A4B16034D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Cognitive Biases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AA803-652D-B509-7430-9E1E57C818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027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DBCB-F516-1977-2553-B027B01E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US" b="1" dirty="0"/>
              <a:t>Cognitive Bias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CE662-1B79-7A5B-9326-1FE536DFD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Cognitive Bias?</a:t>
            </a:r>
            <a:br>
              <a:rPr lang="en-US" b="1" dirty="0"/>
            </a:br>
            <a:r>
              <a:rPr lang="en-US" dirty="0"/>
              <a:t>A cognitive bias is a </a:t>
            </a:r>
            <a:r>
              <a:rPr lang="en-US" b="1" dirty="0"/>
              <a:t>systematic error in thinking</a:t>
            </a:r>
            <a:r>
              <a:rPr lang="en-US" dirty="0"/>
              <a:t> that affects judgment and decision-making. Biases cause people to make irrational decisions even when they believe they are being objective.</a:t>
            </a:r>
          </a:p>
          <a:p>
            <a:r>
              <a:rPr lang="en-US" dirty="0"/>
              <a:t>The concept of cognitive bias was first introduced by researchers Amos Tversky and Daniel Kahneman in 1972. Different types of biases that affect decision-making include social behavior, cognition, behavioral economics, education, management, healthcare, business, and finance.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215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940BD-218F-EF02-0884-F40F4A71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US" b="1" dirty="0"/>
              <a:t>Confirmation Bias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691A4-159A-B4D8-246E-30F442F67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seek information that confirms their existing beliefs while ignoring contradictory evidence.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An engineer believes a software bug is caused by the database and ignores evidence pointing to a faulty network configuration.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bias occurs when individuals seek out or interpret information in a way that confirms their pre-existing beliefs while ignoring contradictory evidence.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manager believes a particular employee is inefficient and only notices mistakes made by that employee, ignoring their successes. This may result in unfair evaluations or missed opportunities to recognize improvement.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It leads to one-sided thinking and poor judgment.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Reduce It: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 opposing viewpoints. Test assumptions. Encourage peer review.</a:t>
            </a:r>
          </a:p>
        </p:txBody>
      </p:sp>
    </p:spTree>
    <p:extLst>
      <p:ext uri="{BB962C8B-B14F-4D97-AF65-F5344CB8AC3E}">
        <p14:creationId xmlns:p14="http://schemas.microsoft.com/office/powerpoint/2010/main" val="1683837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5CC0E-F6F0-771D-4570-AC69ACD8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Anchoring Bias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B3749-27FE-BFBB-6736-7805E0FAC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IN" dirty="0"/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Anchoring happens when individuals rely too heavily on the first piece of information (the “anchor”) when making decisions.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can limit objective evaluation and lead to inaccurate conclusions.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salary negotiations, if an employer first offers a low salary, the candidate may base their expectations around that figure, even if their skills justify a higher pay.</a:t>
            </a:r>
          </a:p>
        </p:txBody>
      </p:sp>
    </p:spTree>
    <p:extLst>
      <p:ext uri="{BB962C8B-B14F-4D97-AF65-F5344CB8AC3E}">
        <p14:creationId xmlns:p14="http://schemas.microsoft.com/office/powerpoint/2010/main" val="2352662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263B6-86DE-7BF7-5A30-8D3C151D0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Escalation of Commitment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04DC0-A299-F921-21B4-67D680E98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br>
              <a:rPr lang="en-IN" dirty="0"/>
            </a:br>
            <a:r>
              <a:rPr lang="en-IN" dirty="0"/>
              <a:t>This bias refers to the tendency to continue investing in a failing decision or a project because </a:t>
            </a:r>
            <a:r>
              <a:rPr lang="en-US" dirty="0"/>
              <a:t>they have already invested significant effort, time or money.</a:t>
            </a:r>
          </a:p>
          <a:p>
            <a:r>
              <a:rPr lang="en-US" b="1" dirty="0"/>
              <a:t>Example: </a:t>
            </a:r>
            <a:r>
              <a:rPr lang="en-US" dirty="0"/>
              <a:t>A company continues funding an unsuccessful product because millions have already been spent.</a:t>
            </a:r>
          </a:p>
          <a:p>
            <a:r>
              <a:rPr lang="en-IN" b="1" dirty="0"/>
              <a:t>Example:</a:t>
            </a:r>
            <a:r>
              <a:rPr lang="en-IN" dirty="0"/>
              <a:t> A company continues funding a failing project because they have already invested heavily in it, rather than stopping and redirecting resources to more viable options.</a:t>
            </a:r>
          </a:p>
          <a:p>
            <a:pPr lvl="0"/>
            <a:r>
              <a:rPr lang="en-IN" b="1" dirty="0"/>
              <a:t>Impact:</a:t>
            </a:r>
            <a:r>
              <a:rPr lang="en-IN" dirty="0"/>
              <a:t> It results in greater losses instead of cutting losses early.</a:t>
            </a:r>
          </a:p>
          <a:p>
            <a:r>
              <a:rPr lang="en-US" b="1" dirty="0"/>
              <a:t>Prevention: </a:t>
            </a:r>
            <a:r>
              <a:rPr lang="en-US" dirty="0"/>
              <a:t>Focus on future costs and benefits rather than past investments.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7551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D6FC1-42EF-679B-BC00-F3AC6EAD5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Hindsight Bias</a:t>
            </a:r>
            <a:br>
              <a:rPr lang="en-IN" sz="36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2B1F5-6035-EC1F-77FD-5C520FC96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The tendency to believe, after an event has occurred, that one would have predicted or expected the outcome (“I knew it all along” effect).</a:t>
            </a:r>
            <a:endParaRPr lang="en-IN" sz="1600" dirty="0"/>
          </a:p>
          <a:p>
            <a:pPr lvl="0"/>
            <a:r>
              <a:rPr lang="en-IN" b="1" dirty="0"/>
              <a:t>Impact on Decision-Making:</a:t>
            </a:r>
            <a:endParaRPr lang="en-IN" sz="1600" dirty="0"/>
          </a:p>
          <a:p>
            <a:pPr lvl="1"/>
            <a:r>
              <a:rPr lang="en-IN" dirty="0"/>
              <a:t>Creates overconfidence in one’s predictive abilities</a:t>
            </a:r>
            <a:endParaRPr lang="en-IN" sz="1400" dirty="0"/>
          </a:p>
          <a:p>
            <a:pPr lvl="1"/>
            <a:r>
              <a:rPr lang="en-IN" dirty="0"/>
              <a:t>Prevents learning from past mistakes</a:t>
            </a:r>
            <a:endParaRPr lang="en-IN" sz="1400" dirty="0"/>
          </a:p>
          <a:p>
            <a:pPr lvl="1"/>
            <a:r>
              <a:rPr lang="en-IN" dirty="0"/>
              <a:t>Leads to unfair judgment of past decisions</a:t>
            </a:r>
            <a:endParaRPr lang="en-IN" sz="1400" dirty="0"/>
          </a:p>
          <a:p>
            <a:pPr lvl="0"/>
            <a:r>
              <a:rPr lang="en-IN" b="1" dirty="0"/>
              <a:t>Example:</a:t>
            </a:r>
            <a:r>
              <a:rPr lang="en-IN" dirty="0"/>
              <a:t> After a stock market crash, an investor claims they “knew it would happen,” even though they did not act on that belief earlier.</a:t>
            </a:r>
            <a:endParaRPr lang="en-IN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1302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16AF8-AEEB-1CF2-8CBA-B16ECE31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Framing Bias</a:t>
            </a:r>
            <a:br>
              <a:rPr lang="en-IN" sz="36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81F6C-D364-BF77-849E-49A7F52CA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tendency to make decisions based on how information is presented (framed), rather than on the facts themselves.</a:t>
            </a:r>
            <a:endParaRPr lang="en-IN" sz="1600" dirty="0"/>
          </a:p>
          <a:p>
            <a:pPr lvl="0"/>
            <a:r>
              <a:rPr lang="en-IN" b="1" dirty="0"/>
              <a:t>Impact on Decision-Making:</a:t>
            </a:r>
            <a:endParaRPr lang="en-IN" sz="1600" dirty="0"/>
          </a:p>
          <a:p>
            <a:pPr lvl="1"/>
            <a:r>
              <a:rPr lang="en-IN" dirty="0"/>
              <a:t>Leads to different decisions for the same information</a:t>
            </a:r>
            <a:endParaRPr lang="en-IN" sz="1400" dirty="0"/>
          </a:p>
          <a:p>
            <a:pPr lvl="1"/>
            <a:r>
              <a:rPr lang="en-IN" dirty="0"/>
              <a:t>Influences risk perception and judgment</a:t>
            </a:r>
            <a:endParaRPr lang="en-IN" sz="1400" dirty="0"/>
          </a:p>
          <a:p>
            <a:pPr lvl="1"/>
            <a:r>
              <a:rPr lang="en-IN" dirty="0"/>
              <a:t>Can be manipulated through wording or presentation</a:t>
            </a:r>
            <a:endParaRPr lang="en-IN" sz="1400" dirty="0"/>
          </a:p>
          <a:p>
            <a:pPr lvl="0"/>
            <a:r>
              <a:rPr lang="en-IN" b="1" dirty="0"/>
              <a:t>Example:</a:t>
            </a:r>
            <a:r>
              <a:rPr lang="en-IN" dirty="0"/>
              <a:t> People are more likely to choose a treatment described as having a “90% survival rate” than one described as having a “10% death rate,” even though both mean the same thing.</a:t>
            </a:r>
            <a:endParaRPr lang="en-IN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17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B5A90-6376-E4BD-6678-EDC48BF0B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Overconfidence bias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316EE-0743-D8E8-16A4-367ED6345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Overconfidence bias is a cognitive bias in which a person overestimates the accuracy of their judgments or their ability to predict outcomes, often leading to flawed or risky decisions. In decision-making this leads to </a:t>
            </a:r>
            <a:r>
              <a:rPr lang="en-IN" b="1" dirty="0"/>
              <a:t>overestimate one’s knowledge, abilities, judgments, or control over outcomes</a:t>
            </a:r>
            <a:r>
              <a:rPr lang="en-IN" dirty="0"/>
              <a:t>, leading people to make decisions with more certainty than the evidence supports.</a:t>
            </a:r>
          </a:p>
          <a:p>
            <a:r>
              <a:rPr lang="en-IN" b="1" dirty="0"/>
              <a:t>Impact on decision making:</a:t>
            </a:r>
            <a:endParaRPr lang="en-IN" dirty="0"/>
          </a:p>
          <a:p>
            <a:pPr lvl="0"/>
            <a:r>
              <a:rPr lang="en-IN" dirty="0"/>
              <a:t>Believing you are </a:t>
            </a:r>
            <a:r>
              <a:rPr lang="en-IN" b="1" dirty="0"/>
              <a:t>more likely to be correct</a:t>
            </a:r>
            <a:r>
              <a:rPr lang="en-IN" dirty="0"/>
              <a:t> than you actually are </a:t>
            </a:r>
          </a:p>
          <a:p>
            <a:pPr lvl="0"/>
            <a:r>
              <a:rPr lang="en-IN" b="1" dirty="0"/>
              <a:t>Ignoring risks</a:t>
            </a:r>
            <a:r>
              <a:rPr lang="en-IN" dirty="0"/>
              <a:t> or underestimating possible problems </a:t>
            </a:r>
          </a:p>
          <a:p>
            <a:pPr lvl="0"/>
            <a:r>
              <a:rPr lang="en-IN" dirty="0"/>
              <a:t>Making decisions </a:t>
            </a:r>
            <a:r>
              <a:rPr lang="en-IN" b="1" dirty="0"/>
              <a:t>without sufficient information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Trusting personal judgment </a:t>
            </a:r>
            <a:r>
              <a:rPr lang="en-IN" b="1" dirty="0"/>
              <a:t>more than expert advice or data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Assuming past success guarantees future success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572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DC33E-9A52-FF5E-24FD-6C8FC2A694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Ethical Decision Making</a:t>
            </a:r>
            <a:br>
              <a:rPr lang="en-US" b="1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DF51F-E8B3-2567-366E-A2B9BBA401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643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AEEC1-9BF4-0390-0F33-278BB36A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US" b="1" dirty="0"/>
              <a:t>Ethical Decision Making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F6CA1-739D-7CD1-B12C-308D51C8C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Engineers have ethical responsibilities to:</a:t>
            </a:r>
          </a:p>
          <a:p>
            <a:r>
              <a:rPr lang="en-US" dirty="0"/>
              <a:t>Protect public safety </a:t>
            </a:r>
          </a:p>
          <a:p>
            <a:r>
              <a:rPr lang="en-US" dirty="0"/>
              <a:t>Ensure environmental sustainability </a:t>
            </a:r>
          </a:p>
          <a:p>
            <a:r>
              <a:rPr lang="en-US" dirty="0"/>
              <a:t>Maintain honesty and integrity </a:t>
            </a:r>
          </a:p>
          <a:p>
            <a:r>
              <a:rPr lang="en-US" dirty="0"/>
              <a:t>Respect professional standards </a:t>
            </a:r>
          </a:p>
          <a:p>
            <a:r>
              <a:rPr lang="en-US" dirty="0"/>
              <a:t>Before making a decision, ask:</a:t>
            </a:r>
          </a:p>
          <a:p>
            <a:r>
              <a:rPr lang="en-US" dirty="0"/>
              <a:t>Is it legal? </a:t>
            </a:r>
          </a:p>
          <a:p>
            <a:r>
              <a:rPr lang="en-US" dirty="0"/>
              <a:t>Is it ethical? </a:t>
            </a:r>
          </a:p>
          <a:p>
            <a:r>
              <a:rPr lang="en-US" dirty="0"/>
              <a:t>Is it safe? </a:t>
            </a:r>
          </a:p>
          <a:p>
            <a:r>
              <a:rPr lang="en-US" dirty="0"/>
              <a:t>Is it fair? </a:t>
            </a:r>
          </a:p>
          <a:p>
            <a:r>
              <a:rPr lang="en-US" dirty="0"/>
              <a:t>Would I be comfortable explaining this decision publicly?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126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C2DA-341B-0C52-2A2E-D31A589C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Tips for Better Decision Making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D75FE-A1FE-2395-7550-8671EDB04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✔ Define the problem clearly.</a:t>
            </a:r>
          </a:p>
          <a:p>
            <a:r>
              <a:rPr lang="en-IN" dirty="0"/>
              <a:t>✔ Collect sufficient information.</a:t>
            </a:r>
          </a:p>
          <a:p>
            <a:r>
              <a:rPr lang="en-IN" dirty="0"/>
              <a:t>✔ Consider multiple alternatives.</a:t>
            </a:r>
          </a:p>
          <a:p>
            <a:r>
              <a:rPr lang="en-IN" dirty="0"/>
              <a:t>✔ </a:t>
            </a:r>
            <a:r>
              <a:rPr lang="en-IN" dirty="0" err="1"/>
              <a:t>Analyze</a:t>
            </a:r>
            <a:r>
              <a:rPr lang="en-IN" dirty="0"/>
              <a:t> risks and benefits.</a:t>
            </a:r>
          </a:p>
          <a:p>
            <a:r>
              <a:rPr lang="en-IN" dirty="0"/>
              <a:t>✔ Be aware of cognitive biases.</a:t>
            </a:r>
          </a:p>
          <a:p>
            <a:r>
              <a:rPr lang="en-IN" dirty="0"/>
              <a:t>✔ Seek diverse opinions.</a:t>
            </a:r>
          </a:p>
          <a:p>
            <a:r>
              <a:rPr lang="en-IN" dirty="0"/>
              <a:t>✔ Base decisions on evidence rather than assumptions.</a:t>
            </a:r>
          </a:p>
          <a:p>
            <a:r>
              <a:rPr lang="en-IN" dirty="0"/>
              <a:t>✔ Review outcomes and learn from experience.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853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19140-D5F7-8590-C7EC-D7AA18322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7EAA2-A4C8-5CC1-D9D9-1E9B056A5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Effective decision-making is a combination of structured analysis, critical thinking, and awareness of human biases.</a:t>
            </a:r>
          </a:p>
          <a:p>
            <a:r>
              <a:rPr lang="en-US" dirty="0"/>
              <a:t>Engineers can improve their decisions by:</a:t>
            </a:r>
          </a:p>
          <a:p>
            <a:r>
              <a:rPr lang="en-US" dirty="0"/>
              <a:t>Following a systematic decision-making process. </a:t>
            </a:r>
          </a:p>
          <a:p>
            <a:r>
              <a:rPr lang="en-US" dirty="0"/>
              <a:t>Using analytical frameworks such as SWOT, Cost-Benefit Analysis, Decision Matrices, Root Cause Analysis, and Pareto Analysis. </a:t>
            </a:r>
          </a:p>
          <a:p>
            <a:r>
              <a:rPr lang="en-US" dirty="0"/>
              <a:t>Recognizing and minimizing cognitive biases like confirmation bias, anchoring, overconfidence bias, etc. </a:t>
            </a:r>
          </a:p>
          <a:p>
            <a:r>
              <a:rPr lang="en-US" dirty="0"/>
              <a:t>Considering ethical, economic, technical, and social implications before acting. </a:t>
            </a:r>
          </a:p>
          <a:p>
            <a:r>
              <a:rPr lang="en-US" dirty="0"/>
              <a:t>Strong decision-making skills enable engineers to solve complex problems, manage uncertainty, and contribute to safe, innovative, and sustainable engineering solutions.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4408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89E7-4517-871D-7774-1FE05453B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Classroom Activity: Choosing the Best Laptop for Engineering Students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BEAFF-1137-4F20-502E-10517097F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Scenario:</a:t>
            </a:r>
            <a:r>
              <a:rPr lang="en-US" dirty="0"/>
              <a:t> Your department has ₹80,000 to purchase laptops for a new laboratory. Students work in groups to evaluate three laptop models using a decision matrix.</a:t>
            </a:r>
          </a:p>
          <a:p>
            <a:r>
              <a:rPr lang="en-US" b="1" dirty="0"/>
              <a:t>Criteria: </a:t>
            </a:r>
            <a:r>
              <a:rPr lang="en-US" dirty="0"/>
              <a:t>Cost, Processor performance, Battery life, RAM, Warranty, Service availability </a:t>
            </a:r>
          </a:p>
          <a:p>
            <a:r>
              <a:rPr lang="en-US" dirty="0"/>
              <a:t>Each group assigns weights to the criteria, calculates scores, and justifies its recommendation.</a:t>
            </a:r>
          </a:p>
          <a:p>
            <a:r>
              <a:rPr lang="en-US" b="1" dirty="0"/>
              <a:t>Discussion Questions:</a:t>
            </a:r>
            <a:endParaRPr lang="en-US" dirty="0"/>
          </a:p>
          <a:p>
            <a:r>
              <a:rPr lang="en-US" dirty="0"/>
              <a:t>Why did your group choose that model? </a:t>
            </a:r>
          </a:p>
          <a:p>
            <a:r>
              <a:rPr lang="en-US" dirty="0"/>
              <a:t>Which criteria mattered most? </a:t>
            </a:r>
          </a:p>
          <a:p>
            <a:r>
              <a:rPr lang="en-US" dirty="0"/>
              <a:t>Did any cognitive biases influence your choice? </a:t>
            </a:r>
          </a:p>
          <a:p>
            <a:r>
              <a:rPr lang="en-US" dirty="0"/>
              <a:t>How did the decision matrix help you make a more objective decision?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3833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Default">
      <a:dk1>
        <a:srgbClr val="000000"/>
      </a:dk1>
      <a:lt1>
        <a:sysClr val="window" lastClr="FFFFFF"/>
      </a:lt1>
      <a:dk2>
        <a:srgbClr val="3F3F3F"/>
      </a:dk2>
      <a:lt2>
        <a:srgbClr val="E7E6E6"/>
      </a:lt2>
      <a:accent1>
        <a:srgbClr val="7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700000"/>
      </a:accent5>
      <a:accent6>
        <a:srgbClr val="978869"/>
      </a:accent6>
      <a:hlink>
        <a:srgbClr val="FFC000"/>
      </a:hlink>
      <a:folHlink>
        <a:srgbClr val="7F7F7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182065_win32_fixed" id="{54D1AA8E-AE41-4F75-AFF4-1E55BF728136}" vid="{9097BC2D-75F4-410C-8544-556C30F4EC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EDC914-E79E-4731-88EB-C290A6D4D6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8413E5-0484-489B-B293-D8720B6027F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19B3EA6-E2E1-4B68-B700-9432F9FC79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Persuasive speech outline </Template>
  <TotalTime>46</TotalTime>
  <Words>1613</Words>
  <Application>Microsoft Office PowerPoint</Application>
  <PresentationFormat>Widescreen</PresentationFormat>
  <Paragraphs>178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Century Gothic</vt:lpstr>
      <vt:lpstr>Tahoma</vt:lpstr>
      <vt:lpstr>Times New Roman</vt:lpstr>
      <vt:lpstr>Wingdings 2</vt:lpstr>
      <vt:lpstr>Quotable</vt:lpstr>
      <vt:lpstr>Decision Making: Applying Analytical Frameworks and Cognitive Biases</vt:lpstr>
      <vt:lpstr>Objectives</vt:lpstr>
      <vt:lpstr>Introduction</vt:lpstr>
      <vt:lpstr> Characteristics of Good Decision Making </vt:lpstr>
      <vt:lpstr> The Decision-Making Process </vt:lpstr>
      <vt:lpstr>The Decision-Making Process</vt:lpstr>
      <vt:lpstr>The Decision-Making Process</vt:lpstr>
      <vt:lpstr>The Decision-Making Process</vt:lpstr>
      <vt:lpstr>Analytical Frameworks </vt:lpstr>
      <vt:lpstr>Analytical frameworks 1</vt:lpstr>
      <vt:lpstr>Analytical frameworks 2</vt:lpstr>
      <vt:lpstr>Analytical frameworks 3</vt:lpstr>
      <vt:lpstr>Analytical frameworks 4</vt:lpstr>
      <vt:lpstr>Cognitive Biases </vt:lpstr>
      <vt:lpstr> Cognitive Bias </vt:lpstr>
      <vt:lpstr> Confirmation Bias </vt:lpstr>
      <vt:lpstr>Anchoring Bias</vt:lpstr>
      <vt:lpstr>Escalation of Commitment</vt:lpstr>
      <vt:lpstr> Hindsight Bias </vt:lpstr>
      <vt:lpstr> Framing Bias </vt:lpstr>
      <vt:lpstr>Overconfidence bias</vt:lpstr>
      <vt:lpstr>  Ethical Decision Making   </vt:lpstr>
      <vt:lpstr> Ethical Decision Making </vt:lpstr>
      <vt:lpstr> Tips for Better Decision Making </vt:lpstr>
      <vt:lpstr>Summary</vt:lpstr>
      <vt:lpstr>Classroom Activity: Choosing the Best Laptop for Engineering Students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MARTHA KARUNAKAR</dc:creator>
  <cp:lastModifiedBy>MARTHA KARUNAKAR</cp:lastModifiedBy>
  <cp:revision>20</cp:revision>
  <dcterms:created xsi:type="dcterms:W3CDTF">2026-06-24T10:18:19Z</dcterms:created>
  <dcterms:modified xsi:type="dcterms:W3CDTF">2026-06-24T11:04:35Z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