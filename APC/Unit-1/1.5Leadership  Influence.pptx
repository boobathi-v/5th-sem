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6" r:id="rId16"/>
    <p:sldId id="277" r:id="rId17"/>
    <p:sldId id="273" r:id="rId18"/>
    <p:sldId id="274" r:id="rId19"/>
    <p:sldId id="275" r:id="rId20"/>
    <p:sldId id="278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7" d="100"/>
          <a:sy n="77" d="100"/>
        </p:scale>
        <p:origin x="23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smtClean="0"/>
              <a:t>8/13/2026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4176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smtClean="0"/>
              <a:t>8/13/2026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2107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smtClean="0"/>
              <a:t>8/13/2026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350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smtClean="0"/>
              <a:t>8/13/2026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436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smtClean="0"/>
              <a:t>8/13/2026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2870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smtClean="0"/>
              <a:t>8/13/2026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4261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smtClean="0"/>
              <a:t>8/13/2026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8027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smtClean="0"/>
              <a:t>8/13/2026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6106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smtClean="0"/>
              <a:t>8/13/2026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644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8/13/2026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842095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8/13/2026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848076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8/13/2026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5153632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8/13/2026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7152628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8/13/2026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059287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8/13/2026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164443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smtClean="0"/>
              <a:t>8/13/2026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6536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D3FFE419-2371-464F-8239-3959401C3561}" type="datetimeFigureOut">
              <a:rPr lang="en-US" smtClean="0"/>
              <a:t>8/13/2026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0337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BC1C18-307B-4F68-A007-B5B542270E8D}" type="datetimeFigureOut">
              <a:rPr lang="en-US" smtClean="0"/>
              <a:t>8/13/2026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03898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9D437-A583-E339-9D6E-FD9FE64FEC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Leadership &amp; Influence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890BAE-3E32-B961-DEF2-FE0A2FFAB8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30.07.2026</a:t>
            </a:r>
          </a:p>
        </p:txBody>
      </p:sp>
    </p:spTree>
    <p:extLst>
      <p:ext uri="{BB962C8B-B14F-4D97-AF65-F5344CB8AC3E}">
        <p14:creationId xmlns:p14="http://schemas.microsoft.com/office/powerpoint/2010/main" val="1100362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62D97-696C-A013-ADD1-EB31999D0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What is Leadership?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076468-72E3-35D9-F8D4-58C75BBAAA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311" y="2336873"/>
            <a:ext cx="9613861" cy="359931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Leadership is the ability to influence, motivate, and guide </a:t>
            </a:r>
          </a:p>
          <a:p>
            <a:pPr marL="0" indent="0">
              <a:buNone/>
            </a:pPr>
            <a:r>
              <a:rPr lang="en-US" dirty="0"/>
              <a:t>individuals or groups towards achieving common goals. Leadership is </a:t>
            </a:r>
          </a:p>
          <a:p>
            <a:pPr marL="0" indent="0">
              <a:buNone/>
            </a:pPr>
            <a:r>
              <a:rPr lang="en-US" dirty="0"/>
              <a:t>not merely about authority or position; it is about inspiring people </a:t>
            </a:r>
          </a:p>
          <a:p>
            <a:pPr marL="0" indent="0">
              <a:buNone/>
            </a:pPr>
            <a:r>
              <a:rPr lang="en-US" dirty="0"/>
              <a:t>to perform willingly and effectively.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9800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39F4A-6742-14E8-1AE5-013E42195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Characteristics of Effective Leaders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895D9-FE69-AAAA-2401-CBFCEDB35B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Vision-oriented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Good communicator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Ethical and trustworthy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Emotionally intelligent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Adaptable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Decision maker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Motivator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Responsible and accountable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29564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E8C9E-91F2-A81B-60BA-23F7BDB58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What is Influence?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932205-F589-D070-7309-79777A9DF3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Influence is the ability to affect another person's attitudes, beliefs or </a:t>
            </a:r>
            <a:r>
              <a:rPr lang="en-US" dirty="0" err="1"/>
              <a:t>behaviours</a:t>
            </a:r>
            <a:r>
              <a:rPr lang="en-US" dirty="0"/>
              <a:t> without relying solely on formal authority.</a:t>
            </a:r>
          </a:p>
          <a:p>
            <a:r>
              <a:rPr lang="en-US" dirty="0"/>
              <a:t>A manager may have </a:t>
            </a:r>
            <a:r>
              <a:rPr lang="en-US" b="1" dirty="0"/>
              <a:t>power</a:t>
            </a:r>
            <a:r>
              <a:rPr lang="en-US" dirty="0"/>
              <a:t>, but a leader gains </a:t>
            </a:r>
            <a:r>
              <a:rPr lang="en-US" b="1" dirty="0"/>
              <a:t>influence</a:t>
            </a:r>
            <a:r>
              <a:rPr lang="en-US" dirty="0"/>
              <a:t> through trust, credibility and relationships.</a:t>
            </a:r>
          </a:p>
          <a:p>
            <a:r>
              <a:rPr lang="en-US" b="1" dirty="0"/>
              <a:t>Sources of Influence are: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Knowledge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Expertise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Respect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Personal relationships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Communication skills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Integrity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Emotional intelligence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67774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F3E8C79-9DA3-90F4-E7EA-A96DA405EA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4246818"/>
              </p:ext>
            </p:extLst>
          </p:nvPr>
        </p:nvGraphicFramePr>
        <p:xfrm>
          <a:off x="781395" y="864524"/>
          <a:ext cx="10548852" cy="5187141"/>
        </p:xfrm>
        <a:graphic>
          <a:graphicData uri="http://schemas.openxmlformats.org/drawingml/2006/table">
            <a:tbl>
              <a:tblPr/>
              <a:tblGrid>
                <a:gridCol w="5274426">
                  <a:extLst>
                    <a:ext uri="{9D8B030D-6E8A-4147-A177-3AD203B41FA5}">
                      <a16:colId xmlns:a16="http://schemas.microsoft.com/office/drawing/2014/main" val="1676782077"/>
                    </a:ext>
                  </a:extLst>
                </a:gridCol>
                <a:gridCol w="5274426">
                  <a:extLst>
                    <a:ext uri="{9D8B030D-6E8A-4147-A177-3AD203B41FA5}">
                      <a16:colId xmlns:a16="http://schemas.microsoft.com/office/drawing/2014/main" val="46916289"/>
                    </a:ext>
                  </a:extLst>
                </a:gridCol>
              </a:tblGrid>
              <a:tr h="1120553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LEADER</a:t>
                      </a:r>
                    </a:p>
                    <a:p>
                      <a:pPr algn="ctr"/>
                      <a:endParaRPr lang="en-IN" b="1" dirty="0"/>
                    </a:p>
                    <a:p>
                      <a:pPr algn="ctr"/>
                      <a:r>
                        <a:rPr lang="en-IN" dirty="0"/>
                        <a:t>Creates vision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MANAGEMENT</a:t>
                      </a:r>
                    </a:p>
                    <a:p>
                      <a:pPr algn="ctr"/>
                      <a:endParaRPr lang="en-IN" b="1" dirty="0"/>
                    </a:p>
                    <a:p>
                      <a:pPr algn="ctr"/>
                      <a:r>
                        <a:rPr lang="en-IN" dirty="0"/>
                        <a:t>Executes plans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0806174"/>
                  </a:ext>
                </a:extLst>
              </a:tr>
              <a:tr h="1016647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Inspires people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Controls processes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8272064"/>
                  </a:ext>
                </a:extLst>
              </a:tr>
              <a:tr h="1016647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Focuses on change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Focuses on stability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4863144"/>
                  </a:ext>
                </a:extLst>
              </a:tr>
              <a:tr h="1016647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Influences through motivation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Influences through authority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8105501"/>
                  </a:ext>
                </a:extLst>
              </a:tr>
              <a:tr h="1016647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Encourages innovation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Maintains efficiency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3934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49940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A8081-2CA6-7ADD-DDEA-3A931B926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What is Persuasion?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1EF6E5-5735-58C6-DC27-7B5ADFCF24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Persuasion is the process of convincing others to voluntarily accept an idea, decision or action. Unlike force or coercion, persuasion respects the freedom of choice.</a:t>
            </a:r>
          </a:p>
          <a:p>
            <a:r>
              <a:rPr lang="en-US" b="1" dirty="0"/>
              <a:t>Example: </a:t>
            </a:r>
          </a:p>
          <a:p>
            <a:r>
              <a:rPr lang="en-US" dirty="0"/>
              <a:t>A project leader convinces team members to adopt a new software by explaining: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Faster completion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Better collaboration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Reduced errors </a:t>
            </a:r>
          </a:p>
          <a:p>
            <a:r>
              <a:rPr lang="en-US" dirty="0"/>
              <a:t>The team agrees because they understand the benefits.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8230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05019-CAB3-7DA5-175D-0C4E73A71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Persuasion Tactic1</a:t>
            </a:r>
            <a:b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D93F36-7EB5-EBF9-BE39-425F8C6905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Rational Persuasion: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logical arguments, facts and evidence</a:t>
            </a:r>
          </a:p>
          <a:p>
            <a:r>
              <a:rPr lang="en-US" b="1" dirty="0"/>
              <a:t>Methods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Data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Statistics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Research findings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Cost-benefit analysis </a:t>
            </a:r>
          </a:p>
          <a:p>
            <a:r>
              <a:rPr lang="en-US" b="1" dirty="0"/>
              <a:t>Example: </a:t>
            </a:r>
            <a:r>
              <a:rPr lang="en-US" sz="2000" dirty="0"/>
              <a:t>An engineering manager demonstrates that automation can reduce production time by 30%.</a:t>
            </a:r>
          </a:p>
          <a:p>
            <a:r>
              <a:rPr lang="en-US" sz="2000" dirty="0"/>
              <a:t>Employees support the proposal because of clear evidence.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IN" dirty="0"/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D845D8A3-9F67-D20C-E922-52F71F7C71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3035A2A8-81E0-B539-EFC4-0C273C3661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" y="501620"/>
            <a:ext cx="1200912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8992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1B069-82DE-9098-AA1F-B0D8D27B0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Persuasion Tactic 2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4A5B4D6-C244-85E0-3F9C-64151D4E48B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0321" y="2797703"/>
            <a:ext cx="10245433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Inspirational Appeal: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Appealing to people’s values, emotions and ideals.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Example: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 CEO says -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"Together, we can build products that improve millions of lives."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Employees feel emotionally connected to the vision.</a:t>
            </a:r>
          </a:p>
        </p:txBody>
      </p:sp>
    </p:spTree>
    <p:extLst>
      <p:ext uri="{BB962C8B-B14F-4D97-AF65-F5344CB8AC3E}">
        <p14:creationId xmlns:p14="http://schemas.microsoft.com/office/powerpoint/2010/main" val="34010109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FF62A-584C-46EF-C57E-C27280708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Persuasion Tactic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FF0DA-9B1E-B0CD-F41E-025C825FB7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Consultation</a:t>
            </a:r>
          </a:p>
          <a:p>
            <a:endParaRPr lang="en-US" b="1" dirty="0"/>
          </a:p>
          <a:p>
            <a:r>
              <a:rPr lang="en-US" dirty="0"/>
              <a:t>Involving others in planning or decision-making so they feel ownership of the outcome.</a:t>
            </a:r>
          </a:p>
          <a:p>
            <a:endParaRPr lang="en-US" dirty="0"/>
          </a:p>
          <a:p>
            <a:r>
              <a:rPr lang="en-US" b="1" dirty="0"/>
              <a:t>Example:</a:t>
            </a:r>
            <a:r>
              <a:rPr lang="en-US" dirty="0"/>
              <a:t> Before implementing a new work schedule, a manager asks team members for their suggestions.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43015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EA05F-8F3A-ACC6-96CC-ABD0B5FDA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Persuasion Tactic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F7A44-B53D-53C9-AAF6-72B1533B2A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Collaboration</a:t>
            </a:r>
          </a:p>
          <a:p>
            <a:endParaRPr lang="en-US" b="1" dirty="0"/>
          </a:p>
          <a:p>
            <a:r>
              <a:rPr lang="en-US" dirty="0"/>
              <a:t>Providing assistance, resources, or support to help others accomplish a task.</a:t>
            </a:r>
          </a:p>
          <a:p>
            <a:endParaRPr lang="en-US" dirty="0"/>
          </a:p>
          <a:p>
            <a:r>
              <a:rPr lang="en-US" b="1" dirty="0"/>
              <a:t>Example:</a:t>
            </a:r>
            <a:r>
              <a:rPr lang="en-US" dirty="0"/>
              <a:t> "If you agree to lead this project, I'll arrange additional staff and training."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27138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C160B-4E68-BD56-A9B9-AD34442F4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Persuasion Tactic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03DD2-6C8C-10B7-1CBE-67C07F413E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Ingratiation</a:t>
            </a:r>
          </a:p>
          <a:p>
            <a:r>
              <a:rPr lang="en-US" dirty="0"/>
              <a:t>Creating goodwill through appreciation or compliments before making a request.</a:t>
            </a:r>
          </a:p>
          <a:p>
            <a:endParaRPr lang="en-US" dirty="0"/>
          </a:p>
          <a:p>
            <a:r>
              <a:rPr lang="en-US" b="1" dirty="0"/>
              <a:t>Example</a:t>
            </a:r>
          </a:p>
          <a:p>
            <a:r>
              <a:rPr lang="en-US" dirty="0"/>
              <a:t>"You've done an excellent job on the previous project. Would you be willing to mentor the new interns?"</a:t>
            </a:r>
          </a:p>
          <a:p>
            <a:r>
              <a:rPr lang="en-US" b="1" dirty="0"/>
              <a:t>Note:</a:t>
            </a:r>
            <a:r>
              <a:rPr lang="en-US" dirty="0"/>
              <a:t> Genuine appreciation works better than flattery.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10718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D5750-6651-1048-CE58-FDB3CBCF4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Persuasion Tactic 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CD220-3083-3D73-944A-4A2C38750F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Personal Appeal</a:t>
            </a:r>
          </a:p>
          <a:p>
            <a:endParaRPr lang="en-US" b="1" dirty="0"/>
          </a:p>
          <a:p>
            <a:r>
              <a:rPr lang="en-US" dirty="0"/>
              <a:t>Requesting cooperation based on friendship or loyalty.</a:t>
            </a:r>
          </a:p>
          <a:p>
            <a:endParaRPr lang="en-US" dirty="0"/>
          </a:p>
          <a:p>
            <a:r>
              <a:rPr lang="en-US" b="1" dirty="0"/>
              <a:t>Example</a:t>
            </a:r>
          </a:p>
          <a:p>
            <a:r>
              <a:rPr lang="en-US" dirty="0"/>
              <a:t>"I've always appreciated your support. Could you help me with this presentation?"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35333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095E6-3AF5-B177-C42E-0269B629C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Persuasion Tactic 7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75C82-0CE5-3491-3D1A-B9DE45372E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Exchange</a:t>
            </a:r>
          </a:p>
          <a:p>
            <a:endParaRPr lang="en-US" b="1" dirty="0"/>
          </a:p>
          <a:p>
            <a:r>
              <a:rPr lang="en-US" dirty="0"/>
              <a:t>Offering something in return for cooperation.</a:t>
            </a:r>
          </a:p>
          <a:p>
            <a:endParaRPr lang="en-US" dirty="0"/>
          </a:p>
          <a:p>
            <a:r>
              <a:rPr lang="en-US" b="1" dirty="0"/>
              <a:t>Example:</a:t>
            </a:r>
            <a:r>
              <a:rPr lang="en-US" dirty="0"/>
              <a:t> "If you help me today, I'll assist you with your project tomorrow.“</a:t>
            </a:r>
          </a:p>
          <a:p>
            <a:endParaRPr lang="en-US" dirty="0"/>
          </a:p>
          <a:p>
            <a:r>
              <a:rPr lang="en-US" b="1" dirty="0"/>
              <a:t>Best used when:</a:t>
            </a:r>
            <a:r>
              <a:rPr lang="en-US" dirty="0"/>
              <a:t> Mutual benefit is possible.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99442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59E8E-9DE5-65E1-D02E-66F7F9BCC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Persuasion Tactic 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9A47B-179E-7CDF-935A-B5EACD5846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Pressure</a:t>
            </a:r>
          </a:p>
          <a:p>
            <a:r>
              <a:rPr lang="en-US" dirty="0"/>
              <a:t>Using demands, reminders, deadlines, or persistent requests to secure compliance.</a:t>
            </a:r>
          </a:p>
          <a:p>
            <a:endParaRPr lang="en-US" dirty="0"/>
          </a:p>
          <a:p>
            <a:r>
              <a:rPr lang="en-US" b="1" dirty="0"/>
              <a:t>Example:</a:t>
            </a:r>
            <a:r>
              <a:rPr lang="en-US" dirty="0"/>
              <a:t> "This report must be submitted by 5 p.m. today.“</a:t>
            </a:r>
          </a:p>
          <a:p>
            <a:endParaRPr lang="en-US" dirty="0"/>
          </a:p>
          <a:p>
            <a:r>
              <a:rPr lang="en-US" b="1" dirty="0"/>
              <a:t>Best used when:</a:t>
            </a:r>
            <a:r>
              <a:rPr lang="en-US" dirty="0"/>
              <a:t> Immediate action is necessary.</a:t>
            </a:r>
          </a:p>
          <a:p>
            <a:endParaRPr lang="en-US" dirty="0"/>
          </a:p>
          <a:p>
            <a:r>
              <a:rPr lang="en-US" b="1" dirty="0"/>
              <a:t>Limitation:</a:t>
            </a:r>
            <a:r>
              <a:rPr lang="en-US" dirty="0"/>
              <a:t> Frequent use can damage trust and reduce employee motivation.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08276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7EB14-114D-69F7-463B-518E133AA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Characteristics of a Transactional Leader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237736-9A30-2330-C88E-42A81370EC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 </a:t>
            </a:r>
            <a:r>
              <a:rPr lang="en-US" b="1" dirty="0"/>
              <a:t>transactional leader</a:t>
            </a:r>
            <a:r>
              <a:rPr lang="en-US" dirty="0"/>
              <a:t> focuses on achieving </a:t>
            </a:r>
            <a:r>
              <a:rPr lang="en-US" dirty="0" err="1"/>
              <a:t>organisational</a:t>
            </a:r>
            <a:r>
              <a:rPr lang="en-US" dirty="0"/>
              <a:t> goals through a system of rewards and penalties. This leadership style </a:t>
            </a:r>
            <a:r>
              <a:rPr lang="en-US" dirty="0" err="1"/>
              <a:t>emphasises</a:t>
            </a:r>
            <a:r>
              <a:rPr lang="en-US" dirty="0"/>
              <a:t> structure, discipline, and performance, ensuring that employees meet established standards and objectives.</a:t>
            </a:r>
          </a:p>
          <a:p>
            <a:r>
              <a:rPr lang="en-US" dirty="0"/>
              <a:t>Focus on Clear Goals</a:t>
            </a:r>
          </a:p>
          <a:p>
            <a:r>
              <a:rPr lang="en-US" dirty="0"/>
              <a:t>Emphasis on Rules and Procedures</a:t>
            </a:r>
            <a:endParaRPr lang="en-US" b="1" dirty="0"/>
          </a:p>
          <a:p>
            <a:r>
              <a:rPr lang="en-IN" dirty="0"/>
              <a:t>Performance-Oriented</a:t>
            </a:r>
            <a:endParaRPr lang="en-US" b="1" dirty="0"/>
          </a:p>
          <a:p>
            <a:r>
              <a:rPr lang="en-IN" dirty="0"/>
              <a:t>Task-Oriented</a:t>
            </a:r>
            <a:endParaRPr lang="en-US" b="1" dirty="0"/>
          </a:p>
          <a:p>
            <a:r>
              <a:rPr lang="en-IN" dirty="0"/>
              <a:t>Formal Authority</a:t>
            </a:r>
          </a:p>
          <a:p>
            <a:r>
              <a:rPr lang="en-IN" dirty="0"/>
              <a:t>Close Supervision</a:t>
            </a:r>
            <a:endParaRPr lang="en-US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29617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5430E-C32A-6BF3-3FA6-F72D8468E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1EACDA-2231-255D-F5D4-88963C83B8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Transactional leaders motivate employees through </a:t>
            </a:r>
            <a:r>
              <a:rPr lang="en-US" b="1" dirty="0"/>
              <a:t>rewards, supervision, and clear expectations</a:t>
            </a:r>
            <a:r>
              <a:rPr lang="en-US" dirty="0"/>
              <a:t>. </a:t>
            </a:r>
          </a:p>
          <a:p>
            <a:r>
              <a:rPr lang="en-US" dirty="0"/>
              <a:t>They are highly effective in structured environments where consistency, efficiency, and adherence to procedures are essential.</a:t>
            </a:r>
          </a:p>
          <a:p>
            <a:r>
              <a:rPr lang="en-US" dirty="0"/>
              <a:t>Effective during an emergency.</a:t>
            </a:r>
          </a:p>
          <a:p>
            <a:r>
              <a:rPr lang="en-US" dirty="0"/>
              <a:t>They may be less successful in fostering innovation or inspiring long-term </a:t>
            </a:r>
            <a:r>
              <a:rPr lang="en-US" dirty="0" err="1"/>
              <a:t>organisational</a:t>
            </a:r>
            <a:r>
              <a:rPr lang="en-US" dirty="0"/>
              <a:t> change.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1018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B7AEF-2A8E-1A25-2CF1-9D062AC6D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Characteristics of Transformational Leaders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AF8D0A-8F8F-7DDF-31B3-8A73228520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Visionary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Inspirational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Ethical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Innovative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Emotionally intelligent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Empathetic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Confident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Good communicator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Trustworthy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Future-oriented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56552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49D8F-FCAB-7934-2F1F-D6319C6C3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Benefits of Transformational Leadership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75628D-D349-C0FF-2EE8-9B75BA6BD2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For Employees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Higher motivation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Increased job satisfaction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Personal growth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Greater creativity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Stronger commitment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Better teamwork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3158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E7BAC-1C86-2A30-D315-F4EADF0FC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Real-World Examples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F2405F-1248-80A6-5659-6BF1658D46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/>
              <a:t>1. Mahatma Gandhi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Inspired millions through non-violence.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Led by personal example.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Created a shared national vision. </a:t>
            </a:r>
          </a:p>
          <a:p>
            <a:r>
              <a:rPr lang="en-US" b="1" dirty="0"/>
              <a:t>2. Nelson Mandela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Promoted reconciliation after apartheid.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Inspired unity and forgiveness.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Built trust through integrity. </a:t>
            </a:r>
          </a:p>
          <a:p>
            <a:r>
              <a:rPr lang="en-US" b="1" dirty="0"/>
              <a:t>3. Satya Nadella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Shifted Microsoft's culture towards collaboration, learning and innovation.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Encouraged a "growth mindset".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Revitalised</a:t>
            </a:r>
            <a:r>
              <a:rPr lang="en-US" dirty="0"/>
              <a:t> </a:t>
            </a:r>
            <a:r>
              <a:rPr lang="en-US" dirty="0" err="1"/>
              <a:t>organisational</a:t>
            </a:r>
            <a:r>
              <a:rPr lang="en-US" dirty="0"/>
              <a:t> performance.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27534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AE896-6601-B142-6096-1D2CB73D9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1D6CC2-4987-29D8-1DDD-282B5AED012D}"/>
              </a:ext>
            </a:extLst>
          </p:cNvPr>
          <p:cNvSpPr>
            <a:spLocks noGrp="1"/>
          </p:cNvSpPr>
          <p:nvPr>
            <p:ph type="body" sz="half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ABAB41-9824-02C6-8F51-9089F912591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5711523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2774</TotalTime>
  <Words>755</Words>
  <Application>Microsoft Office PowerPoint</Application>
  <PresentationFormat>Widescreen</PresentationFormat>
  <Paragraphs>156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Trebuchet MS</vt:lpstr>
      <vt:lpstr>Berlin</vt:lpstr>
      <vt:lpstr>Leadership &amp; Influence </vt:lpstr>
      <vt:lpstr>What is Leadership?</vt:lpstr>
      <vt:lpstr>Characteristics of Effective Leaders </vt:lpstr>
      <vt:lpstr>What is Influence? </vt:lpstr>
      <vt:lpstr>PowerPoint Presentation</vt:lpstr>
      <vt:lpstr>What is Persuasion? </vt:lpstr>
      <vt:lpstr>Persuasion Tactic1 </vt:lpstr>
      <vt:lpstr>Persuasion Tactic 2</vt:lpstr>
      <vt:lpstr>Persuasion Tactic 3</vt:lpstr>
      <vt:lpstr>Persuasion Tactic 4</vt:lpstr>
      <vt:lpstr>Persuasion Tactic 5</vt:lpstr>
      <vt:lpstr>Persuasion Tactic 6</vt:lpstr>
      <vt:lpstr>Persuasion Tactic 7</vt:lpstr>
      <vt:lpstr>Persuasion Tactic 8</vt:lpstr>
      <vt:lpstr>Characteristics of a Transactional Leader </vt:lpstr>
      <vt:lpstr>PowerPoint Presentation</vt:lpstr>
      <vt:lpstr>Characteristics of Transformational Leaders </vt:lpstr>
      <vt:lpstr>Benefits of Transformational Leadership </vt:lpstr>
      <vt:lpstr>Real-World Examples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Leadership &amp; Influence </dc:title>
  <dc:creator>MARTHA KARUNAKAR</dc:creator>
  <cp:lastModifiedBy>MARTHA KARUNAKAR</cp:lastModifiedBy>
  <cp:revision>15</cp:revision>
  <dcterms:created xsi:type="dcterms:W3CDTF">2026-07-28T05:54:34Z</dcterms:created>
  <dcterms:modified xsi:type="dcterms:W3CDTF">2026-08-13T03:14:30Z</dcterms:modified>
</cp:coreProperties>
</file>