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128">
          <p15:clr>
            <a:srgbClr val="A4A3A4"/>
          </p15:clr>
        </p15:guide>
        <p15:guide id="2" orient="horz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iNaGfSoerSFQvSdGEhgCDWcTe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28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 spacing + Page numbers</a:t>
            </a:r>
            <a:endParaRPr/>
          </a:p>
        </p:txBody>
      </p:sp>
      <p:sp>
        <p:nvSpPr>
          <p:cNvPr id="110" name="Google Shape;11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972faf5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972faf5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5972faf5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" type="body"/>
          </p:nvPr>
        </p:nvSpPr>
        <p:spPr>
          <a:xfrm>
            <a:off x="1028700" y="5078187"/>
            <a:ext cx="3222058" cy="96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1400"/>
              <a:buNone/>
              <a:defRPr sz="1400">
                <a:solidFill>
                  <a:srgbClr val="5A695E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1"/>
          <p:cNvSpPr/>
          <p:nvPr>
            <p:ph idx="2" type="pic"/>
          </p:nvPr>
        </p:nvSpPr>
        <p:spPr>
          <a:xfrm>
            <a:off x="6221413" y="0"/>
            <a:ext cx="4941887" cy="572611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" name="Google Shape;18;p21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" name="Google Shape;19;p21"/>
          <p:cNvSpPr txBox="1"/>
          <p:nvPr>
            <p:ph type="title"/>
          </p:nvPr>
        </p:nvSpPr>
        <p:spPr>
          <a:xfrm>
            <a:off x="914513" y="876299"/>
            <a:ext cx="5181486" cy="2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chemeClr val="l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7258050" y="2000250"/>
            <a:ext cx="4667250" cy="3398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2000"/>
              <a:buNone/>
              <a:defRPr sz="2000">
                <a:solidFill>
                  <a:srgbClr val="5A695E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2"/>
          <p:cNvSpPr txBox="1"/>
          <p:nvPr>
            <p:ph type="title"/>
          </p:nvPr>
        </p:nvSpPr>
        <p:spPr>
          <a:xfrm>
            <a:off x="914513" y="876299"/>
            <a:ext cx="5181486" cy="2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" name="Google Shape;31;p22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  <a:defRPr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solidFill>
          <a:schemeClr val="accen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2773045" y="2426610"/>
            <a:ext cx="2378075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3037155" y="2714986"/>
            <a:ext cx="6674802" cy="6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  <a:defRPr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accen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1028700" y="5078187"/>
            <a:ext cx="3222058" cy="96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1400"/>
              <a:buNone/>
              <a:defRPr sz="1400">
                <a:solidFill>
                  <a:srgbClr val="5A695E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400"/>
              <a:buNone/>
              <a:defRPr sz="1400">
                <a:solidFill>
                  <a:srgbClr val="55555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/>
          <p:nvPr>
            <p:ph idx="2" type="pic"/>
          </p:nvPr>
        </p:nvSpPr>
        <p:spPr>
          <a:xfrm>
            <a:off x="6221413" y="0"/>
            <a:ext cx="4941887" cy="572611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" name="Google Shape;43;p20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" name="Google Shape;44;p20"/>
          <p:cNvSpPr txBox="1"/>
          <p:nvPr>
            <p:ph type="title"/>
          </p:nvPr>
        </p:nvSpPr>
        <p:spPr>
          <a:xfrm>
            <a:off x="914513" y="876299"/>
            <a:ext cx="5181486" cy="2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bg>
      <p:bgPr>
        <a:solidFill>
          <a:schemeClr val="accen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/>
          <p:nvPr>
            <p:ph idx="2" type="pic"/>
          </p:nvPr>
        </p:nvSpPr>
        <p:spPr>
          <a:xfrm>
            <a:off x="8847137" y="3862387"/>
            <a:ext cx="2316163" cy="2538413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5"/>
          <p:cNvSpPr/>
          <p:nvPr>
            <p:ph idx="3" type="pic"/>
          </p:nvPr>
        </p:nvSpPr>
        <p:spPr>
          <a:xfrm>
            <a:off x="6210300" y="3854450"/>
            <a:ext cx="2316163" cy="2538413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5"/>
          <p:cNvSpPr/>
          <p:nvPr>
            <p:ph idx="4" type="pic"/>
          </p:nvPr>
        </p:nvSpPr>
        <p:spPr>
          <a:xfrm>
            <a:off x="6210300" y="465138"/>
            <a:ext cx="4953000" cy="3090862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761917" y="517972"/>
            <a:ext cx="29565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b="1" sz="8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5" type="body"/>
          </p:nvPr>
        </p:nvSpPr>
        <p:spPr>
          <a:xfrm>
            <a:off x="1040130" y="2009775"/>
            <a:ext cx="3924300" cy="43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1600"/>
              <a:buNone/>
              <a:defRPr sz="1600">
                <a:solidFill>
                  <a:srgbClr val="5A695E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2000"/>
              <a:buNone/>
              <a:defRPr sz="2000">
                <a:solidFill>
                  <a:srgbClr val="555555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  <a:defRPr sz="1800">
                <a:solidFill>
                  <a:srgbClr val="555555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>
                <a:solidFill>
                  <a:srgbClr val="555555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>
                <a:solidFill>
                  <a:srgbClr val="55555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25"/>
          <p:cNvSpPr txBox="1"/>
          <p:nvPr>
            <p:ph type="title"/>
          </p:nvPr>
        </p:nvSpPr>
        <p:spPr>
          <a:xfrm>
            <a:off x="1028700" y="465137"/>
            <a:ext cx="3935647" cy="1340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  <a:defRPr>
                <a:solidFill>
                  <a:srgbClr val="5A69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and Graph">
  <p:cSld name="Chart and Graph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27"/>
          <p:cNvSpPr/>
          <p:nvPr>
            <p:ph idx="2" type="pic"/>
          </p:nvPr>
        </p:nvSpPr>
        <p:spPr>
          <a:xfrm>
            <a:off x="1022147" y="0"/>
            <a:ext cx="3938588" cy="6400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7"/>
          <p:cNvSpPr txBox="1"/>
          <p:nvPr>
            <p:ph type="title"/>
          </p:nvPr>
        </p:nvSpPr>
        <p:spPr>
          <a:xfrm>
            <a:off x="5947966" y="2105933"/>
            <a:ext cx="5297883" cy="2237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2000"/>
              <a:buFont typeface="Arial"/>
              <a:buNone/>
              <a:defRPr sz="2000"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accen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idx="1" type="body"/>
          </p:nvPr>
        </p:nvSpPr>
        <p:spPr>
          <a:xfrm>
            <a:off x="761917" y="517972"/>
            <a:ext cx="31089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b="1" sz="8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8"/>
          <p:cNvSpPr/>
          <p:nvPr>
            <p:ph idx="2" type="pic"/>
          </p:nvPr>
        </p:nvSpPr>
        <p:spPr>
          <a:xfrm>
            <a:off x="1036601" y="3552677"/>
            <a:ext cx="1874874" cy="284812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8"/>
          <p:cNvSpPr/>
          <p:nvPr>
            <p:ph idx="3" type="pic"/>
          </p:nvPr>
        </p:nvSpPr>
        <p:spPr>
          <a:xfrm>
            <a:off x="3101197" y="3552677"/>
            <a:ext cx="1874874" cy="2848123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8"/>
          <p:cNvSpPr/>
          <p:nvPr>
            <p:ph idx="4" type="pic"/>
          </p:nvPr>
        </p:nvSpPr>
        <p:spPr>
          <a:xfrm>
            <a:off x="5166324" y="3552677"/>
            <a:ext cx="1874874" cy="284812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8"/>
          <p:cNvSpPr/>
          <p:nvPr>
            <p:ph idx="5" type="pic"/>
          </p:nvPr>
        </p:nvSpPr>
        <p:spPr>
          <a:xfrm>
            <a:off x="7239069" y="3552677"/>
            <a:ext cx="1874874" cy="284812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/>
          <p:nvPr>
            <p:ph idx="6" type="pic"/>
          </p:nvPr>
        </p:nvSpPr>
        <p:spPr>
          <a:xfrm>
            <a:off x="9296046" y="3552677"/>
            <a:ext cx="1874874" cy="2848123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8"/>
          <p:cNvSpPr txBox="1"/>
          <p:nvPr>
            <p:ph type="title"/>
          </p:nvPr>
        </p:nvSpPr>
        <p:spPr>
          <a:xfrm>
            <a:off x="1051560" y="651507"/>
            <a:ext cx="8991563" cy="1005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  <a:defRPr>
                <a:solidFill>
                  <a:srgbClr val="5A69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7" type="body"/>
          </p:nvPr>
        </p:nvSpPr>
        <p:spPr>
          <a:xfrm>
            <a:off x="1036638" y="2717800"/>
            <a:ext cx="1866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None/>
              <a:defRPr sz="1800">
                <a:solidFill>
                  <a:srgbClr val="5A695E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8" type="body"/>
          </p:nvPr>
        </p:nvSpPr>
        <p:spPr>
          <a:xfrm>
            <a:off x="3086100" y="2718405"/>
            <a:ext cx="1866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None/>
              <a:defRPr sz="1800">
                <a:solidFill>
                  <a:srgbClr val="5A695E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9" type="body"/>
          </p:nvPr>
        </p:nvSpPr>
        <p:spPr>
          <a:xfrm>
            <a:off x="5143500" y="2718405"/>
            <a:ext cx="1866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None/>
              <a:defRPr sz="1800">
                <a:solidFill>
                  <a:srgbClr val="5A695E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3" type="body"/>
          </p:nvPr>
        </p:nvSpPr>
        <p:spPr>
          <a:xfrm>
            <a:off x="7239070" y="2718405"/>
            <a:ext cx="1866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None/>
              <a:defRPr sz="1800">
                <a:solidFill>
                  <a:srgbClr val="5A695E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4" type="body"/>
          </p:nvPr>
        </p:nvSpPr>
        <p:spPr>
          <a:xfrm>
            <a:off x="9304020" y="2718405"/>
            <a:ext cx="1866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None/>
              <a:defRPr sz="1800">
                <a:solidFill>
                  <a:srgbClr val="5A695E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Column">
  <p:cSld name="Content 1 Column"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/>
          <p:nvPr>
            <p:ph idx="2" type="pic"/>
          </p:nvPr>
        </p:nvSpPr>
        <p:spPr>
          <a:xfrm>
            <a:off x="1028700" y="3543300"/>
            <a:ext cx="3924300" cy="3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9"/>
          <p:cNvSpPr txBox="1"/>
          <p:nvPr>
            <p:ph idx="1" type="body"/>
          </p:nvPr>
        </p:nvSpPr>
        <p:spPr>
          <a:xfrm>
            <a:off x="6191250" y="1981200"/>
            <a:ext cx="4972050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9"/>
          <p:cNvSpPr txBox="1"/>
          <p:nvPr>
            <p:ph type="title"/>
          </p:nvPr>
        </p:nvSpPr>
        <p:spPr>
          <a:xfrm>
            <a:off x="895534" y="539225"/>
            <a:ext cx="3924300" cy="2434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3" name="Google Shape;83;p29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Column">
  <p:cSld name="Content 3 Column">
    <p:bg>
      <p:bgPr>
        <a:solidFill>
          <a:schemeClr val="accen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/>
          <p:nvPr>
            <p:ph idx="2" type="pic"/>
          </p:nvPr>
        </p:nvSpPr>
        <p:spPr>
          <a:xfrm>
            <a:off x="6210300" y="0"/>
            <a:ext cx="4953000" cy="3302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1028700" y="3556002"/>
            <a:ext cx="3108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2800"/>
              <a:buChar char="•"/>
              <a:defRPr>
                <a:solidFill>
                  <a:srgbClr val="5A695E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3" type="body"/>
          </p:nvPr>
        </p:nvSpPr>
        <p:spPr>
          <a:xfrm>
            <a:off x="4541520" y="3556001"/>
            <a:ext cx="3108960" cy="228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2800"/>
              <a:buChar char="•"/>
              <a:defRPr>
                <a:solidFill>
                  <a:srgbClr val="5A695E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4" type="body"/>
          </p:nvPr>
        </p:nvSpPr>
        <p:spPr>
          <a:xfrm>
            <a:off x="8054340" y="3556001"/>
            <a:ext cx="3108960" cy="228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2800"/>
              <a:buChar char="•"/>
              <a:defRPr>
                <a:solidFill>
                  <a:srgbClr val="5A695E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30"/>
          <p:cNvSpPr txBox="1"/>
          <p:nvPr>
            <p:ph type="title"/>
          </p:nvPr>
        </p:nvSpPr>
        <p:spPr>
          <a:xfrm>
            <a:off x="895530" y="539225"/>
            <a:ext cx="3924300" cy="2434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2" name="Google Shape;92;p30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bg>
      <p:bgPr>
        <a:solidFill>
          <a:schemeClr val="accent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31"/>
          <p:cNvSpPr txBox="1"/>
          <p:nvPr>
            <p:ph type="title"/>
          </p:nvPr>
        </p:nvSpPr>
        <p:spPr>
          <a:xfrm>
            <a:off x="896829" y="573503"/>
            <a:ext cx="10156826" cy="1369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  <a:defRPr sz="7200">
                <a:solidFill>
                  <a:srgbClr val="5A69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7" name="Google Shape;97;p31"/>
          <p:cNvCxnSpPr/>
          <p:nvPr/>
        </p:nvCxnSpPr>
        <p:spPr>
          <a:xfrm>
            <a:off x="1028700" y="457211"/>
            <a:ext cx="1142999" cy="0"/>
          </a:xfrm>
          <a:prstGeom prst="straightConnector1">
            <a:avLst/>
          </a:prstGeom>
          <a:noFill/>
          <a:ln cap="flat" cmpd="sng" w="15875">
            <a:solidFill>
              <a:srgbClr val="5A695E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ontact"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2"/>
          <p:cNvSpPr/>
          <p:nvPr>
            <p:ph idx="2" type="pic"/>
          </p:nvPr>
        </p:nvSpPr>
        <p:spPr>
          <a:xfrm>
            <a:off x="6210300" y="3543302"/>
            <a:ext cx="4953000" cy="2849562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32"/>
          <p:cNvSpPr/>
          <p:nvPr>
            <p:ph idx="3" type="pic"/>
          </p:nvPr>
        </p:nvSpPr>
        <p:spPr>
          <a:xfrm>
            <a:off x="6210300" y="465138"/>
            <a:ext cx="4953000" cy="284956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32"/>
          <p:cNvSpPr txBox="1"/>
          <p:nvPr>
            <p:ph idx="1" type="body"/>
          </p:nvPr>
        </p:nvSpPr>
        <p:spPr>
          <a:xfrm>
            <a:off x="761917" y="517972"/>
            <a:ext cx="29565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b="1" sz="8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4" type="body"/>
          </p:nvPr>
        </p:nvSpPr>
        <p:spPr>
          <a:xfrm>
            <a:off x="1040130" y="2009776"/>
            <a:ext cx="3924300" cy="2849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>
                <a:solidFill>
                  <a:srgbClr val="555555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2000"/>
              <a:buNone/>
              <a:defRPr sz="2000">
                <a:solidFill>
                  <a:srgbClr val="555555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800"/>
              <a:buNone/>
              <a:defRPr sz="1800">
                <a:solidFill>
                  <a:srgbClr val="555555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>
                <a:solidFill>
                  <a:srgbClr val="555555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55555"/>
              </a:buClr>
              <a:buSzPts val="1600"/>
              <a:buNone/>
              <a:defRPr sz="1600">
                <a:solidFill>
                  <a:srgbClr val="55555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5" type="body"/>
          </p:nvPr>
        </p:nvSpPr>
        <p:spPr>
          <a:xfrm>
            <a:off x="1039813" y="5067300"/>
            <a:ext cx="3913187" cy="1319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600"/>
              <a:buChar char="•"/>
              <a:defRPr sz="1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2"/>
          <p:cNvSpPr txBox="1"/>
          <p:nvPr>
            <p:ph type="title"/>
          </p:nvPr>
        </p:nvSpPr>
        <p:spPr>
          <a:xfrm>
            <a:off x="1040130" y="465136"/>
            <a:ext cx="3935647" cy="1340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4400"/>
              <a:buFont typeface="Arial"/>
              <a:buNone/>
              <a:defRPr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48">
          <p15:clr>
            <a:srgbClr val="F26B43"/>
          </p15:clr>
        </p15:guide>
        <p15:guide id="2" pos="1176">
          <p15:clr>
            <a:srgbClr val="F26B43"/>
          </p15:clr>
        </p15:guide>
        <p15:guide id="3" pos="1296">
          <p15:clr>
            <a:srgbClr val="F26B43"/>
          </p15:clr>
        </p15:guide>
        <p15:guide id="4" pos="1824">
          <p15:clr>
            <a:srgbClr val="F26B43"/>
          </p15:clr>
        </p15:guide>
        <p15:guide id="5" pos="1944">
          <p15:clr>
            <a:srgbClr val="F26B43"/>
          </p15:clr>
        </p15:guide>
        <p15:guide id="6" pos="2472">
          <p15:clr>
            <a:srgbClr val="F26B43"/>
          </p15:clr>
        </p15:guide>
        <p15:guide id="7" pos="2592">
          <p15:clr>
            <a:srgbClr val="F26B43"/>
          </p15:clr>
        </p15:guide>
        <p15:guide id="8" pos="3120">
          <p15:clr>
            <a:srgbClr val="F26B43"/>
          </p15:clr>
        </p15:guide>
        <p15:guide id="9" pos="3240">
          <p15:clr>
            <a:srgbClr val="F26B43"/>
          </p15:clr>
        </p15:guide>
        <p15:guide id="10" pos="3792">
          <p15:clr>
            <a:srgbClr val="F26B43"/>
          </p15:clr>
        </p15:guide>
        <p15:guide id="11" pos="3912">
          <p15:clr>
            <a:srgbClr val="F26B43"/>
          </p15:clr>
        </p15:guide>
        <p15:guide id="12" pos="4416">
          <p15:clr>
            <a:srgbClr val="F26B43"/>
          </p15:clr>
        </p15:guide>
        <p15:guide id="13" pos="4560">
          <p15:clr>
            <a:srgbClr val="F26B43"/>
          </p15:clr>
        </p15:guide>
        <p15:guide id="14" pos="5088">
          <p15:clr>
            <a:srgbClr val="F26B43"/>
          </p15:clr>
        </p15:guide>
        <p15:guide id="15" pos="5208">
          <p15:clr>
            <a:srgbClr val="F26B43"/>
          </p15:clr>
        </p15:guide>
        <p15:guide id="16" pos="5736">
          <p15:clr>
            <a:srgbClr val="F26B43"/>
          </p15:clr>
        </p15:guide>
        <p15:guide id="17" pos="5856">
          <p15:clr>
            <a:srgbClr val="F26B43"/>
          </p15:clr>
        </p15:guide>
        <p15:guide id="18" pos="6384">
          <p15:clr>
            <a:srgbClr val="F26B43"/>
          </p15:clr>
        </p15:guide>
        <p15:guide id="19" pos="6504">
          <p15:clr>
            <a:srgbClr val="F26B43"/>
          </p15:clr>
        </p15:guide>
        <p15:guide id="20" pos="7032">
          <p15:clr>
            <a:srgbClr val="F26B43"/>
          </p15:clr>
        </p15:guide>
        <p15:guide id="21" orient="horz" pos="288">
          <p15:clr>
            <a:srgbClr val="F26B43"/>
          </p15:clr>
        </p15:guide>
        <p15:guide id="22" orient="horz" pos="1128">
          <p15:clr>
            <a:srgbClr val="F26B43"/>
          </p15:clr>
        </p15:guide>
        <p15:guide id="23" orient="horz" pos="1248">
          <p15:clr>
            <a:srgbClr val="F26B43"/>
          </p15:clr>
        </p15:guide>
        <p15:guide id="24" orient="horz" pos="2088">
          <p15:clr>
            <a:srgbClr val="F26B43"/>
          </p15:clr>
        </p15:guide>
        <p15:guide id="25" orient="horz" pos="2232">
          <p15:clr>
            <a:srgbClr val="F26B43"/>
          </p15:clr>
        </p15:guide>
        <p15:guide id="26" orient="horz" pos="3048">
          <p15:clr>
            <a:srgbClr val="F26B43"/>
          </p15:clr>
        </p15:guide>
        <p15:guide id="27" orient="horz" pos="3192">
          <p15:clr>
            <a:srgbClr val="F26B43"/>
          </p15:clr>
        </p15:guide>
        <p15:guide id="28" orient="horz" pos="40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48">
          <p15:clr>
            <a:srgbClr val="F26B43"/>
          </p15:clr>
        </p15:guide>
        <p15:guide id="2" pos="1176">
          <p15:clr>
            <a:srgbClr val="F26B43"/>
          </p15:clr>
        </p15:guide>
        <p15:guide id="3" pos="1296">
          <p15:clr>
            <a:srgbClr val="F26B43"/>
          </p15:clr>
        </p15:guide>
        <p15:guide id="4" pos="1824">
          <p15:clr>
            <a:srgbClr val="F26B43"/>
          </p15:clr>
        </p15:guide>
        <p15:guide id="5" pos="1944">
          <p15:clr>
            <a:srgbClr val="F26B43"/>
          </p15:clr>
        </p15:guide>
        <p15:guide id="6" pos="2472">
          <p15:clr>
            <a:srgbClr val="F26B43"/>
          </p15:clr>
        </p15:guide>
        <p15:guide id="7" pos="2592">
          <p15:clr>
            <a:srgbClr val="F26B43"/>
          </p15:clr>
        </p15:guide>
        <p15:guide id="8" pos="3120">
          <p15:clr>
            <a:srgbClr val="F26B43"/>
          </p15:clr>
        </p15:guide>
        <p15:guide id="9" pos="3240">
          <p15:clr>
            <a:srgbClr val="F26B43"/>
          </p15:clr>
        </p15:guide>
        <p15:guide id="10" pos="3792">
          <p15:clr>
            <a:srgbClr val="F26B43"/>
          </p15:clr>
        </p15:guide>
        <p15:guide id="11" pos="3912">
          <p15:clr>
            <a:srgbClr val="F26B43"/>
          </p15:clr>
        </p15:guide>
        <p15:guide id="12" pos="4416">
          <p15:clr>
            <a:srgbClr val="F26B43"/>
          </p15:clr>
        </p15:guide>
        <p15:guide id="13" pos="4560">
          <p15:clr>
            <a:srgbClr val="F26B43"/>
          </p15:clr>
        </p15:guide>
        <p15:guide id="14" pos="5088">
          <p15:clr>
            <a:srgbClr val="F26B43"/>
          </p15:clr>
        </p15:guide>
        <p15:guide id="15" pos="5208">
          <p15:clr>
            <a:srgbClr val="F26B43"/>
          </p15:clr>
        </p15:guide>
        <p15:guide id="16" pos="5736">
          <p15:clr>
            <a:srgbClr val="F26B43"/>
          </p15:clr>
        </p15:guide>
        <p15:guide id="17" pos="5856">
          <p15:clr>
            <a:srgbClr val="F26B43"/>
          </p15:clr>
        </p15:guide>
        <p15:guide id="18" pos="6384">
          <p15:clr>
            <a:srgbClr val="F26B43"/>
          </p15:clr>
        </p15:guide>
        <p15:guide id="19" pos="6504">
          <p15:clr>
            <a:srgbClr val="F26B43"/>
          </p15:clr>
        </p15:guide>
        <p15:guide id="20" pos="7032">
          <p15:clr>
            <a:srgbClr val="F26B43"/>
          </p15:clr>
        </p15:guide>
        <p15:guide id="21" orient="horz" pos="288">
          <p15:clr>
            <a:srgbClr val="F26B43"/>
          </p15:clr>
        </p15:guide>
        <p15:guide id="22" orient="horz" pos="1128">
          <p15:clr>
            <a:srgbClr val="F26B43"/>
          </p15:clr>
        </p15:guide>
        <p15:guide id="23" orient="horz" pos="1248">
          <p15:clr>
            <a:srgbClr val="F26B43"/>
          </p15:clr>
        </p15:guide>
        <p15:guide id="24" orient="horz" pos="2088">
          <p15:clr>
            <a:srgbClr val="F26B43"/>
          </p15:clr>
        </p15:guide>
        <p15:guide id="25" orient="horz" pos="2232">
          <p15:clr>
            <a:srgbClr val="F26B43"/>
          </p15:clr>
        </p15:guide>
        <p15:guide id="26" orient="horz" pos="3048">
          <p15:clr>
            <a:srgbClr val="F26B43"/>
          </p15:clr>
        </p15:guide>
        <p15:guide id="27" orient="horz" pos="3192">
          <p15:clr>
            <a:srgbClr val="F26B43"/>
          </p15:clr>
        </p15:guide>
        <p15:guide id="28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9C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/>
          <p:nvPr>
            <p:ph type="title"/>
          </p:nvPr>
        </p:nvSpPr>
        <p:spPr>
          <a:xfrm>
            <a:off x="914513" y="876299"/>
            <a:ext cx="5181486" cy="2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r>
              <a:rPr lang="en-US"/>
              <a:t>Teamwork: Utilizing Cooperative Strategies</a:t>
            </a:r>
            <a:endParaRPr/>
          </a:p>
        </p:txBody>
      </p:sp>
      <p:sp>
        <p:nvSpPr>
          <p:cNvPr id="113" name="Google Shape;113;p1"/>
          <p:cNvSpPr txBox="1"/>
          <p:nvPr>
            <p:ph idx="1" type="body"/>
          </p:nvPr>
        </p:nvSpPr>
        <p:spPr>
          <a:xfrm>
            <a:off x="1028700" y="5078187"/>
            <a:ext cx="3222058" cy="96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400"/>
              <a:buNone/>
            </a:pPr>
            <a:r>
              <a:rPr lang="en-US"/>
              <a:t>Dr Martha Karunakar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1400"/>
              <a:buNone/>
            </a:pPr>
            <a:r>
              <a:rPr lang="en-US"/>
              <a:t>25.06.2026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A695E"/>
              </a:buClr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14" name="Google Shape;114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375" r="21375" t="0"/>
          <a:stretch/>
        </p:blipFill>
        <p:spPr>
          <a:xfrm>
            <a:off x="5712430" y="452063"/>
            <a:ext cx="5897367" cy="6031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>
            <p:ph type="title"/>
          </p:nvPr>
        </p:nvSpPr>
        <p:spPr>
          <a:xfrm>
            <a:off x="914513" y="876299"/>
            <a:ext cx="5181486" cy="22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72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20" name="Google Shape;120;p2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21" name="Google Shape;121;p2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636588" y="1641219"/>
            <a:ext cx="11631774" cy="510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Define teamwork and explain its importance in engineering.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Identify the characteristics of an effective team.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Apply cooperative strategies to improve collaboration.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Recognize common causes of conflict in teams.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appropriate conflict-resolution techniques to resolve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workplace disagreements.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 interpersonal skills essential for engineering careers.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28" name="Google Shape;128;p3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Teamwork</a:t>
            </a:r>
            <a:r>
              <a:rPr lang="en-US"/>
              <a:t> is the collaborative effort of individuals working together toward a common goal by sharing knowledge, skills, and responsibilities.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Teamwork is the process of cooperating with others to achieve objectives more effectively than individuals working alone.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lang="en-US"/>
              <a:t>Introduction -Teamwork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90805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Clear Goals: </a:t>
            </a:r>
            <a:r>
              <a:rPr lang="en-US"/>
              <a:t>Every member understands the team's objectives.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Defined Roles: </a:t>
            </a:r>
            <a:r>
              <a:rPr lang="en-US"/>
              <a:t>Each member knows their responsibilities.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Open Communication: </a:t>
            </a:r>
            <a:r>
              <a:rPr lang="en-US"/>
              <a:t>Ideas and concerns are shared freely.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Mutual Trust: </a:t>
            </a:r>
            <a:r>
              <a:rPr lang="en-US"/>
              <a:t>Members rely on one another and respect each other's contributions.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Accountability: </a:t>
            </a:r>
            <a:r>
              <a:rPr lang="en-US"/>
              <a:t>Each member accepts responsibility for assigned tasks.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Diversity: </a:t>
            </a:r>
            <a:r>
              <a:rPr lang="en-US"/>
              <a:t>Different perspectives lead to creative and innovative solutions.</a:t>
            </a:r>
            <a:endParaRPr/>
          </a:p>
          <a:p>
            <a:pPr indent="-9080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b="1" lang="en-US"/>
              <a:t>Characteristics of an Effective Team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Effective teamwork leads to: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Improved problem-solving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Greater innovation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Faster project completion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Better decision-making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Reduced workload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Increased learning opportunities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Higher employee satisfaction</a:t>
            </a:r>
            <a:endParaRPr/>
          </a:p>
          <a:p>
            <a:pPr indent="-7747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b="1" lang="en-US"/>
              <a:t>Benefits of Teamwork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1. Forming: </a:t>
            </a:r>
            <a:r>
              <a:rPr lang="en-US"/>
              <a:t>Team members meet.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Roles are unclear.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Members are polite and cautious.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2. Storming: </a:t>
            </a:r>
            <a:r>
              <a:rPr lang="en-US"/>
              <a:t>Differences emerge.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Conflicts may occur.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Leadership begins to develop.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3. Norming: </a:t>
            </a:r>
            <a:r>
              <a:rPr lang="en-US"/>
              <a:t>Members establish trust.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Roles become clearer.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Cooperation increases. </a:t>
            </a:r>
            <a:endParaRPr/>
          </a:p>
          <a:p>
            <a:pPr indent="-10414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br>
              <a:rPr b="1" lang="en-US"/>
            </a:br>
            <a:r>
              <a:rPr b="1" lang="en-US"/>
              <a:t>Stages of Team Development </a:t>
            </a:r>
            <a:br>
              <a:rPr b="1" lang="en-US"/>
            </a:br>
            <a:r>
              <a:rPr b="1" lang="en-US"/>
              <a:t>(Bruce Tuckman's Model)</a:t>
            </a:r>
            <a:br>
              <a:rPr b="1" lang="en-US"/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4. Performing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Team functions efficiently.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Members solve problems together.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Productivity is high.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5. Adjourning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 concludes.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Team disbands.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Members evaluate outcomes.</a:t>
            </a:r>
            <a:endParaRPr/>
          </a:p>
          <a:p>
            <a:pPr indent="-7747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r>
              <a:rPr b="1" lang="en-US"/>
              <a:t>Stages of Team Development </a:t>
            </a:r>
            <a:br>
              <a:rPr b="1" lang="en-US"/>
            </a:br>
            <a:r>
              <a:rPr b="1" lang="en-US"/>
              <a:t>(Bruce Tuckman's Model)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972faf57_0_8"/>
          <p:cNvSpPr txBox="1"/>
          <p:nvPr>
            <p:ph idx="12" type="sldNum"/>
          </p:nvPr>
        </p:nvSpPr>
        <p:spPr>
          <a:xfrm>
            <a:off x="9315450" y="6486982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g3f5972faf57_0_8"/>
          <p:cNvSpPr txBox="1"/>
          <p:nvPr>
            <p:ph idx="1" type="body"/>
          </p:nvPr>
        </p:nvSpPr>
        <p:spPr>
          <a:xfrm>
            <a:off x="854075" y="1625600"/>
            <a:ext cx="10499700" cy="48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5972faf57_0_8"/>
          <p:cNvSpPr txBox="1"/>
          <p:nvPr>
            <p:ph type="title"/>
          </p:nvPr>
        </p:nvSpPr>
        <p:spPr>
          <a:xfrm>
            <a:off x="854074" y="122239"/>
            <a:ext cx="10499700" cy="135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3f5972faf57_0_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44" y="122244"/>
            <a:ext cx="11491500" cy="60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2773045" y="2426610"/>
            <a:ext cx="2378075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177" name="Google Shape;177;p8"/>
          <p:cNvSpPr txBox="1"/>
          <p:nvPr>
            <p:ph type="title"/>
          </p:nvPr>
        </p:nvSpPr>
        <p:spPr>
          <a:xfrm>
            <a:off x="5424755" y="2714986"/>
            <a:ext cx="6030930" cy="3706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lang="en-US"/>
              <a:t>Conflict-Resolution Techniques to Foster a Productive Team Environment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Conflict is a disagreement between individuals or groups due to differences in: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Opinions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Goals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Values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Resources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Communication styles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Conflict is </a:t>
            </a:r>
            <a:r>
              <a:rPr b="1" lang="en-US"/>
              <a:t>not always negative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managed effectively, conflict can generate new ideas, Improve decisions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&amp; Strengthen relationships</a:t>
            </a:r>
            <a:endParaRPr/>
          </a:p>
          <a:p>
            <a:pPr indent="-10414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lang="en-US"/>
              <a:t>What is conflict?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91" name="Google Shape;191;p10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0193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Collaboration (Win-Win)</a:t>
            </a:r>
            <a:endParaRPr/>
          </a:p>
          <a:p>
            <a:pPr indent="-2019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Both parties work together to find the best solution.</a:t>
            </a:r>
            <a:endParaRPr/>
          </a:p>
          <a:p>
            <a:pPr indent="-2019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Best for:</a:t>
            </a:r>
            <a:endParaRPr/>
          </a:p>
          <a:p>
            <a:pPr indent="-2019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Important decisions </a:t>
            </a:r>
            <a:endParaRPr/>
          </a:p>
          <a:p>
            <a:pPr indent="-2019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Long-term relationships </a:t>
            </a:r>
            <a:endParaRPr/>
          </a:p>
          <a:p>
            <a:pPr indent="-2019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Two engineers compare design options using performance data before choosing the best solution.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r>
              <a:rPr b="1" lang="en-US"/>
              <a:t>Conflict-Resolution Techniques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199" name="Google Shape;199;p11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11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1935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Compromise</a:t>
            </a:r>
            <a:endParaRPr/>
          </a:p>
          <a:p>
            <a:pPr indent="-2419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party gives up something.</a:t>
            </a:r>
            <a:endParaRPr/>
          </a:p>
          <a:p>
            <a:pPr indent="-2419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Best for:</a:t>
            </a:r>
            <a:endParaRPr/>
          </a:p>
          <a:p>
            <a:pPr indent="-2419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Time-sensitive decisions </a:t>
            </a:r>
            <a:endParaRPr/>
          </a:p>
          <a:p>
            <a:pPr indent="-2419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419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Both engineers agree to combine features from two designs.</a:t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lang="en-US"/>
              <a:t>Conflict-Resolution Techniques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07" name="Google Shape;207;p12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Accommodation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person accepts another's viewpoint.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Useful when: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issue is minor.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Maintaining harmony is more important.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b="1" lang="en-US"/>
              <a:t>Conflict-Resolution Techniques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15" name="Google Shape;215;p13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3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Avoidance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Delay discussing the issue.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Useful only when: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information is needed.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Emotions are high.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suitable for long-term problems.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b="1" lang="en-US"/>
              <a:t>Conflict-Resolution Techniques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23" name="Google Shape;223;p14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4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Competition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person insists on their solution.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Useful only: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During emergencies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quick decisions are essential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ts val="4400"/>
              <a:buFont typeface="Arial"/>
              <a:buNone/>
            </a:pPr>
            <a:r>
              <a:rPr b="1" lang="en-US"/>
              <a:t>Conflict-Resolution Techniques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31" name="Google Shape;231;p15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Focus on the problem, not the person.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Listen before responding.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Stay calm.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Respect different opinions.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Use evidence instead of emotions.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Look for common goals.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✔ Document important decisions.</a:t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r>
              <a:rPr b="1" lang="en-US"/>
              <a:t>Best Conflict-Resolution Practices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39" name="Google Shape;239;p16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team is developing a smart irrigation system.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Members: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Software engineer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Electronics engineer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Mechanical engineer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 manager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Problem: The software team requests additional sensors.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hardware team argues that this will exceed the budget.</a:t>
            </a:r>
            <a:endParaRPr/>
          </a:p>
          <a:p>
            <a:pPr indent="-7747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br>
              <a:rPr b="1" lang="en-US"/>
            </a:br>
            <a:r>
              <a:rPr b="1" lang="en-US"/>
              <a:t>Engineering Case Study</a:t>
            </a:r>
            <a:br>
              <a:rPr b="1" lang="en-US"/>
            </a:br>
            <a:r>
              <a:rPr b="1" lang="en-US"/>
              <a:t>Scenario</a:t>
            </a:r>
            <a:br>
              <a:rPr b="1" lang="en-US"/>
            </a:b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 txBox="1"/>
          <p:nvPr>
            <p:ph idx="10" type="dt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6/23/2026</a:t>
            </a:r>
            <a:endParaRPr/>
          </a:p>
        </p:txBody>
      </p:sp>
      <p:sp>
        <p:nvSpPr>
          <p:cNvPr id="247" name="Google Shape;247;p17"/>
          <p:cNvSpPr txBox="1"/>
          <p:nvPr>
            <p:ph idx="12" type="sldNum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854075" y="1625600"/>
            <a:ext cx="10499725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Scenario:</a:t>
            </a:r>
            <a:r>
              <a:rPr lang="en-US"/>
              <a:t> Two teammates disagree on which programming language to use for a project.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One student argues for Python because of rapid development.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other argues for Java because of scalability.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class identifies which conflict-resolution strategy (collaboration, compromise, accommodation, avoidance, or competition) is being used and discusses whether it is appropriate.</a:t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854074" y="122239"/>
            <a:ext cx="10499725" cy="1355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95E"/>
              </a:buClr>
              <a:buSzPct val="100000"/>
              <a:buFont typeface="Arial"/>
              <a:buNone/>
            </a:pPr>
            <a:br>
              <a:rPr b="1" lang="en-US"/>
            </a:br>
            <a:r>
              <a:rPr b="1" lang="en-US"/>
              <a:t>Role-Play Activity</a:t>
            </a: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Minimalist Presentation">
      <a:dk1>
        <a:srgbClr val="000000"/>
      </a:dk1>
      <a:lt1>
        <a:srgbClr val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Minimalist Presentation">
      <a:dk1>
        <a:srgbClr val="000000"/>
      </a:dk1>
      <a:lt1>
        <a:srgbClr val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2026-06-23T07:36:49Z</dcterms:created>
  <dc:creator>MARTHA KARUNAKAR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