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305" r:id="rId5"/>
    <p:sldId id="277" r:id="rId6"/>
    <p:sldId id="278" r:id="rId7"/>
    <p:sldId id="287" r:id="rId8"/>
    <p:sldId id="290" r:id="rId9"/>
    <p:sldId id="291" r:id="rId10"/>
    <p:sldId id="288" r:id="rId11"/>
    <p:sldId id="289" r:id="rId12"/>
    <p:sldId id="292" r:id="rId13"/>
    <p:sldId id="293" r:id="rId14"/>
    <p:sldId id="317" r:id="rId15"/>
    <p:sldId id="279" r:id="rId16"/>
    <p:sldId id="281" r:id="rId17"/>
    <p:sldId id="274" r:id="rId18"/>
    <p:sldId id="272" r:id="rId19"/>
    <p:sldId id="282" r:id="rId20"/>
    <p:sldId id="273" r:id="rId21"/>
    <p:sldId id="285" r:id="rId22"/>
    <p:sldId id="265" r:id="rId23"/>
    <p:sldId id="269" r:id="rId24"/>
    <p:sldId id="319" r:id="rId25"/>
    <p:sldId id="268" r:id="rId26"/>
    <p:sldId id="267" r:id="rId27"/>
    <p:sldId id="266" r:id="rId28"/>
    <p:sldId id="264" r:id="rId29"/>
    <p:sldId id="263" r:id="rId30"/>
    <p:sldId id="318" r:id="rId31"/>
    <p:sldId id="31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79" autoAdjust="0"/>
  </p:normalViewPr>
  <p:slideViewPr>
    <p:cSldViewPr snapToGrid="0">
      <p:cViewPr varScale="1">
        <p:scale>
          <a:sx n="62" d="100"/>
          <a:sy n="62" d="100"/>
        </p:scale>
        <p:origin x="828" y="4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7/13/2026</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7/13/2026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text, plant&#10;&#10;Description automatically generated">
            <a:extLst>
              <a:ext uri="{FF2B5EF4-FFF2-40B4-BE49-F238E27FC236}">
                <a16:creationId xmlns:a16="http://schemas.microsoft.com/office/drawing/2014/main" id="{A26D6E84-B5BE-5F3E-8B3F-1A46C7F307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7210" y="0"/>
            <a:ext cx="8392026" cy="6858000"/>
          </a:xfrm>
          <a:prstGeom prst="rect">
            <a:avLst/>
          </a:prstGeom>
        </p:spPr>
      </p:pic>
      <p:sp>
        <p:nvSpPr>
          <p:cNvPr id="7" name="Oval 6">
            <a:extLst>
              <a:ext uri="{FF2B5EF4-FFF2-40B4-BE49-F238E27FC236}">
                <a16:creationId xmlns:a16="http://schemas.microsoft.com/office/drawing/2014/main" id="{F0A7E03F-5776-960D-3CA6-7CE62AC96693}"/>
              </a:ext>
            </a:extLst>
          </p:cNvPr>
          <p:cNvSpPr/>
          <p:nvPr userDrawn="1"/>
        </p:nvSpPr>
        <p:spPr>
          <a:xfrm>
            <a:off x="3300284" y="654912"/>
            <a:ext cx="5591432" cy="55914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A7464AF-3FD6-6193-CC95-A941ECE17B9D}"/>
              </a:ext>
            </a:extLst>
          </p:cNvPr>
          <p:cNvCxnSpPr>
            <a:cxnSpLocks/>
          </p:cNvCxnSpPr>
          <p:nvPr userDrawn="1"/>
        </p:nvCxnSpPr>
        <p:spPr>
          <a:xfrm>
            <a:off x="4359876" y="4300155"/>
            <a:ext cx="3472249"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 name="Picture 10" descr="A picture containing text&#10;&#10;Description automatically generated">
            <a:extLst>
              <a:ext uri="{FF2B5EF4-FFF2-40B4-BE49-F238E27FC236}">
                <a16:creationId xmlns:a16="http://schemas.microsoft.com/office/drawing/2014/main" id="{E5214731-3110-8D76-56DF-6335371041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09961" y="4157464"/>
            <a:ext cx="972078" cy="285381"/>
          </a:xfrm>
          <a:prstGeom prst="rect">
            <a:avLst/>
          </a:prstGeom>
        </p:spPr>
      </p:pic>
      <p:sp>
        <p:nvSpPr>
          <p:cNvPr id="17" name="Oval 16">
            <a:extLst>
              <a:ext uri="{FF2B5EF4-FFF2-40B4-BE49-F238E27FC236}">
                <a16:creationId xmlns:a16="http://schemas.microsoft.com/office/drawing/2014/main" id="{516369FF-9501-1944-3E3F-46CBFD515D8D}"/>
              </a:ext>
            </a:extLst>
          </p:cNvPr>
          <p:cNvSpPr/>
          <p:nvPr userDrawn="1"/>
        </p:nvSpPr>
        <p:spPr>
          <a:xfrm>
            <a:off x="3447535" y="807312"/>
            <a:ext cx="5296930" cy="52969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ceramic ware, porcelain&#10;&#10;Description automatically generated">
            <a:extLst>
              <a:ext uri="{FF2B5EF4-FFF2-40B4-BE49-F238E27FC236}">
                <a16:creationId xmlns:a16="http://schemas.microsoft.com/office/drawing/2014/main" id="{AB1576B0-66ED-3F92-2AF8-4EF965E4E3F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9338" y="4814449"/>
            <a:ext cx="1668775" cy="1621434"/>
          </a:xfrm>
          <a:prstGeom prst="rect">
            <a:avLst/>
          </a:prstGeom>
        </p:spPr>
      </p:pic>
      <p:pic>
        <p:nvPicPr>
          <p:cNvPr id="15" name="Picture 14">
            <a:extLst>
              <a:ext uri="{FF2B5EF4-FFF2-40B4-BE49-F238E27FC236}">
                <a16:creationId xmlns:a16="http://schemas.microsoft.com/office/drawing/2014/main" id="{9E576603-B88C-9F7F-98A5-E94BD2C23E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77" y="1164252"/>
            <a:ext cx="818801" cy="845501"/>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749296" y="2660904"/>
            <a:ext cx="6693408" cy="1088136"/>
          </a:xfrm>
        </p:spPr>
        <p:txBody>
          <a:bodyPr anchor="b">
            <a:noAutofit/>
          </a:bodyPr>
          <a:lstStyle>
            <a:lvl1pPr algn="ctr">
              <a:defRPr sz="4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96384" y="2267712"/>
            <a:ext cx="2999232" cy="4389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pic>
        <p:nvPicPr>
          <p:cNvPr id="4" name="Picture 3" descr="A picture containing fabric&#10;&#10;Description automatically generated">
            <a:extLst>
              <a:ext uri="{FF2B5EF4-FFF2-40B4-BE49-F238E27FC236}">
                <a16:creationId xmlns:a16="http://schemas.microsoft.com/office/drawing/2014/main" id="{ABAD6905-AD97-1EAF-A4A3-D0BB13B128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0" name="Rectangle 9">
            <a:extLst>
              <a:ext uri="{FF2B5EF4-FFF2-40B4-BE49-F238E27FC236}">
                <a16:creationId xmlns:a16="http://schemas.microsoft.com/office/drawing/2014/main" id="{63BCB4CA-03FB-81F4-F8A2-FA9C0DBDEB11}"/>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group of flowers&#10;&#10;Description automatically generated with low confidence">
            <a:extLst>
              <a:ext uri="{FF2B5EF4-FFF2-40B4-BE49-F238E27FC236}">
                <a16:creationId xmlns:a16="http://schemas.microsoft.com/office/drawing/2014/main" id="{138EDBF7-FA56-2BF9-ECFA-6C39FEE8F8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959852" flipH="1">
            <a:off x="1760954" y="2048834"/>
            <a:ext cx="1230524" cy="22873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183880" y="978408"/>
            <a:ext cx="3749040"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8183880" y="2194560"/>
            <a:ext cx="3749040" cy="4306824"/>
          </a:xfrm>
        </p:spPr>
        <p:txBody>
          <a:bodyPr>
            <a:normAutofit/>
          </a:bodyPr>
          <a:lstStyle>
            <a:lvl1pPr marL="0" indent="0">
              <a:lnSpc>
                <a:spcPct val="15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descr="A picture containing flower, plant&#10;&#10;Description automatically generated">
            <a:extLst>
              <a:ext uri="{FF2B5EF4-FFF2-40B4-BE49-F238E27FC236}">
                <a16:creationId xmlns:a16="http://schemas.microsoft.com/office/drawing/2014/main" id="{0FE36A83-31CF-DF76-5708-55ED9FB707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sp>
        <p:nvSpPr>
          <p:cNvPr id="11" name="Text Placeholder 33">
            <a:extLst>
              <a:ext uri="{FF2B5EF4-FFF2-40B4-BE49-F238E27FC236}">
                <a16:creationId xmlns:a16="http://schemas.microsoft.com/office/drawing/2014/main" id="{5BF6365E-74A9-6D7B-5F20-7C29F29017E5}"/>
              </a:ext>
            </a:extLst>
          </p:cNvPr>
          <p:cNvSpPr>
            <a:spLocks noGrp="1"/>
          </p:cNvSpPr>
          <p:nvPr>
            <p:ph type="body" sz="quarter" idx="13" hasCustomPrompt="1"/>
          </p:nvPr>
        </p:nvSpPr>
        <p:spPr>
          <a:xfrm>
            <a:off x="1225296"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B4DE27-1913-8274-9943-46641EA0DAB7}"/>
              </a:ext>
            </a:extLst>
          </p:cNvPr>
          <p:cNvSpPr/>
          <p:nvPr userDrawn="1"/>
        </p:nvSpPr>
        <p:spPr>
          <a:xfrm>
            <a:off x="1174276" y="-756"/>
            <a:ext cx="9843449" cy="5690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F901AB4A-AE17-BFA4-697C-75EC6407E147}"/>
              </a:ext>
            </a:extLst>
          </p:cNvPr>
          <p:cNvSpPr/>
          <p:nvPr userDrawn="1"/>
        </p:nvSpPr>
        <p:spPr>
          <a:xfrm>
            <a:off x="1604189" y="-13446"/>
            <a:ext cx="8983623" cy="525779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C7F01FE-99A8-35BD-05A1-6D93A2578E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2833" y="5110810"/>
            <a:ext cx="1207554" cy="354511"/>
          </a:xfrm>
          <a:prstGeom prst="rect">
            <a:avLst/>
          </a:prstGeom>
        </p:spPr>
      </p:pic>
      <p:pic>
        <p:nvPicPr>
          <p:cNvPr id="13" name="Picture 12">
            <a:extLst>
              <a:ext uri="{FF2B5EF4-FFF2-40B4-BE49-F238E27FC236}">
                <a16:creationId xmlns:a16="http://schemas.microsoft.com/office/drawing/2014/main" id="{E66660DF-FD7A-4340-E854-B4680A6B88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5202474" y="-1953000"/>
            <a:ext cx="1485900" cy="53721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748028" y="1389888"/>
            <a:ext cx="8695944"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2223516" y="2651760"/>
            <a:ext cx="7744968" cy="2697480"/>
          </a:xfrm>
        </p:spPr>
        <p:txBody>
          <a:bodyPr>
            <a:normAutofit/>
          </a:bodyPr>
          <a:lstStyle>
            <a:lvl1pPr marL="0" indent="0" algn="ctr">
              <a:lnSpc>
                <a:spcPct val="100000"/>
              </a:lnSpc>
              <a:buNone/>
              <a:defRPr sz="2000">
                <a:latin typeface="Gill Sans Nova Light" panose="020F0302020204030204" pitchFamily="34" charset="0"/>
                <a:cs typeface="Gill Sans Nova Light" panose="020F0302020204030204" pitchFamily="34" charset="0"/>
              </a:defRPr>
            </a:lvl1pPr>
            <a:lvl2pPr algn="ctr">
              <a:lnSpc>
                <a:spcPct val="100000"/>
              </a:lnSpc>
              <a:defRPr sz="18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
        <p:nvSpPr>
          <p:cNvPr id="14" name="Footer Placeholder 13">
            <a:extLst>
              <a:ext uri="{FF2B5EF4-FFF2-40B4-BE49-F238E27FC236}">
                <a16:creationId xmlns:a16="http://schemas.microsoft.com/office/drawing/2014/main" id="{2F05D25C-B703-1868-603E-D468EF44D794}"/>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D8FDB2CC-A975-BC07-042A-228D387E516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026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ADFA29-47E3-2E16-12B7-D8031DC04C0D}"/>
              </a:ext>
            </a:extLst>
          </p:cNvPr>
          <p:cNvSpPr/>
          <p:nvPr userDrawn="1"/>
        </p:nvSpPr>
        <p:spPr>
          <a:xfrm>
            <a:off x="0" y="3377183"/>
            <a:ext cx="12192000" cy="23265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close up of a plant&#10;&#10;Description automatically generated with low confidence">
            <a:extLst>
              <a:ext uri="{FF2B5EF4-FFF2-40B4-BE49-F238E27FC236}">
                <a16:creationId xmlns:a16="http://schemas.microsoft.com/office/drawing/2014/main" id="{D373DB44-C887-96AC-D32D-B7656F28FB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87322" y="3187511"/>
            <a:ext cx="1422400" cy="5283200"/>
          </a:xfrm>
          <a:prstGeom prst="rect">
            <a:avLst/>
          </a:prstGeom>
        </p:spPr>
      </p:pic>
      <p:pic>
        <p:nvPicPr>
          <p:cNvPr id="9" name="Picture 8" descr="A picture containing bedclothes, fabric&#10;&#10;Description automatically generated">
            <a:extLst>
              <a:ext uri="{FF2B5EF4-FFF2-40B4-BE49-F238E27FC236}">
                <a16:creationId xmlns:a16="http://schemas.microsoft.com/office/drawing/2014/main" id="{6A080FF9-A96B-AA38-428D-5F2CF533D0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5400022" y="287485"/>
            <a:ext cx="1485900" cy="5372100"/>
          </a:xfrm>
          <a:prstGeom prst="rect">
            <a:avLst/>
          </a:prstGeom>
        </p:spPr>
      </p:pic>
      <p:sp>
        <p:nvSpPr>
          <p:cNvPr id="13" name="Rectangle 12">
            <a:extLst>
              <a:ext uri="{FF2B5EF4-FFF2-40B4-BE49-F238E27FC236}">
                <a16:creationId xmlns:a16="http://schemas.microsoft.com/office/drawing/2014/main" id="{25150280-02E2-686D-A130-65EBDA15EF13}"/>
              </a:ext>
            </a:extLst>
          </p:cNvPr>
          <p:cNvSpPr/>
          <p:nvPr userDrawn="1"/>
        </p:nvSpPr>
        <p:spPr>
          <a:xfrm>
            <a:off x="232651" y="3633264"/>
            <a:ext cx="11740896" cy="17897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Light" panose="020B0302020104020203" pitchFamily="34" charset="-79"/>
              <a:cs typeface="Gill Sans Light" panose="020B0302020104020203" pitchFamily="34" charset="-79"/>
            </a:endParaRPr>
          </a:p>
        </p:txBody>
      </p:sp>
      <p:pic>
        <p:nvPicPr>
          <p:cNvPr id="15" name="Picture 14" descr="A picture containing ceramic ware, porcelain&#10;&#10;Description automatically generated">
            <a:extLst>
              <a:ext uri="{FF2B5EF4-FFF2-40B4-BE49-F238E27FC236}">
                <a16:creationId xmlns:a16="http://schemas.microsoft.com/office/drawing/2014/main" id="{3DD4D68C-6665-333E-98E8-785116A05A7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90193">
            <a:off x="6957396" y="5090392"/>
            <a:ext cx="856832" cy="832525"/>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27E0939A-D971-0D79-9B6D-834913C959B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362979" y="3252854"/>
            <a:ext cx="1206427" cy="621355"/>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userDrawn="1">
            <p:ph type="title"/>
          </p:nvPr>
        </p:nvSpPr>
        <p:spPr>
          <a:xfrm>
            <a:off x="1153668" y="3977640"/>
            <a:ext cx="9884664" cy="731520"/>
          </a:xfrm>
        </p:spPr>
        <p:txBody>
          <a:bodyPr anchor="b">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userDrawn="1">
            <p:ph type="body" idx="1"/>
          </p:nvPr>
        </p:nvSpPr>
        <p:spPr>
          <a:xfrm>
            <a:off x="1153668" y="4700016"/>
            <a:ext cx="9884664" cy="457200"/>
          </a:xfrm>
        </p:spPr>
        <p:txBody>
          <a:bodyPr anchor="ct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70832"/>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609600" y="1600200"/>
            <a:ext cx="10972800" cy="457200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251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F45E1C-47F6-0AF9-7468-BA613D681E1D}"/>
              </a:ext>
            </a:extLst>
          </p:cNvPr>
          <p:cNvSpPr/>
          <p:nvPr userDrawn="1"/>
        </p:nvSpPr>
        <p:spPr>
          <a:xfrm>
            <a:off x="0" y="1533950"/>
            <a:ext cx="12192000" cy="3790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abric&#10;&#10;Description automatically generated">
            <a:extLst>
              <a:ext uri="{FF2B5EF4-FFF2-40B4-BE49-F238E27FC236}">
                <a16:creationId xmlns:a16="http://schemas.microsoft.com/office/drawing/2014/main" id="{AB9E0D8B-7031-366D-884B-EB3FABD78C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056236" y="-1772981"/>
            <a:ext cx="2147050" cy="6039669"/>
          </a:xfrm>
          <a:prstGeom prst="rect">
            <a:avLst/>
          </a:prstGeom>
        </p:spPr>
      </p:pic>
      <p:sp>
        <p:nvSpPr>
          <p:cNvPr id="12" name="Rectangle 11">
            <a:extLst>
              <a:ext uri="{FF2B5EF4-FFF2-40B4-BE49-F238E27FC236}">
                <a16:creationId xmlns:a16="http://schemas.microsoft.com/office/drawing/2014/main" id="{1859314F-DCEF-A5A7-C5D9-F0D39AAC9FFA}"/>
              </a:ext>
            </a:extLst>
          </p:cNvPr>
          <p:cNvSpPr/>
          <p:nvPr userDrawn="1"/>
        </p:nvSpPr>
        <p:spPr>
          <a:xfrm>
            <a:off x="225552" y="1796143"/>
            <a:ext cx="11740896" cy="326571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flower, plant&#10;&#10;Description automatically generated">
            <a:extLst>
              <a:ext uri="{FF2B5EF4-FFF2-40B4-BE49-F238E27FC236}">
                <a16:creationId xmlns:a16="http://schemas.microsoft.com/office/drawing/2014/main" id="{DAAE5EB8-5B6B-6FA6-E6E7-D2F58FDFB4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6307543" y="-287017"/>
            <a:ext cx="1051334" cy="3866771"/>
          </a:xfrm>
          <a:prstGeom prst="rect">
            <a:avLst/>
          </a:prstGeom>
        </p:spPr>
      </p:pic>
      <p:pic>
        <p:nvPicPr>
          <p:cNvPr id="19" name="Picture 18" descr="A picture containing mollusk, insect&#10;&#10;Description automatically generated">
            <a:extLst>
              <a:ext uri="{FF2B5EF4-FFF2-40B4-BE49-F238E27FC236}">
                <a16:creationId xmlns:a16="http://schemas.microsoft.com/office/drawing/2014/main" id="{BB1368FF-AA1B-4423-30B1-BE082E6F191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492222" y="4923380"/>
            <a:ext cx="1207554" cy="354511"/>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1743456" y="2404872"/>
            <a:ext cx="8705088" cy="2002536"/>
          </a:xfrm>
        </p:spPr>
        <p:txBody>
          <a:bodyPr anchor="t">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743454" y="3964517"/>
            <a:ext cx="8705089" cy="457200"/>
          </a:xfrm>
        </p:spPr>
        <p:txBody>
          <a:bodyPr anchor="ctr"/>
          <a:lstStyle>
            <a:lvl1pPr marL="0" indent="0" algn="ctr">
              <a:buNone/>
              <a:defRPr sz="24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7" name="Text Placeholder 24">
            <a:extLst>
              <a:ext uri="{FF2B5EF4-FFF2-40B4-BE49-F238E27FC236}">
                <a16:creationId xmlns:a16="http://schemas.microsoft.com/office/drawing/2014/main" id="{F5E2B84E-B4F2-ED93-8084-ECFC3B9C380F}"/>
              </a:ext>
            </a:extLst>
          </p:cNvPr>
          <p:cNvSpPr>
            <a:spLocks noGrp="1"/>
          </p:cNvSpPr>
          <p:nvPr>
            <p:ph type="body" sz="quarter" idx="11" hasCustomPrompt="1"/>
          </p:nvPr>
        </p:nvSpPr>
        <p:spPr>
          <a:xfrm>
            <a:off x="10149667" y="3189069"/>
            <a:ext cx="945473" cy="1936750"/>
          </a:xfrm>
        </p:spPr>
        <p:txBody>
          <a:bodyPr>
            <a:noAutofit/>
          </a:bodyPr>
          <a:lstStyle>
            <a:lvl1pPr marL="0" indent="0">
              <a:buNone/>
              <a:defRPr sz="14000" b="1">
                <a:solidFill>
                  <a:schemeClr val="tx2"/>
                </a:solidFill>
                <a:latin typeface="+mj-lt"/>
              </a:defRPr>
            </a:lvl1pPr>
          </a:lstStyle>
          <a:p>
            <a:pPr lvl="0"/>
            <a:r>
              <a:rPr lang="en-US" dirty="0"/>
              <a:t>”</a:t>
            </a:r>
          </a:p>
        </p:txBody>
      </p:sp>
      <p:sp>
        <p:nvSpPr>
          <p:cNvPr id="28" name="Text Placeholder 24">
            <a:extLst>
              <a:ext uri="{FF2B5EF4-FFF2-40B4-BE49-F238E27FC236}">
                <a16:creationId xmlns:a16="http://schemas.microsoft.com/office/drawing/2014/main" id="{FDD82133-EB75-7E07-A9CE-730CB7F6CD34}"/>
              </a:ext>
            </a:extLst>
          </p:cNvPr>
          <p:cNvSpPr>
            <a:spLocks noGrp="1"/>
          </p:cNvSpPr>
          <p:nvPr>
            <p:ph type="body" sz="quarter" idx="10" hasCustomPrompt="1"/>
          </p:nvPr>
        </p:nvSpPr>
        <p:spPr>
          <a:xfrm>
            <a:off x="1033184" y="2136567"/>
            <a:ext cx="941832" cy="1936750"/>
          </a:xfrm>
        </p:spPr>
        <p:txBody>
          <a:bodyPr>
            <a:noAutofit/>
          </a:bodyPr>
          <a:lstStyle>
            <a:lvl1pPr marL="0" indent="0">
              <a:buNone/>
              <a:defRPr sz="14000" b="1">
                <a:solidFill>
                  <a:schemeClr val="tx2"/>
                </a:solidFill>
                <a:latin typeface="+mj-lt"/>
              </a:defRPr>
            </a:lvl1pPr>
          </a:lstStyle>
          <a:p>
            <a:pPr lvl="0"/>
            <a:r>
              <a:rPr lang="en-US" dirty="0"/>
              <a:t>“</a:t>
            </a:r>
          </a:p>
        </p:txBody>
      </p:sp>
    </p:spTree>
    <p:extLst>
      <p:ext uri="{BB962C8B-B14F-4D97-AF65-F5344CB8AC3E}">
        <p14:creationId xmlns:p14="http://schemas.microsoft.com/office/powerpoint/2010/main" val="3178703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375868"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326173"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328309"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3828270"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763663" y="3926721"/>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765799" y="4286611"/>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280672"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216065"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218201"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8733074"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666331"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668467"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519687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68136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106424"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106424"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6" name="Picture Placeholder 17">
            <a:extLst>
              <a:ext uri="{FF2B5EF4-FFF2-40B4-BE49-F238E27FC236}">
                <a16:creationId xmlns:a16="http://schemas.microsoft.com/office/drawing/2014/main" id="{B23EF08B-7D0C-7D96-413D-71C22E3F74D0}"/>
              </a:ext>
            </a:extLst>
          </p:cNvPr>
          <p:cNvSpPr>
            <a:spLocks noGrp="1" noChangeAspect="1"/>
          </p:cNvSpPr>
          <p:nvPr>
            <p:ph type="pic" sz="quarter" idx="26"/>
          </p:nvPr>
        </p:nvSpPr>
        <p:spPr>
          <a:xfrm>
            <a:off x="168136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5" name="Text Placeholder 19">
            <a:extLst>
              <a:ext uri="{FF2B5EF4-FFF2-40B4-BE49-F238E27FC236}">
                <a16:creationId xmlns:a16="http://schemas.microsoft.com/office/drawing/2014/main" id="{A6866782-6675-4F37-E5D2-68CB0191C1A7}"/>
              </a:ext>
            </a:extLst>
          </p:cNvPr>
          <p:cNvSpPr>
            <a:spLocks noGrp="1"/>
          </p:cNvSpPr>
          <p:nvPr>
            <p:ph type="body" sz="quarter" idx="25"/>
          </p:nvPr>
        </p:nvSpPr>
        <p:spPr>
          <a:xfrm>
            <a:off x="1106424"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4" name="Text Placeholder 19">
            <a:extLst>
              <a:ext uri="{FF2B5EF4-FFF2-40B4-BE49-F238E27FC236}">
                <a16:creationId xmlns:a16="http://schemas.microsoft.com/office/drawing/2014/main" id="{9F53AB27-DDFA-AA5D-8253-546C9BBA9CE7}"/>
              </a:ext>
            </a:extLst>
          </p:cNvPr>
          <p:cNvSpPr>
            <a:spLocks noGrp="1"/>
          </p:cNvSpPr>
          <p:nvPr>
            <p:ph type="body" sz="quarter" idx="24"/>
          </p:nvPr>
        </p:nvSpPr>
        <p:spPr>
          <a:xfrm>
            <a:off x="1106424"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422675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639312"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639312"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6" name="Picture Placeholder 17">
            <a:extLst>
              <a:ext uri="{FF2B5EF4-FFF2-40B4-BE49-F238E27FC236}">
                <a16:creationId xmlns:a16="http://schemas.microsoft.com/office/drawing/2014/main" id="{DD9CE7E9-3BC2-0321-457B-61D363708B38}"/>
              </a:ext>
            </a:extLst>
          </p:cNvPr>
          <p:cNvSpPr>
            <a:spLocks noGrp="1" noChangeAspect="1"/>
          </p:cNvSpPr>
          <p:nvPr>
            <p:ph type="pic" sz="quarter" idx="29"/>
          </p:nvPr>
        </p:nvSpPr>
        <p:spPr>
          <a:xfrm>
            <a:off x="422675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3" name="Text Placeholder 19">
            <a:extLst>
              <a:ext uri="{FF2B5EF4-FFF2-40B4-BE49-F238E27FC236}">
                <a16:creationId xmlns:a16="http://schemas.microsoft.com/office/drawing/2014/main" id="{70DD1941-A469-A457-B987-E0E2C300A8AE}"/>
              </a:ext>
            </a:extLst>
          </p:cNvPr>
          <p:cNvSpPr>
            <a:spLocks noGrp="1"/>
          </p:cNvSpPr>
          <p:nvPr>
            <p:ph type="body" sz="quarter" idx="31"/>
          </p:nvPr>
        </p:nvSpPr>
        <p:spPr>
          <a:xfrm>
            <a:off x="3639312"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18" name="Text Placeholder 19">
            <a:extLst>
              <a:ext uri="{FF2B5EF4-FFF2-40B4-BE49-F238E27FC236}">
                <a16:creationId xmlns:a16="http://schemas.microsoft.com/office/drawing/2014/main" id="{D6B84B7D-A7EC-6FE1-9925-F78AF0DE230F}"/>
              </a:ext>
            </a:extLst>
          </p:cNvPr>
          <p:cNvSpPr>
            <a:spLocks noGrp="1"/>
          </p:cNvSpPr>
          <p:nvPr>
            <p:ph type="body" sz="quarter" idx="30"/>
          </p:nvPr>
        </p:nvSpPr>
        <p:spPr>
          <a:xfrm>
            <a:off x="3639312"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77214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172200"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172200"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4" name="Picture Placeholder 17">
            <a:extLst>
              <a:ext uri="{FF2B5EF4-FFF2-40B4-BE49-F238E27FC236}">
                <a16:creationId xmlns:a16="http://schemas.microsoft.com/office/drawing/2014/main" id="{AA1AC2FE-336D-4E7F-2C86-6A8C29BA8F90}"/>
              </a:ext>
            </a:extLst>
          </p:cNvPr>
          <p:cNvSpPr>
            <a:spLocks noGrp="1" noChangeAspect="1"/>
          </p:cNvSpPr>
          <p:nvPr>
            <p:ph type="pic" sz="quarter" idx="28"/>
          </p:nvPr>
        </p:nvSpPr>
        <p:spPr>
          <a:xfrm>
            <a:off x="677214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7" name="Text Placeholder 19">
            <a:extLst>
              <a:ext uri="{FF2B5EF4-FFF2-40B4-BE49-F238E27FC236}">
                <a16:creationId xmlns:a16="http://schemas.microsoft.com/office/drawing/2014/main" id="{FA370BF1-09EC-DBE1-5118-8A92A0F90BC4}"/>
              </a:ext>
            </a:extLst>
          </p:cNvPr>
          <p:cNvSpPr>
            <a:spLocks noGrp="1"/>
          </p:cNvSpPr>
          <p:nvPr>
            <p:ph type="body" sz="quarter" idx="33"/>
          </p:nvPr>
        </p:nvSpPr>
        <p:spPr>
          <a:xfrm>
            <a:off x="6172200"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5" name="Text Placeholder 19">
            <a:extLst>
              <a:ext uri="{FF2B5EF4-FFF2-40B4-BE49-F238E27FC236}">
                <a16:creationId xmlns:a16="http://schemas.microsoft.com/office/drawing/2014/main" id="{5089D72C-E865-F5D3-CB1E-050AEF684453}"/>
              </a:ext>
            </a:extLst>
          </p:cNvPr>
          <p:cNvSpPr>
            <a:spLocks noGrp="1"/>
          </p:cNvSpPr>
          <p:nvPr>
            <p:ph type="body" sz="quarter" idx="32"/>
          </p:nvPr>
        </p:nvSpPr>
        <p:spPr>
          <a:xfrm>
            <a:off x="6172200"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9317533"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705088"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705088"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7" name="Picture Placeholder 17">
            <a:extLst>
              <a:ext uri="{FF2B5EF4-FFF2-40B4-BE49-F238E27FC236}">
                <a16:creationId xmlns:a16="http://schemas.microsoft.com/office/drawing/2014/main" id="{4F7ECA98-24CD-8CC5-A3EC-BFF5E9B11748}"/>
              </a:ext>
            </a:extLst>
          </p:cNvPr>
          <p:cNvSpPr>
            <a:spLocks noGrp="1" noChangeAspect="1"/>
          </p:cNvSpPr>
          <p:nvPr>
            <p:ph type="pic" sz="quarter" idx="27"/>
          </p:nvPr>
        </p:nvSpPr>
        <p:spPr>
          <a:xfrm>
            <a:off x="9317533"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2" name="Text Placeholder 19">
            <a:extLst>
              <a:ext uri="{FF2B5EF4-FFF2-40B4-BE49-F238E27FC236}">
                <a16:creationId xmlns:a16="http://schemas.microsoft.com/office/drawing/2014/main" id="{46CBECF2-D93E-3DF9-064C-CB4A3262B691}"/>
              </a:ext>
            </a:extLst>
          </p:cNvPr>
          <p:cNvSpPr>
            <a:spLocks noGrp="1"/>
          </p:cNvSpPr>
          <p:nvPr>
            <p:ph type="body" sz="quarter" idx="35"/>
          </p:nvPr>
        </p:nvSpPr>
        <p:spPr>
          <a:xfrm>
            <a:off x="8705088"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1" name="Text Placeholder 19">
            <a:extLst>
              <a:ext uri="{FF2B5EF4-FFF2-40B4-BE49-F238E27FC236}">
                <a16:creationId xmlns:a16="http://schemas.microsoft.com/office/drawing/2014/main" id="{71E06E16-A083-B853-8155-7FF97AD1DE8F}"/>
              </a:ext>
            </a:extLst>
          </p:cNvPr>
          <p:cNvSpPr>
            <a:spLocks noGrp="1"/>
          </p:cNvSpPr>
          <p:nvPr>
            <p:ph type="body" sz="quarter" idx="34"/>
          </p:nvPr>
        </p:nvSpPr>
        <p:spPr>
          <a:xfrm>
            <a:off x="8705088"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62232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B05881-FB11-43E8-CCDD-8C12CDB4FE47}"/>
              </a:ext>
            </a:extLst>
          </p:cNvPr>
          <p:cNvSpPr/>
          <p:nvPr userDrawn="1"/>
        </p:nvSpPr>
        <p:spPr>
          <a:xfrm>
            <a:off x="838199" y="196052"/>
            <a:ext cx="10515601" cy="1686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picture containing fabric&#10;&#10;Description automatically generated">
            <a:extLst>
              <a:ext uri="{FF2B5EF4-FFF2-40B4-BE49-F238E27FC236}">
                <a16:creationId xmlns:a16="http://schemas.microsoft.com/office/drawing/2014/main" id="{A4941BBB-13FC-2ACE-1A50-C0F465531B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14950" y="-64113"/>
            <a:ext cx="1562100" cy="4394200"/>
          </a:xfrm>
          <a:prstGeom prst="rect">
            <a:avLst/>
          </a:prstGeom>
        </p:spPr>
      </p:pic>
      <p:sp>
        <p:nvSpPr>
          <p:cNvPr id="11" name="Rectangle 10">
            <a:extLst>
              <a:ext uri="{FF2B5EF4-FFF2-40B4-BE49-F238E27FC236}">
                <a16:creationId xmlns:a16="http://schemas.microsoft.com/office/drawing/2014/main" id="{D8BE9E36-E9D5-3FA6-EE22-A6E5CE13C462}"/>
              </a:ext>
            </a:extLst>
          </p:cNvPr>
          <p:cNvSpPr/>
          <p:nvPr userDrawn="1"/>
        </p:nvSpPr>
        <p:spPr>
          <a:xfrm>
            <a:off x="995423"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flower, plant&#10;&#10;Description automatically generated">
            <a:extLst>
              <a:ext uri="{FF2B5EF4-FFF2-40B4-BE49-F238E27FC236}">
                <a16:creationId xmlns:a16="http://schemas.microsoft.com/office/drawing/2014/main" id="{479E4054-0885-457B-35B3-A9B26ED936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4869421" y="459092"/>
            <a:ext cx="749300" cy="27559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484632"/>
            <a:ext cx="10515600" cy="1133856"/>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2990088"/>
            <a:ext cx="10515600" cy="347472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C6C79F3B-6B68-BA3C-6CBE-C26E339E450E}"/>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9D503431-982D-5D35-88BF-09474F76D65D}"/>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91044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68407D-A1C4-B842-0C34-B2DE8AD312D3}"/>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A1AE7FB-DFC0-DCDA-47AD-6ED81A6427FA}"/>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7A4DFCBA-879E-D6C9-9F81-B4F922542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2" name="Title 1">
            <a:extLst>
              <a:ext uri="{FF2B5EF4-FFF2-40B4-BE49-F238E27FC236}">
                <a16:creationId xmlns:a16="http://schemas.microsoft.com/office/drawing/2014/main" id="{B8562BF3-1BFC-6948-02E0-8A1C121C387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E158D7F8-0920-52BA-580D-07249122876C}"/>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E6611EB-89A4-4C55-4032-4D0C418398DB}"/>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Content Placeholder 11">
            <a:extLst>
              <a:ext uri="{FF2B5EF4-FFF2-40B4-BE49-F238E27FC236}">
                <a16:creationId xmlns:a16="http://schemas.microsoft.com/office/drawing/2014/main" id="{C6963F99-41C3-5ED4-AAD8-B904145CC7EA}"/>
              </a:ext>
            </a:extLst>
          </p:cNvPr>
          <p:cNvSpPr>
            <a:spLocks noGrp="1"/>
          </p:cNvSpPr>
          <p:nvPr>
            <p:ph sz="quarter" idx="12"/>
          </p:nvPr>
        </p:nvSpPr>
        <p:spPr>
          <a:xfrm>
            <a:off x="975360" y="2615184"/>
            <a:ext cx="10241280" cy="3319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034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F7EB7A-F5B6-E308-68EE-3065E2B039A6}"/>
              </a:ext>
            </a:extLst>
          </p:cNvPr>
          <p:cNvSpPr/>
          <p:nvPr userDrawn="1"/>
        </p:nvSpPr>
        <p:spPr>
          <a:xfrm>
            <a:off x="0" y="0"/>
            <a:ext cx="4873752"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 close-up of a tree&#10;&#10;Description automatically generated with medium confidence">
            <a:extLst>
              <a:ext uri="{FF2B5EF4-FFF2-40B4-BE49-F238E27FC236}">
                <a16:creationId xmlns:a16="http://schemas.microsoft.com/office/drawing/2014/main" id="{FED57607-56F6-9FD5-F0A8-DE0BCFE896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866459" flipH="1">
            <a:off x="2282032" y="1589693"/>
            <a:ext cx="970220" cy="22361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91072" y="978408"/>
            <a:ext cx="4974336"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29" name="Text Placeholder 2">
            <a:extLst>
              <a:ext uri="{FF2B5EF4-FFF2-40B4-BE49-F238E27FC236}">
                <a16:creationId xmlns:a16="http://schemas.microsoft.com/office/drawing/2014/main" id="{DEF26CDF-94D4-BA22-7D14-8D3289040C90}"/>
              </a:ext>
            </a:extLst>
          </p:cNvPr>
          <p:cNvSpPr>
            <a:spLocks noGrp="1"/>
          </p:cNvSpPr>
          <p:nvPr>
            <p:ph type="body" idx="1"/>
          </p:nvPr>
        </p:nvSpPr>
        <p:spPr>
          <a:xfrm>
            <a:off x="6291072" y="2322576"/>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0017BF0C-B2B7-932F-A9AE-5BFAE4AB5C4D}"/>
              </a:ext>
            </a:extLst>
          </p:cNvPr>
          <p:cNvSpPr>
            <a:spLocks noGrp="1"/>
          </p:cNvSpPr>
          <p:nvPr>
            <p:ph sz="half" idx="2"/>
          </p:nvPr>
        </p:nvSpPr>
        <p:spPr>
          <a:xfrm>
            <a:off x="6289612" y="2770632"/>
            <a:ext cx="5065776" cy="1554480"/>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DEAB8B47-DF86-7C9F-F027-2D4D22B2EA50}"/>
              </a:ext>
            </a:extLst>
          </p:cNvPr>
          <p:cNvSpPr>
            <a:spLocks noGrp="1"/>
          </p:cNvSpPr>
          <p:nvPr>
            <p:ph type="body" sz="quarter" idx="3"/>
          </p:nvPr>
        </p:nvSpPr>
        <p:spPr>
          <a:xfrm>
            <a:off x="6289612" y="4361688"/>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289612" y="4791456"/>
            <a:ext cx="5065776" cy="1408176"/>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8" name="Picture 37" descr="A group of flowers&#10;&#10;Description automatically generated with low confidence">
            <a:extLst>
              <a:ext uri="{FF2B5EF4-FFF2-40B4-BE49-F238E27FC236}">
                <a16:creationId xmlns:a16="http://schemas.microsoft.com/office/drawing/2014/main" id="{5B08C513-7071-2499-7E9D-CFD5A027C0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1019083" y="2260473"/>
            <a:ext cx="1245309" cy="2314810"/>
          </a:xfrm>
          <a:prstGeom prst="rect">
            <a:avLst/>
          </a:prstGeom>
        </p:spPr>
      </p:pic>
      <p:sp>
        <p:nvSpPr>
          <p:cNvPr id="34" name="Text Placeholder 33">
            <a:extLst>
              <a:ext uri="{FF2B5EF4-FFF2-40B4-BE49-F238E27FC236}">
                <a16:creationId xmlns:a16="http://schemas.microsoft.com/office/drawing/2014/main" id="{BD46E6E9-39FE-B605-0786-F7F7E656F9B0}"/>
              </a:ext>
            </a:extLst>
          </p:cNvPr>
          <p:cNvSpPr>
            <a:spLocks noGrp="1"/>
          </p:cNvSpPr>
          <p:nvPr>
            <p:ph type="body" sz="quarter" idx="13" hasCustomPrompt="1"/>
          </p:nvPr>
        </p:nvSpPr>
        <p:spPr>
          <a:xfrm>
            <a:off x="466344"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1_Comparison">
    <p:bg>
      <p:bgPr>
        <a:solidFill>
          <a:schemeClr val="tx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8546F5-5752-9595-980A-9978EC65B179}"/>
              </a:ext>
            </a:extLst>
          </p:cNvPr>
          <p:cNvSpPr/>
          <p:nvPr userDrawn="1"/>
        </p:nvSpPr>
        <p:spPr>
          <a:xfrm>
            <a:off x="491679" y="319214"/>
            <a:ext cx="11208641" cy="5857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88B1DFD-B7E9-D65B-0A47-8D442617B0D0}"/>
              </a:ext>
            </a:extLst>
          </p:cNvPr>
          <p:cNvCxnSpPr>
            <a:cxnSpLocks/>
          </p:cNvCxnSpPr>
          <p:nvPr userDrawn="1"/>
        </p:nvCxnSpPr>
        <p:spPr>
          <a:xfrm>
            <a:off x="837235" y="1767119"/>
            <a:ext cx="1051656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mollusk, insect&#10;&#10;Description automatically generated">
            <a:extLst>
              <a:ext uri="{FF2B5EF4-FFF2-40B4-BE49-F238E27FC236}">
                <a16:creationId xmlns:a16="http://schemas.microsoft.com/office/drawing/2014/main" id="{4190CCC3-E5E8-9E96-318B-F3F62E2328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5658" y="1631192"/>
            <a:ext cx="1207554" cy="354511"/>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124712"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124712" y="2629116"/>
            <a:ext cx="3200400" cy="3320861"/>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98848"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98848"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5" name="Text Placeholder 4">
            <a:extLst>
              <a:ext uri="{FF2B5EF4-FFF2-40B4-BE49-F238E27FC236}">
                <a16:creationId xmlns:a16="http://schemas.microsoft.com/office/drawing/2014/main" id="{F270D939-D128-D431-82CE-9C15D5A7AA9A}"/>
              </a:ext>
            </a:extLst>
          </p:cNvPr>
          <p:cNvSpPr>
            <a:spLocks noGrp="1"/>
          </p:cNvSpPr>
          <p:nvPr>
            <p:ph type="body" sz="quarter" idx="13"/>
          </p:nvPr>
        </p:nvSpPr>
        <p:spPr>
          <a:xfrm>
            <a:off x="7909560"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4AAE69C6-BB37-BC70-8424-BC928D19C91A}"/>
              </a:ext>
            </a:extLst>
          </p:cNvPr>
          <p:cNvSpPr>
            <a:spLocks noGrp="1"/>
          </p:cNvSpPr>
          <p:nvPr>
            <p:ph sz="quarter" idx="14"/>
          </p:nvPr>
        </p:nvSpPr>
        <p:spPr>
          <a:xfrm>
            <a:off x="7909560"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9908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 name="Picture 5" descr="A picture containing fabric&#10;&#10;Description automatically generated">
            <a:extLst>
              <a:ext uri="{FF2B5EF4-FFF2-40B4-BE49-F238E27FC236}">
                <a16:creationId xmlns:a16="http://schemas.microsoft.com/office/drawing/2014/main" id="{E0606CB6-3E28-F128-51B5-3786D74048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8" name="Rectangle 17">
            <a:extLst>
              <a:ext uri="{FF2B5EF4-FFF2-40B4-BE49-F238E27FC236}">
                <a16:creationId xmlns:a16="http://schemas.microsoft.com/office/drawing/2014/main" id="{E64BBC1B-7DD9-DA00-15CC-B446DA472005}"/>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lower, plant&#10;&#10;Description automatically generated">
            <a:extLst>
              <a:ext uri="{FF2B5EF4-FFF2-40B4-BE49-F238E27FC236}">
                <a16:creationId xmlns:a16="http://schemas.microsoft.com/office/drawing/2014/main" id="{C88A03B2-8C41-A023-CB90-5F79A1F01A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pic>
        <p:nvPicPr>
          <p:cNvPr id="10" name="Picture 9" descr="A close-up of a flower&#10;&#10;Description automatically generated with low confidence">
            <a:extLst>
              <a:ext uri="{FF2B5EF4-FFF2-40B4-BE49-F238E27FC236}">
                <a16:creationId xmlns:a16="http://schemas.microsoft.com/office/drawing/2014/main" id="{9EA6110C-517A-C447-DB03-9A264F112FB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19809" y="1695833"/>
            <a:ext cx="1155700" cy="4318000"/>
          </a:xfrm>
          <a:prstGeom prst="rect">
            <a:avLst/>
          </a:prstGeom>
        </p:spPr>
      </p:pic>
      <p:pic>
        <p:nvPicPr>
          <p:cNvPr id="12" name="Picture 11" descr="A close-up of a flower&#10;&#10;Description automatically generated with low confidence">
            <a:extLst>
              <a:ext uri="{FF2B5EF4-FFF2-40B4-BE49-F238E27FC236}">
                <a16:creationId xmlns:a16="http://schemas.microsoft.com/office/drawing/2014/main" id="{DC4249CD-2B45-A435-5B21-CFA7042138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66749" y="381916"/>
            <a:ext cx="1155700" cy="4318000"/>
          </a:xfrm>
          <a:prstGeom prst="rect">
            <a:avLst/>
          </a:prstGeom>
        </p:spPr>
      </p:pic>
      <p:sp>
        <p:nvSpPr>
          <p:cNvPr id="14" name="Rectangle 13">
            <a:extLst>
              <a:ext uri="{FF2B5EF4-FFF2-40B4-BE49-F238E27FC236}">
                <a16:creationId xmlns:a16="http://schemas.microsoft.com/office/drawing/2014/main" id="{7A7568A0-F819-551E-4780-20A651246990}"/>
              </a:ext>
            </a:extLst>
          </p:cNvPr>
          <p:cNvSpPr/>
          <p:nvPr userDrawn="1"/>
        </p:nvSpPr>
        <p:spPr>
          <a:xfrm>
            <a:off x="1024128" y="2162946"/>
            <a:ext cx="3794760" cy="25369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711D903-56F9-B09B-0443-A76786804823}"/>
              </a:ext>
            </a:extLst>
          </p:cNvPr>
          <p:cNvSpPr/>
          <p:nvPr userDrawn="1"/>
        </p:nvSpPr>
        <p:spPr>
          <a:xfrm>
            <a:off x="1131655" y="2264499"/>
            <a:ext cx="3585549" cy="2335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D91551-9B41-0ACF-0BE6-9D174E6957FD}"/>
              </a:ext>
            </a:extLst>
          </p:cNvPr>
          <p:cNvSpPr>
            <a:spLocks noGrp="1"/>
          </p:cNvSpPr>
          <p:nvPr>
            <p:ph type="title"/>
          </p:nvPr>
        </p:nvSpPr>
        <p:spPr>
          <a:xfrm>
            <a:off x="1472184" y="2889504"/>
            <a:ext cx="2852928" cy="1088136"/>
          </a:xfrm>
        </p:spPr>
        <p:txBody>
          <a:bodyPr/>
          <a:lstStyle>
            <a:lvl1pPr algn="ctr">
              <a:defRPr/>
            </a:lvl1pPr>
          </a:lstStyle>
          <a:p>
            <a:r>
              <a:rPr lang="en-US"/>
              <a:t>Click to edit Master title style</a:t>
            </a:r>
          </a:p>
        </p:txBody>
      </p:sp>
      <p:sp>
        <p:nvSpPr>
          <p:cNvPr id="19" name="Content Placeholder 2">
            <a:extLst>
              <a:ext uri="{FF2B5EF4-FFF2-40B4-BE49-F238E27FC236}">
                <a16:creationId xmlns:a16="http://schemas.microsoft.com/office/drawing/2014/main" id="{545D3FB1-678F-0A9A-CCB6-435CE57DA0F6}"/>
              </a:ext>
            </a:extLst>
          </p:cNvPr>
          <p:cNvSpPr>
            <a:spLocks noGrp="1"/>
          </p:cNvSpPr>
          <p:nvPr>
            <p:ph idx="1"/>
          </p:nvPr>
        </p:nvSpPr>
        <p:spPr>
          <a:xfrm>
            <a:off x="8211312" y="2011680"/>
            <a:ext cx="2999232" cy="2843784"/>
          </a:xfrm>
        </p:spPr>
        <p:txBody>
          <a:bodyPr anchor="ctr">
            <a:normAutofit/>
          </a:bodyPr>
          <a:lstStyle>
            <a:lvl1pPr marL="0" indent="0" algn="l">
              <a:lnSpc>
                <a:spcPct val="150000"/>
              </a:lnSpc>
              <a:buNone/>
              <a:defRPr sz="2400">
                <a:latin typeface="Gill Sans Nova Light" panose="020F0302020204030204" pitchFamily="34" charset="0"/>
                <a:cs typeface="Gill Sans Nova Light" panose="020F0302020204030204" pitchFamily="34" charset="0"/>
              </a:defRPr>
            </a:lvl1pPr>
            <a:lvl2pPr algn="l">
              <a:lnSpc>
                <a:spcPct val="150000"/>
              </a:lnSpc>
              <a:defRPr sz="20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82466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362110-9E75-C1E6-F3D3-769A27CB658B}"/>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0E61109-4A99-6337-9E7D-6AE0370E2A33}"/>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3B4663F-72DF-CD37-DE9D-C35DFB37E8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12" name="Title 1">
            <a:extLst>
              <a:ext uri="{FF2B5EF4-FFF2-40B4-BE49-F238E27FC236}">
                <a16:creationId xmlns:a16="http://schemas.microsoft.com/office/drawing/2014/main" id="{C48BE494-2D3C-A618-4422-6EA9496986D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119B248-9F11-0A11-E6AF-776D371E14A3}"/>
              </a:ext>
            </a:extLst>
          </p:cNvPr>
          <p:cNvSpPr>
            <a:spLocks noGrp="1"/>
          </p:cNvSpPr>
          <p:nvPr>
            <p:ph type="ftr" sz="quarter" idx="10"/>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85EFD48A-F270-E4EE-7C35-F4304F3DDF3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7DEB86-4C56-EB31-FEEE-EC8AA99FB456}"/>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3C19EDA-96E7-C255-DFF9-F36A187EBACD}"/>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picture containing mollusk, insect&#10;&#10;Description automatically generated">
            <a:extLst>
              <a:ext uri="{FF2B5EF4-FFF2-40B4-BE49-F238E27FC236}">
                <a16:creationId xmlns:a16="http://schemas.microsoft.com/office/drawing/2014/main" id="{FAD938FE-3B63-4832-B610-64346C069F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8" name="Title 1">
            <a:extLst>
              <a:ext uri="{FF2B5EF4-FFF2-40B4-BE49-F238E27FC236}">
                <a16:creationId xmlns:a16="http://schemas.microsoft.com/office/drawing/2014/main" id="{5B38128B-385C-B928-A4A8-BD98929D3DD4}"/>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2286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208008" y="6356350"/>
            <a:ext cx="274320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9" r:id="rId3"/>
    <p:sldLayoutId id="2147483651" r:id="rId4"/>
    <p:sldLayoutId id="2147483650" r:id="rId5"/>
    <p:sldLayoutId id="2147483663" r:id="rId6"/>
    <p:sldLayoutId id="2147483665" r:id="rId7"/>
    <p:sldLayoutId id="2147483660" r:id="rId8"/>
    <p:sldLayoutId id="2147483661" r:id="rId9"/>
    <p:sldLayoutId id="2147483662" r:id="rId10"/>
    <p:sldLayoutId id="2147483666" r:id="rId11"/>
    <p:sldLayoutId id="2147483653" r:id="rId12"/>
    <p:sldLayoutId id="2147483664" r:id="rId13"/>
    <p:sldLayoutId id="2147483667"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180B-35BA-C28E-820F-59C84FBDD99A}"/>
              </a:ext>
            </a:extLst>
          </p:cNvPr>
          <p:cNvSpPr>
            <a:spLocks noGrp="1"/>
          </p:cNvSpPr>
          <p:nvPr>
            <p:ph type="ctrTitle"/>
          </p:nvPr>
        </p:nvSpPr>
        <p:spPr/>
        <p:txBody>
          <a:bodyPr/>
          <a:lstStyle/>
          <a:p>
            <a:r>
              <a:rPr lang="en-US" dirty="0"/>
              <a:t>Emotional Intelligence</a:t>
            </a:r>
          </a:p>
        </p:txBody>
      </p:sp>
      <p:sp>
        <p:nvSpPr>
          <p:cNvPr id="3" name="Subtitle 2">
            <a:extLst>
              <a:ext uri="{FF2B5EF4-FFF2-40B4-BE49-F238E27FC236}">
                <a16:creationId xmlns:a16="http://schemas.microsoft.com/office/drawing/2014/main" id="{626260E8-21BF-1371-4767-5E86248A7A7B}"/>
              </a:ext>
            </a:extLst>
          </p:cNvPr>
          <p:cNvSpPr>
            <a:spLocks noGrp="1"/>
          </p:cNvSpPr>
          <p:nvPr>
            <p:ph type="subTitle" idx="1"/>
          </p:nvPr>
        </p:nvSpPr>
        <p:spPr/>
        <p:txBody>
          <a:bodyPr/>
          <a:lstStyle/>
          <a:p>
            <a:r>
              <a:rPr lang="en-US" dirty="0"/>
              <a:t>Martha Karunakar​</a:t>
            </a:r>
          </a:p>
        </p:txBody>
      </p:sp>
    </p:spTree>
    <p:extLst>
      <p:ext uri="{BB962C8B-B14F-4D97-AF65-F5344CB8AC3E}">
        <p14:creationId xmlns:p14="http://schemas.microsoft.com/office/powerpoint/2010/main" val="31771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EI?</a:t>
            </a:r>
            <a:endParaRPr lang="en-IN" dirty="0"/>
          </a:p>
        </p:txBody>
      </p:sp>
      <p:sp>
        <p:nvSpPr>
          <p:cNvPr id="3" name="Content Placeholder 2"/>
          <p:cNvSpPr>
            <a:spLocks noGrp="1"/>
          </p:cNvSpPr>
          <p:nvPr>
            <p:ph idx="1"/>
          </p:nvPr>
        </p:nvSpPr>
        <p:spPr/>
        <p:txBody>
          <a:bodyPr>
            <a:normAutofit/>
          </a:bodyPr>
          <a:lstStyle/>
          <a:p>
            <a:r>
              <a:rPr lang="en-IN" sz="3600" b="1">
                <a:solidFill>
                  <a:schemeClr val="tx1"/>
                </a:solidFill>
              </a:rPr>
              <a:t>Emotional Quotient/Intelligence </a:t>
            </a:r>
            <a:r>
              <a:rPr lang="en-IN" sz="3600" b="1" dirty="0">
                <a:solidFill>
                  <a:schemeClr val="tx1"/>
                </a:solidFill>
              </a:rPr>
              <a:t>(EQ or EI)</a:t>
            </a:r>
            <a:r>
              <a:rPr lang="en-IN" sz="3600" dirty="0">
                <a:solidFill>
                  <a:schemeClr val="tx1"/>
                </a:solidFill>
              </a:rPr>
              <a:t> is a term created by two researchers – Peter </a:t>
            </a:r>
            <a:r>
              <a:rPr lang="en-IN" sz="3600" dirty="0" err="1">
                <a:solidFill>
                  <a:schemeClr val="tx1"/>
                </a:solidFill>
              </a:rPr>
              <a:t>Salavoy</a:t>
            </a:r>
            <a:r>
              <a:rPr lang="en-IN" sz="3600" dirty="0">
                <a:solidFill>
                  <a:schemeClr val="tx1"/>
                </a:solidFill>
              </a:rPr>
              <a:t> and John Mayer – and popularized by Dan Goleman in his 1996 book of the same name.</a:t>
            </a:r>
          </a:p>
          <a:p>
            <a:endParaRPr lang="en-IN" sz="3600" dirty="0">
              <a:solidFill>
                <a:schemeClr val="tx1"/>
              </a:solidFill>
            </a:endParaRPr>
          </a:p>
          <a:p>
            <a:r>
              <a:rPr lang="en-IN" sz="3600" dirty="0">
                <a:solidFill>
                  <a:schemeClr val="tx1"/>
                </a:solidFill>
              </a:rPr>
              <a:t>EI is the capacity to be aware of, control, and express one's emotions, and to handle interpersonal relationships judiciously and empathetically.</a:t>
            </a:r>
          </a:p>
          <a:p>
            <a:endParaRPr lang="en-IN" dirty="0"/>
          </a:p>
        </p:txBody>
      </p:sp>
      <p:sp>
        <p:nvSpPr>
          <p:cNvPr id="4" name="Slide Number Placeholder 3">
            <a:extLst>
              <a:ext uri="{FF2B5EF4-FFF2-40B4-BE49-F238E27FC236}">
                <a16:creationId xmlns:a16="http://schemas.microsoft.com/office/drawing/2014/main" id="{F82AF03B-42A4-241A-6CC9-79D92A47F06E}"/>
              </a:ext>
            </a:extLst>
          </p:cNvPr>
          <p:cNvSpPr>
            <a:spLocks noGrp="1"/>
          </p:cNvSpPr>
          <p:nvPr>
            <p:ph type="sldNum" sz="quarter" idx="12"/>
          </p:nvPr>
        </p:nvSpPr>
        <p:spPr>
          <a:xfrm>
            <a:off x="10266060" y="5870575"/>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09442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817FF-FE86-BE33-4606-4702B46BDF2F}"/>
              </a:ext>
            </a:extLst>
          </p:cNvPr>
          <p:cNvSpPr>
            <a:spLocks noGrp="1"/>
          </p:cNvSpPr>
          <p:nvPr>
            <p:ph type="title"/>
          </p:nvPr>
        </p:nvSpPr>
        <p:spPr/>
        <p:txBody>
          <a:bodyPr/>
          <a:lstStyle/>
          <a:p>
            <a:r>
              <a:rPr lang="en-US" dirty="0">
                <a:cs typeface="Calibri Light"/>
              </a:rPr>
              <a:t>What is EI?</a:t>
            </a:r>
            <a:endParaRPr lang="en-US" dirty="0"/>
          </a:p>
        </p:txBody>
      </p:sp>
      <p:sp>
        <p:nvSpPr>
          <p:cNvPr id="3" name="Content Placeholder 2">
            <a:extLst>
              <a:ext uri="{FF2B5EF4-FFF2-40B4-BE49-F238E27FC236}">
                <a16:creationId xmlns:a16="http://schemas.microsoft.com/office/drawing/2014/main" id="{E27CB0D4-0A3C-EBBC-2CF8-25CA12F3A649}"/>
              </a:ext>
            </a:extLst>
          </p:cNvPr>
          <p:cNvSpPr>
            <a:spLocks noGrp="1"/>
          </p:cNvSpPr>
          <p:nvPr>
            <p:ph idx="1"/>
          </p:nvPr>
        </p:nvSpPr>
        <p:spPr/>
        <p:txBody>
          <a:bodyPr>
            <a:normAutofit/>
          </a:bodyPr>
          <a:lstStyle/>
          <a:p>
            <a:pPr>
              <a:buClr>
                <a:srgbClr val="FFFFFF"/>
              </a:buClr>
            </a:pPr>
            <a:r>
              <a:rPr lang="en-US" sz="3200" dirty="0">
                <a:solidFill>
                  <a:schemeClr val="tx1"/>
                </a:solidFill>
                <a:ea typeface="+mn-lt"/>
                <a:cs typeface="+mn-lt"/>
              </a:rPr>
              <a:t>EI is the ability to recognize your emotions, understand them, and see how they affect those around you</a:t>
            </a:r>
          </a:p>
          <a:p>
            <a:pPr>
              <a:buClr>
                <a:srgbClr val="FFFFFF"/>
              </a:buClr>
            </a:pPr>
            <a:r>
              <a:rPr lang="en-US" sz="3200" dirty="0">
                <a:solidFill>
                  <a:schemeClr val="tx1"/>
                </a:solidFill>
                <a:ea typeface="+mn-lt"/>
                <a:cs typeface="+mn-lt"/>
              </a:rPr>
              <a:t>It also means you understand other people’s emotions </a:t>
            </a:r>
          </a:p>
          <a:p>
            <a:pPr>
              <a:buClr>
                <a:srgbClr val="FFFFFF"/>
              </a:buClr>
            </a:pPr>
            <a:r>
              <a:rPr lang="en-US" sz="3200" dirty="0">
                <a:solidFill>
                  <a:schemeClr val="tx1"/>
                </a:solidFill>
                <a:ea typeface="+mn-lt"/>
                <a:cs typeface="+mn-lt"/>
              </a:rPr>
              <a:t>This allows you to manage your relationships better, and avoid potential conflicts</a:t>
            </a:r>
          </a:p>
          <a:p>
            <a:pPr>
              <a:buClr>
                <a:srgbClr val="FFFFFF"/>
              </a:buClr>
            </a:pPr>
            <a:r>
              <a:rPr lang="en-US" sz="3200" dirty="0">
                <a:solidFill>
                  <a:schemeClr val="tx1"/>
                </a:solidFill>
                <a:ea typeface="+mn-lt"/>
                <a:cs typeface="+mn-lt"/>
              </a:rPr>
              <a:t>It can impact communication, team work and over all job performance</a:t>
            </a:r>
            <a:endParaRPr lang="en-US" sz="3200" dirty="0">
              <a:solidFill>
                <a:schemeClr val="tx1"/>
              </a:solidFill>
              <a:cs typeface="Calibri"/>
            </a:endParaRPr>
          </a:p>
        </p:txBody>
      </p:sp>
      <p:sp>
        <p:nvSpPr>
          <p:cNvPr id="4" name="Slide Number Placeholder 3">
            <a:extLst>
              <a:ext uri="{FF2B5EF4-FFF2-40B4-BE49-F238E27FC236}">
                <a16:creationId xmlns:a16="http://schemas.microsoft.com/office/drawing/2014/main" id="{B1E8D03A-89ED-6EE2-33A1-075BAC1574B4}"/>
              </a:ext>
            </a:extLst>
          </p:cNvPr>
          <p:cNvSpPr>
            <a:spLocks noGrp="1"/>
          </p:cNvSpPr>
          <p:nvPr>
            <p:ph type="sldNum" sz="quarter" idx="12"/>
          </p:nvPr>
        </p:nvSpPr>
        <p:spPr>
          <a:xfrm>
            <a:off x="10266060" y="5870575"/>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835301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12C6-A8A9-1768-B718-045B307D0038}"/>
              </a:ext>
            </a:extLst>
          </p:cNvPr>
          <p:cNvSpPr>
            <a:spLocks noGrp="1"/>
          </p:cNvSpPr>
          <p:nvPr>
            <p:ph type="title"/>
          </p:nvPr>
        </p:nvSpPr>
        <p:spPr/>
        <p:txBody>
          <a:bodyPr/>
          <a:lstStyle/>
          <a:p>
            <a:r>
              <a:rPr lang="en-IN" dirty="0"/>
              <a:t>Types of Emotions</a:t>
            </a:r>
          </a:p>
        </p:txBody>
      </p:sp>
      <p:sp>
        <p:nvSpPr>
          <p:cNvPr id="3" name="Content Placeholder 2">
            <a:extLst>
              <a:ext uri="{FF2B5EF4-FFF2-40B4-BE49-F238E27FC236}">
                <a16:creationId xmlns:a16="http://schemas.microsoft.com/office/drawing/2014/main" id="{958D546B-5D7F-B968-3392-6D7F417B67BB}"/>
              </a:ext>
            </a:extLst>
          </p:cNvPr>
          <p:cNvSpPr>
            <a:spLocks noGrp="1"/>
          </p:cNvSpPr>
          <p:nvPr>
            <p:ph idx="1"/>
          </p:nvPr>
        </p:nvSpPr>
        <p:spPr/>
        <p:txBody>
          <a:bodyPr>
            <a:normAutofit lnSpcReduction="10000"/>
          </a:bodyPr>
          <a:lstStyle/>
          <a:p>
            <a:pPr algn="l">
              <a:buFont typeface="+mj-lt"/>
              <a:buAutoNum type="arabicPeriod"/>
            </a:pPr>
            <a:r>
              <a:rPr lang="en-US" b="1" i="0" dirty="0">
                <a:effectLst/>
                <a:latin typeface="Times New Roman" panose="02020603050405020304" pitchFamily="18" charset="0"/>
                <a:cs typeface="Times New Roman" panose="02020603050405020304" pitchFamily="18" charset="0"/>
              </a:rPr>
              <a:t>Basic emotions: </a:t>
            </a:r>
            <a:r>
              <a:rPr lang="en-US" b="0" i="0" dirty="0">
                <a:effectLst/>
                <a:latin typeface="Times New Roman" panose="02020603050405020304" pitchFamily="18" charset="0"/>
                <a:cs typeface="Times New Roman" panose="02020603050405020304" pitchFamily="18" charset="0"/>
              </a:rPr>
              <a:t>These are the most fundamental emotions and are believed to be universal across cultures. Examples include happiness, sadness, anger, fear, surprise, and disgust.</a:t>
            </a:r>
          </a:p>
          <a:p>
            <a:pPr algn="l">
              <a:buFont typeface="+mj-lt"/>
              <a:buAutoNum type="arabicPeriod"/>
            </a:pPr>
            <a:endParaRPr lang="en-US" b="0" i="0" dirty="0">
              <a:effectLst/>
              <a:latin typeface="Times New Roman" panose="02020603050405020304" pitchFamily="18" charset="0"/>
              <a:cs typeface="Times New Roman" panose="02020603050405020304" pitchFamily="18" charset="0"/>
            </a:endParaRPr>
          </a:p>
          <a:p>
            <a:pPr algn="l">
              <a:buFont typeface="+mj-lt"/>
              <a:buAutoNum type="arabicPeriod"/>
            </a:pPr>
            <a:r>
              <a:rPr lang="en-US" b="1" i="0" dirty="0">
                <a:effectLst/>
                <a:latin typeface="Times New Roman" panose="02020603050405020304" pitchFamily="18" charset="0"/>
                <a:cs typeface="Times New Roman" panose="02020603050405020304" pitchFamily="18" charset="0"/>
              </a:rPr>
              <a:t>Complex emotions: </a:t>
            </a:r>
            <a:r>
              <a:rPr lang="en-US" b="0" i="0" dirty="0">
                <a:effectLst/>
                <a:latin typeface="Times New Roman" panose="02020603050405020304" pitchFamily="18" charset="0"/>
                <a:cs typeface="Times New Roman" panose="02020603050405020304" pitchFamily="18" charset="0"/>
              </a:rPr>
              <a:t>These are emotions that are more nuanced and may involve a combination of basic emotions. Examples include jealousy, gratitude, love, and shame.</a:t>
            </a:r>
          </a:p>
          <a:p>
            <a:pPr algn="l">
              <a:buFont typeface="+mj-lt"/>
              <a:buAutoNum type="arabicPeriod"/>
            </a:pPr>
            <a:endParaRPr lang="en-US" b="0" i="0" dirty="0">
              <a:effectLst/>
              <a:latin typeface="Times New Roman" panose="02020603050405020304" pitchFamily="18" charset="0"/>
              <a:cs typeface="Times New Roman" panose="02020603050405020304" pitchFamily="18" charset="0"/>
            </a:endParaRPr>
          </a:p>
          <a:p>
            <a:pPr algn="l">
              <a:buFont typeface="+mj-lt"/>
              <a:buAutoNum type="arabicPeriod"/>
            </a:pPr>
            <a:r>
              <a:rPr lang="en-US" b="1" i="0" dirty="0">
                <a:effectLst/>
                <a:latin typeface="Times New Roman" panose="02020603050405020304" pitchFamily="18" charset="0"/>
                <a:cs typeface="Times New Roman" panose="02020603050405020304" pitchFamily="18" charset="0"/>
              </a:rPr>
              <a:t>Positive emotions: </a:t>
            </a:r>
            <a:r>
              <a:rPr lang="en-US" b="0" i="0" dirty="0">
                <a:effectLst/>
                <a:latin typeface="Times New Roman" panose="02020603050405020304" pitchFamily="18" charset="0"/>
                <a:cs typeface="Times New Roman" panose="02020603050405020304" pitchFamily="18" charset="0"/>
              </a:rPr>
              <a:t>These are emotions that are generally pleasant and desirable, such as happiness, joy, and contentment.</a:t>
            </a:r>
          </a:p>
          <a:p>
            <a:endParaRPr lang="en-IN" dirty="0"/>
          </a:p>
        </p:txBody>
      </p:sp>
      <p:sp>
        <p:nvSpPr>
          <p:cNvPr id="4" name="Slide Number Placeholder 3">
            <a:extLst>
              <a:ext uri="{FF2B5EF4-FFF2-40B4-BE49-F238E27FC236}">
                <a16:creationId xmlns:a16="http://schemas.microsoft.com/office/drawing/2014/main" id="{6041861C-7C52-A62F-2CA6-5A6872594521}"/>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4</a:t>
            </a:fld>
            <a:endParaRPr lang="en-US"/>
          </a:p>
        </p:txBody>
      </p:sp>
    </p:spTree>
    <p:extLst>
      <p:ext uri="{BB962C8B-B14F-4D97-AF65-F5344CB8AC3E}">
        <p14:creationId xmlns:p14="http://schemas.microsoft.com/office/powerpoint/2010/main" val="7603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56D89-553C-5945-2F06-DB0212774EF3}"/>
              </a:ext>
            </a:extLst>
          </p:cNvPr>
          <p:cNvSpPr>
            <a:spLocks noGrp="1"/>
          </p:cNvSpPr>
          <p:nvPr>
            <p:ph type="title"/>
          </p:nvPr>
        </p:nvSpPr>
        <p:spPr/>
        <p:txBody>
          <a:bodyPr/>
          <a:lstStyle/>
          <a:p>
            <a:r>
              <a:rPr lang="en-IN" dirty="0"/>
              <a:t>Types of Emotions</a:t>
            </a:r>
          </a:p>
        </p:txBody>
      </p:sp>
      <p:sp>
        <p:nvSpPr>
          <p:cNvPr id="3" name="Content Placeholder 2">
            <a:extLst>
              <a:ext uri="{FF2B5EF4-FFF2-40B4-BE49-F238E27FC236}">
                <a16:creationId xmlns:a16="http://schemas.microsoft.com/office/drawing/2014/main" id="{2287ADE7-7F64-EA89-61EB-FEEC34EA7FBF}"/>
              </a:ext>
            </a:extLst>
          </p:cNvPr>
          <p:cNvSpPr>
            <a:spLocks noGrp="1"/>
          </p:cNvSpPr>
          <p:nvPr>
            <p:ph idx="1"/>
          </p:nvPr>
        </p:nvSpPr>
        <p:spPr/>
        <p:txBody>
          <a:bodyPr>
            <a:normAutofit lnSpcReduction="10000"/>
          </a:bodyPr>
          <a:lstStyle/>
          <a:p>
            <a:pPr marL="0" indent="0" algn="l">
              <a:buNone/>
            </a:pPr>
            <a:r>
              <a:rPr lang="en-US" b="0" i="0" dirty="0">
                <a:effectLst/>
                <a:latin typeface="Times New Roman" panose="02020603050405020304" pitchFamily="18" charset="0"/>
                <a:cs typeface="Times New Roman" panose="02020603050405020304" pitchFamily="18" charset="0"/>
              </a:rPr>
              <a:t>3. </a:t>
            </a:r>
            <a:r>
              <a:rPr lang="en-US" b="1" i="0" dirty="0">
                <a:effectLst/>
                <a:latin typeface="Times New Roman" panose="02020603050405020304" pitchFamily="18" charset="0"/>
                <a:cs typeface="Times New Roman" panose="02020603050405020304" pitchFamily="18" charset="0"/>
              </a:rPr>
              <a:t>Negative emotions: </a:t>
            </a:r>
            <a:r>
              <a:rPr lang="en-US" b="0" i="0" dirty="0">
                <a:effectLst/>
                <a:latin typeface="Times New Roman" panose="02020603050405020304" pitchFamily="18" charset="0"/>
                <a:cs typeface="Times New Roman" panose="02020603050405020304" pitchFamily="18" charset="0"/>
              </a:rPr>
              <a:t>These are emotions that are generally unpleasant and undesirable, such as anger, sadness, and anxiety.</a:t>
            </a:r>
          </a:p>
          <a:p>
            <a:pPr marL="0" indent="0" algn="l">
              <a:buNone/>
            </a:pPr>
            <a:endParaRPr lang="en-US" b="0" i="0" dirty="0">
              <a:effectLst/>
              <a:latin typeface="Times New Roman" panose="02020603050405020304" pitchFamily="18" charset="0"/>
              <a:cs typeface="Times New Roman" panose="02020603050405020304" pitchFamily="18" charset="0"/>
            </a:endParaRPr>
          </a:p>
          <a:p>
            <a:pPr marL="0" indent="0" algn="l">
              <a:buNone/>
            </a:pPr>
            <a:r>
              <a:rPr lang="en-US" b="0" i="0" dirty="0">
                <a:effectLst/>
                <a:latin typeface="Times New Roman" panose="02020603050405020304" pitchFamily="18" charset="0"/>
                <a:cs typeface="Times New Roman" panose="02020603050405020304" pitchFamily="18" charset="0"/>
              </a:rPr>
              <a:t>4. </a:t>
            </a:r>
            <a:r>
              <a:rPr lang="en-US" b="1" i="0" dirty="0">
                <a:effectLst/>
                <a:latin typeface="Times New Roman" panose="02020603050405020304" pitchFamily="18" charset="0"/>
                <a:cs typeface="Times New Roman" panose="02020603050405020304" pitchFamily="18" charset="0"/>
              </a:rPr>
              <a:t>Social emotions: </a:t>
            </a:r>
            <a:r>
              <a:rPr lang="en-US" b="0" i="0" dirty="0">
                <a:effectLst/>
                <a:latin typeface="Times New Roman" panose="02020603050405020304" pitchFamily="18" charset="0"/>
                <a:cs typeface="Times New Roman" panose="02020603050405020304" pitchFamily="18" charset="0"/>
              </a:rPr>
              <a:t>These are emotions that are specifically related to social interactions and relationships. Examples include empathy, compassion, guilt, and shame.</a:t>
            </a:r>
          </a:p>
          <a:p>
            <a:pPr marL="0" indent="0" algn="l">
              <a:buNone/>
            </a:pPr>
            <a:endParaRPr lang="en-US" b="0" i="0" dirty="0">
              <a:effectLst/>
              <a:latin typeface="Times New Roman" panose="02020603050405020304" pitchFamily="18" charset="0"/>
              <a:cs typeface="Times New Roman" panose="02020603050405020304" pitchFamily="18" charset="0"/>
            </a:endParaRPr>
          </a:p>
          <a:p>
            <a:pPr marL="0" indent="0" algn="l">
              <a:buNone/>
            </a:pPr>
            <a:r>
              <a:rPr lang="en-US" b="0" i="0" dirty="0">
                <a:effectLst/>
                <a:latin typeface="Times New Roman" panose="02020603050405020304" pitchFamily="18" charset="0"/>
                <a:cs typeface="Times New Roman" panose="02020603050405020304" pitchFamily="18" charset="0"/>
              </a:rPr>
              <a:t>5. </a:t>
            </a:r>
            <a:r>
              <a:rPr lang="en-US" b="1" i="0" dirty="0">
                <a:effectLst/>
                <a:latin typeface="Times New Roman" panose="02020603050405020304" pitchFamily="18" charset="0"/>
                <a:cs typeface="Times New Roman" panose="02020603050405020304" pitchFamily="18" charset="0"/>
              </a:rPr>
              <a:t>Self-conscious emotions: </a:t>
            </a:r>
            <a:r>
              <a:rPr lang="en-US" b="0" i="0" dirty="0">
                <a:effectLst/>
                <a:latin typeface="Times New Roman" panose="02020603050405020304" pitchFamily="18" charset="0"/>
                <a:cs typeface="Times New Roman" panose="02020603050405020304" pitchFamily="18" charset="0"/>
              </a:rPr>
              <a:t>These are emotions that involve the evaluation of oneself in relation to social norms and standards, such as guilt, shame, and pride.</a:t>
            </a:r>
          </a:p>
          <a:p>
            <a:endParaRPr lang="en-IN" dirty="0"/>
          </a:p>
        </p:txBody>
      </p:sp>
      <p:sp>
        <p:nvSpPr>
          <p:cNvPr id="4" name="Slide Number Placeholder 3">
            <a:extLst>
              <a:ext uri="{FF2B5EF4-FFF2-40B4-BE49-F238E27FC236}">
                <a16:creationId xmlns:a16="http://schemas.microsoft.com/office/drawing/2014/main" id="{449457DF-101A-DC5A-BC69-922B4F098459}"/>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5</a:t>
            </a:fld>
            <a:endParaRPr lang="en-US"/>
          </a:p>
        </p:txBody>
      </p:sp>
    </p:spTree>
    <p:extLst>
      <p:ext uri="{BB962C8B-B14F-4D97-AF65-F5344CB8AC3E}">
        <p14:creationId xmlns:p14="http://schemas.microsoft.com/office/powerpoint/2010/main" val="347055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F407A-2D7A-8647-230F-ADCF2FBFF3E1}"/>
              </a:ext>
            </a:extLst>
          </p:cNvPr>
          <p:cNvSpPr>
            <a:spLocks noGrp="1"/>
          </p:cNvSpPr>
          <p:nvPr>
            <p:ph type="title"/>
          </p:nvPr>
        </p:nvSpPr>
        <p:spPr/>
        <p:txBody>
          <a:bodyPr/>
          <a:lstStyle/>
          <a:p>
            <a:r>
              <a:rPr lang="en-IN" dirty="0"/>
              <a:t>Types of Emotions</a:t>
            </a:r>
          </a:p>
        </p:txBody>
      </p:sp>
      <p:sp>
        <p:nvSpPr>
          <p:cNvPr id="3" name="Content Placeholder 2">
            <a:extLst>
              <a:ext uri="{FF2B5EF4-FFF2-40B4-BE49-F238E27FC236}">
                <a16:creationId xmlns:a16="http://schemas.microsoft.com/office/drawing/2014/main" id="{4599C412-02E3-AFDE-9A9B-8017CD6105EB}"/>
              </a:ext>
            </a:extLst>
          </p:cNvPr>
          <p:cNvSpPr>
            <a:spLocks noGrp="1"/>
          </p:cNvSpPr>
          <p:nvPr>
            <p:ph idx="1"/>
          </p:nvPr>
        </p:nvSpPr>
        <p:spPr/>
        <p:txBody>
          <a:bodyPr/>
          <a:lstStyle/>
          <a:p>
            <a:pPr marL="0" indent="0" algn="l">
              <a:buNone/>
            </a:pPr>
            <a:r>
              <a:rPr lang="en-US" b="0" i="0" dirty="0">
                <a:effectLst/>
                <a:latin typeface="Times New Roman" panose="02020603050405020304" pitchFamily="18" charset="0"/>
                <a:cs typeface="Times New Roman" panose="02020603050405020304" pitchFamily="18" charset="0"/>
              </a:rPr>
              <a:t>7. </a:t>
            </a:r>
            <a:r>
              <a:rPr lang="en-US" b="1" i="0" dirty="0">
                <a:effectLst/>
                <a:latin typeface="Times New Roman" panose="02020603050405020304" pitchFamily="18" charset="0"/>
                <a:cs typeface="Times New Roman" panose="02020603050405020304" pitchFamily="18" charset="0"/>
              </a:rPr>
              <a:t>Aesthetic emotions: </a:t>
            </a:r>
            <a:r>
              <a:rPr lang="en-US" b="0" i="0" dirty="0">
                <a:effectLst/>
                <a:latin typeface="Times New Roman" panose="02020603050405020304" pitchFamily="18" charset="0"/>
                <a:cs typeface="Times New Roman" panose="02020603050405020304" pitchFamily="18" charset="0"/>
              </a:rPr>
              <a:t>These are emotions that are related to the appreciation of beauty or art, such as awe, wonder, and admiration.</a:t>
            </a:r>
          </a:p>
          <a:p>
            <a:pPr marL="0" indent="0" algn="l">
              <a:buNone/>
            </a:pPr>
            <a:endParaRPr lang="en-US" b="0" i="0" dirty="0">
              <a:effectLst/>
              <a:latin typeface="Times New Roman" panose="02020603050405020304" pitchFamily="18" charset="0"/>
              <a:cs typeface="Times New Roman" panose="02020603050405020304" pitchFamily="18" charset="0"/>
            </a:endParaRPr>
          </a:p>
          <a:p>
            <a:pPr marL="0" indent="0" algn="l">
              <a:buNone/>
            </a:pPr>
            <a:r>
              <a:rPr lang="en-US" b="0" i="0" dirty="0">
                <a:effectLst/>
                <a:latin typeface="Times New Roman" panose="02020603050405020304" pitchFamily="18" charset="0"/>
                <a:cs typeface="Times New Roman" panose="02020603050405020304" pitchFamily="18" charset="0"/>
              </a:rPr>
              <a:t>8. </a:t>
            </a:r>
            <a:r>
              <a:rPr lang="en-US" b="1" i="0" dirty="0">
                <a:effectLst/>
                <a:latin typeface="Times New Roman" panose="02020603050405020304" pitchFamily="18" charset="0"/>
                <a:cs typeface="Times New Roman" panose="02020603050405020304" pitchFamily="18" charset="0"/>
              </a:rPr>
              <a:t>Physiological emotions: </a:t>
            </a:r>
            <a:r>
              <a:rPr lang="en-US" b="0" i="0" dirty="0">
                <a:effectLst/>
                <a:latin typeface="Times New Roman" panose="02020603050405020304" pitchFamily="18" charset="0"/>
                <a:cs typeface="Times New Roman" panose="02020603050405020304" pitchFamily="18" charset="0"/>
              </a:rPr>
              <a:t>These are emotions that are related to bodily sensations and physiological responses, such as hunger, thirst, and sexual arousal.</a:t>
            </a:r>
          </a:p>
          <a:p>
            <a:endParaRPr lang="en-IN" dirty="0"/>
          </a:p>
        </p:txBody>
      </p:sp>
      <p:sp>
        <p:nvSpPr>
          <p:cNvPr id="4" name="Slide Number Placeholder 3">
            <a:extLst>
              <a:ext uri="{FF2B5EF4-FFF2-40B4-BE49-F238E27FC236}">
                <a16:creationId xmlns:a16="http://schemas.microsoft.com/office/drawing/2014/main" id="{DEFE8E39-7807-48B2-8992-C5EB58B72A6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6</a:t>
            </a:fld>
            <a:endParaRPr lang="en-US"/>
          </a:p>
        </p:txBody>
      </p:sp>
    </p:spTree>
    <p:extLst>
      <p:ext uri="{BB962C8B-B14F-4D97-AF65-F5344CB8AC3E}">
        <p14:creationId xmlns:p14="http://schemas.microsoft.com/office/powerpoint/2010/main" val="4032968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EB94D-58CC-C4C8-D4BA-9BAAA9676914}"/>
              </a:ext>
            </a:extLst>
          </p:cNvPr>
          <p:cNvSpPr>
            <a:spLocks noGrp="1"/>
          </p:cNvSpPr>
          <p:nvPr>
            <p:ph type="title"/>
          </p:nvPr>
        </p:nvSpPr>
        <p:spPr/>
        <p:txBody>
          <a:bodyPr/>
          <a:lstStyle/>
          <a:p>
            <a:r>
              <a:rPr lang="en-IN" dirty="0"/>
              <a:t>Self Conscious Emotions</a:t>
            </a:r>
          </a:p>
        </p:txBody>
      </p:sp>
      <p:sp>
        <p:nvSpPr>
          <p:cNvPr id="3" name="Content Placeholder 2">
            <a:extLst>
              <a:ext uri="{FF2B5EF4-FFF2-40B4-BE49-F238E27FC236}">
                <a16:creationId xmlns:a16="http://schemas.microsoft.com/office/drawing/2014/main" id="{BDBC6B07-1AC9-1D8E-E6BC-96DA843AEA4D}"/>
              </a:ext>
            </a:extLst>
          </p:cNvPr>
          <p:cNvSpPr>
            <a:spLocks noGrp="1"/>
          </p:cNvSpPr>
          <p:nvPr>
            <p:ph idx="1"/>
          </p:nvPr>
        </p:nvSpPr>
        <p:spPr/>
        <p:txBody>
          <a:bodyPr/>
          <a:lstStyle/>
          <a:p>
            <a:pPr algn="l"/>
            <a:r>
              <a:rPr lang="en-US" b="0" i="0" dirty="0">
                <a:effectLst/>
                <a:latin typeface="Times New Roman" panose="02020603050405020304" pitchFamily="18" charset="0"/>
                <a:cs typeface="Times New Roman" panose="02020603050405020304" pitchFamily="18" charset="0"/>
              </a:rPr>
              <a:t>They are a specific type of emotion that involve the evaluation of oneself in relation to social norms and standards. </a:t>
            </a:r>
          </a:p>
          <a:p>
            <a:pPr algn="l"/>
            <a:r>
              <a:rPr lang="en-US" b="0" i="0" dirty="0">
                <a:effectLst/>
                <a:latin typeface="Times New Roman" panose="02020603050405020304" pitchFamily="18" charset="0"/>
                <a:cs typeface="Times New Roman" panose="02020603050405020304" pitchFamily="18" charset="0"/>
              </a:rPr>
              <a:t>These emotions are complex and typically involve a combination of cognitive and affective processes. </a:t>
            </a:r>
          </a:p>
          <a:p>
            <a:pPr algn="l"/>
            <a:r>
              <a:rPr lang="en-US" b="0" i="0" dirty="0">
                <a:effectLst/>
                <a:latin typeface="Times New Roman" panose="02020603050405020304" pitchFamily="18" charset="0"/>
                <a:cs typeface="Times New Roman" panose="02020603050405020304" pitchFamily="18" charset="0"/>
              </a:rPr>
              <a:t>Examples of self-conscious emotions include guilt, shame, embarrassment, pride, and envy.</a:t>
            </a:r>
          </a:p>
          <a:p>
            <a:pPr algn="l"/>
            <a:r>
              <a:rPr lang="en-US" b="1" i="0" dirty="0">
                <a:effectLst/>
                <a:latin typeface="Times New Roman" panose="02020603050405020304" pitchFamily="18" charset="0"/>
                <a:cs typeface="Times New Roman" panose="02020603050405020304" pitchFamily="18" charset="0"/>
              </a:rPr>
              <a:t>Guilt</a:t>
            </a:r>
            <a:r>
              <a:rPr lang="en-US" b="0" i="0" dirty="0">
                <a:effectLst/>
                <a:latin typeface="Times New Roman" panose="02020603050405020304" pitchFamily="18" charset="0"/>
                <a:cs typeface="Times New Roman" panose="02020603050405020304" pitchFamily="18" charset="0"/>
              </a:rPr>
              <a:t> is an emotion that arises when an individual feels responsible for a wrongdoing or mistake. This emotion often leads to a desire to make amends or correct the mistake.</a:t>
            </a:r>
          </a:p>
          <a:p>
            <a:endParaRPr lang="en-IN" dirty="0"/>
          </a:p>
        </p:txBody>
      </p:sp>
      <p:sp>
        <p:nvSpPr>
          <p:cNvPr id="4" name="Slide Number Placeholder 3">
            <a:extLst>
              <a:ext uri="{FF2B5EF4-FFF2-40B4-BE49-F238E27FC236}">
                <a16:creationId xmlns:a16="http://schemas.microsoft.com/office/drawing/2014/main" id="{6249A143-C132-3097-7340-24E977BA65AF}"/>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7</a:t>
            </a:fld>
            <a:endParaRPr lang="en-US"/>
          </a:p>
        </p:txBody>
      </p:sp>
    </p:spTree>
    <p:extLst>
      <p:ext uri="{BB962C8B-B14F-4D97-AF65-F5344CB8AC3E}">
        <p14:creationId xmlns:p14="http://schemas.microsoft.com/office/powerpoint/2010/main" val="3009167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E03BA-49C2-3829-9371-DD36FA25E3FF}"/>
              </a:ext>
            </a:extLst>
          </p:cNvPr>
          <p:cNvSpPr>
            <a:spLocks noGrp="1"/>
          </p:cNvSpPr>
          <p:nvPr>
            <p:ph type="title"/>
          </p:nvPr>
        </p:nvSpPr>
        <p:spPr/>
        <p:txBody>
          <a:bodyPr/>
          <a:lstStyle/>
          <a:p>
            <a:r>
              <a:rPr lang="en-IN" dirty="0"/>
              <a:t>Self Conscious Emotions</a:t>
            </a:r>
          </a:p>
        </p:txBody>
      </p:sp>
      <p:sp>
        <p:nvSpPr>
          <p:cNvPr id="3" name="Content Placeholder 2">
            <a:extLst>
              <a:ext uri="{FF2B5EF4-FFF2-40B4-BE49-F238E27FC236}">
                <a16:creationId xmlns:a16="http://schemas.microsoft.com/office/drawing/2014/main" id="{0E693CBE-5FA2-C928-CC98-84F074DF184C}"/>
              </a:ext>
            </a:extLst>
          </p:cNvPr>
          <p:cNvSpPr>
            <a:spLocks noGrp="1"/>
          </p:cNvSpPr>
          <p:nvPr>
            <p:ph idx="1"/>
          </p:nvPr>
        </p:nvSpPr>
        <p:spPr/>
        <p:txBody>
          <a:bodyPr>
            <a:normAutofit fontScale="85000" lnSpcReduction="10000"/>
          </a:bodyPr>
          <a:lstStyle/>
          <a:p>
            <a:pPr algn="l"/>
            <a:r>
              <a:rPr lang="en-US" b="1" i="0" dirty="0">
                <a:effectLst/>
                <a:latin typeface="Times New Roman" panose="02020603050405020304" pitchFamily="18" charset="0"/>
                <a:cs typeface="Times New Roman" panose="02020603050405020304" pitchFamily="18" charset="0"/>
              </a:rPr>
              <a:t>Shame</a:t>
            </a:r>
            <a:r>
              <a:rPr lang="en-US" b="0" i="0" dirty="0">
                <a:effectLst/>
                <a:latin typeface="Times New Roman" panose="02020603050405020304" pitchFamily="18" charset="0"/>
                <a:cs typeface="Times New Roman" panose="02020603050405020304" pitchFamily="18" charset="0"/>
              </a:rPr>
              <a:t> is an emotion that arises when an individual perceives that they have failed to meet a social norm or standard. This emotion can lead to feelings of worthlessness or a desire to hide or withdraw from others.</a:t>
            </a:r>
          </a:p>
          <a:p>
            <a:pPr algn="l"/>
            <a:r>
              <a:rPr lang="en-US" b="1" i="0" dirty="0">
                <a:effectLst/>
                <a:latin typeface="Times New Roman" panose="02020603050405020304" pitchFamily="18" charset="0"/>
                <a:cs typeface="Times New Roman" panose="02020603050405020304" pitchFamily="18" charset="0"/>
              </a:rPr>
              <a:t>Embarrassment</a:t>
            </a:r>
            <a:r>
              <a:rPr lang="en-US" b="0" i="0" dirty="0">
                <a:effectLst/>
                <a:latin typeface="Times New Roman" panose="02020603050405020304" pitchFamily="18" charset="0"/>
                <a:cs typeface="Times New Roman" panose="02020603050405020304" pitchFamily="18" charset="0"/>
              </a:rPr>
              <a:t> is an emotion that arises when an individual feels that they have violated a social norm or made a social faux pas. This emotion can lead to a desire to apologize or make amends, or to withdraw from social situations.</a:t>
            </a:r>
          </a:p>
          <a:p>
            <a:pPr algn="l"/>
            <a:r>
              <a:rPr lang="en-US" b="1" i="0" dirty="0">
                <a:effectLst/>
                <a:latin typeface="Times New Roman" panose="02020603050405020304" pitchFamily="18" charset="0"/>
                <a:cs typeface="Times New Roman" panose="02020603050405020304" pitchFamily="18" charset="0"/>
              </a:rPr>
              <a:t>Pride </a:t>
            </a:r>
            <a:r>
              <a:rPr lang="en-US" b="0" i="0" dirty="0">
                <a:effectLst/>
                <a:latin typeface="Times New Roman" panose="02020603050405020304" pitchFamily="18" charset="0"/>
                <a:cs typeface="Times New Roman" panose="02020603050405020304" pitchFamily="18" charset="0"/>
              </a:rPr>
              <a:t>is an emotion that arises when an individual perceives that they have met a social norm or standard, or achieved something that is valued by their social group. This emotion can lead to a sense of accomplishment and a desire to share one's success with others.</a:t>
            </a:r>
          </a:p>
          <a:p>
            <a:pPr algn="l"/>
            <a:r>
              <a:rPr lang="en-US" b="1" i="0" dirty="0">
                <a:effectLst/>
                <a:latin typeface="Times New Roman" panose="02020603050405020304" pitchFamily="18" charset="0"/>
                <a:cs typeface="Times New Roman" panose="02020603050405020304" pitchFamily="18" charset="0"/>
              </a:rPr>
              <a:t>Envy</a:t>
            </a:r>
            <a:r>
              <a:rPr lang="en-US" b="0" i="0" dirty="0">
                <a:effectLst/>
                <a:latin typeface="Times New Roman" panose="02020603050405020304" pitchFamily="18" charset="0"/>
                <a:cs typeface="Times New Roman" panose="02020603050405020304" pitchFamily="18" charset="0"/>
              </a:rPr>
              <a:t> is an emotion that arises when an individual perceives that others have something that they lack, and that this thing is important or desirable. This emotion can lead to feelings of resentment or a desire to obtain what others have.</a:t>
            </a:r>
          </a:p>
          <a:p>
            <a:endParaRPr lang="en-IN" dirty="0"/>
          </a:p>
        </p:txBody>
      </p:sp>
      <p:sp>
        <p:nvSpPr>
          <p:cNvPr id="4" name="Slide Number Placeholder 3">
            <a:extLst>
              <a:ext uri="{FF2B5EF4-FFF2-40B4-BE49-F238E27FC236}">
                <a16:creationId xmlns:a16="http://schemas.microsoft.com/office/drawing/2014/main" id="{137DC712-4EC3-42D0-7073-C0E79AC82654}"/>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8</a:t>
            </a:fld>
            <a:endParaRPr lang="en-US"/>
          </a:p>
        </p:txBody>
      </p:sp>
    </p:spTree>
    <p:extLst>
      <p:ext uri="{BB962C8B-B14F-4D97-AF65-F5344CB8AC3E}">
        <p14:creationId xmlns:p14="http://schemas.microsoft.com/office/powerpoint/2010/main" val="1398135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48C87-0A52-A1C4-8D19-7FB6386EE7AF}"/>
              </a:ext>
            </a:extLst>
          </p:cNvPr>
          <p:cNvSpPr>
            <a:spLocks noGrp="1"/>
          </p:cNvSpPr>
          <p:nvPr>
            <p:ph type="title"/>
          </p:nvPr>
        </p:nvSpPr>
        <p:spPr/>
        <p:txBody>
          <a:bodyPr/>
          <a:lstStyle/>
          <a:p>
            <a:r>
              <a:rPr lang="en-IN" dirty="0"/>
              <a:t>How can one detect emotions, feelings and behaviour?</a:t>
            </a:r>
          </a:p>
        </p:txBody>
      </p:sp>
      <p:sp>
        <p:nvSpPr>
          <p:cNvPr id="3" name="Content Placeholder 2">
            <a:extLst>
              <a:ext uri="{FF2B5EF4-FFF2-40B4-BE49-F238E27FC236}">
                <a16:creationId xmlns:a16="http://schemas.microsoft.com/office/drawing/2014/main" id="{D7B4B3C7-F126-F919-5249-27F4BBBD3603}"/>
              </a:ext>
            </a:extLst>
          </p:cNvPr>
          <p:cNvSpPr>
            <a:spLocks noGrp="1"/>
          </p:cNvSpPr>
          <p:nvPr>
            <p:ph idx="1"/>
          </p:nvPr>
        </p:nvSpPr>
        <p:spPr/>
        <p:txBody>
          <a:bodyPr>
            <a:normAutofit/>
          </a:bodyPr>
          <a:lstStyle/>
          <a:p>
            <a:pPr algn="l"/>
            <a:r>
              <a:rPr lang="en-US" b="0" i="0" dirty="0">
                <a:effectLst/>
                <a:latin typeface="Times New Roman" panose="02020603050405020304" pitchFamily="18" charset="0"/>
                <a:cs typeface="Times New Roman" panose="02020603050405020304" pitchFamily="18" charset="0"/>
              </a:rPr>
              <a:t>Detecting emotions, feelings, and behavior in others requires a combination of observation, interpretation, and empathy. </a:t>
            </a:r>
          </a:p>
          <a:p>
            <a:pPr algn="l">
              <a:buFont typeface="+mj-lt"/>
              <a:buAutoNum type="arabicPeriod"/>
            </a:pPr>
            <a:r>
              <a:rPr lang="en-US" b="1" i="0" dirty="0">
                <a:effectLst/>
                <a:latin typeface="Times New Roman" panose="02020603050405020304" pitchFamily="18" charset="0"/>
                <a:cs typeface="Times New Roman" panose="02020603050405020304" pitchFamily="18" charset="0"/>
              </a:rPr>
              <a:t>Observe body language: </a:t>
            </a:r>
            <a:r>
              <a:rPr lang="en-US" b="0" i="0" dirty="0">
                <a:effectLst/>
                <a:latin typeface="Times New Roman" panose="02020603050405020304" pitchFamily="18" charset="0"/>
                <a:cs typeface="Times New Roman" panose="02020603050405020304" pitchFamily="18" charset="0"/>
              </a:rPr>
              <a:t>Body language can provide important clues about how someone is feeling. Pay attention to things like facial expressions, posture, and gestures to get a sense of the person's emotional state.</a:t>
            </a:r>
          </a:p>
          <a:p>
            <a:pPr algn="l">
              <a:buFont typeface="+mj-lt"/>
              <a:buAutoNum type="arabicPeriod"/>
            </a:pPr>
            <a:r>
              <a:rPr lang="en-US" b="1" i="0" dirty="0">
                <a:effectLst/>
                <a:latin typeface="Times New Roman" panose="02020603050405020304" pitchFamily="18" charset="0"/>
                <a:cs typeface="Times New Roman" panose="02020603050405020304" pitchFamily="18" charset="0"/>
              </a:rPr>
              <a:t>Listen carefully: </a:t>
            </a:r>
            <a:r>
              <a:rPr lang="en-US" b="0" i="0" dirty="0">
                <a:effectLst/>
                <a:latin typeface="Times New Roman" panose="02020603050405020304" pitchFamily="18" charset="0"/>
                <a:cs typeface="Times New Roman" panose="02020603050405020304" pitchFamily="18" charset="0"/>
              </a:rPr>
              <a:t>People often express their emotions through the tone of their voice and the words they use. Pay attention to the person's tone, pitch, and speed of speech to get a sense of their emotional state.</a:t>
            </a:r>
          </a:p>
          <a:p>
            <a:endParaRPr lang="en-IN" dirty="0"/>
          </a:p>
        </p:txBody>
      </p:sp>
      <p:sp>
        <p:nvSpPr>
          <p:cNvPr id="4" name="Slide Number Placeholder 3">
            <a:extLst>
              <a:ext uri="{FF2B5EF4-FFF2-40B4-BE49-F238E27FC236}">
                <a16:creationId xmlns:a16="http://schemas.microsoft.com/office/drawing/2014/main" id="{0479CF94-39D7-C752-527C-9ED5FE69178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9</a:t>
            </a:fld>
            <a:endParaRPr lang="en-US"/>
          </a:p>
        </p:txBody>
      </p:sp>
    </p:spTree>
    <p:extLst>
      <p:ext uri="{BB962C8B-B14F-4D97-AF65-F5344CB8AC3E}">
        <p14:creationId xmlns:p14="http://schemas.microsoft.com/office/powerpoint/2010/main" val="37445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26368-2CBC-5210-D487-245F13625742}"/>
              </a:ext>
            </a:extLst>
          </p:cNvPr>
          <p:cNvSpPr>
            <a:spLocks noGrp="1"/>
          </p:cNvSpPr>
          <p:nvPr>
            <p:ph type="title"/>
          </p:nvPr>
        </p:nvSpPr>
        <p:spPr/>
        <p:txBody>
          <a:bodyPr/>
          <a:lstStyle/>
          <a:p>
            <a:r>
              <a:rPr lang="en-IN" dirty="0"/>
              <a:t>How can one detect emotions, feelings and behaviour?</a:t>
            </a:r>
          </a:p>
        </p:txBody>
      </p:sp>
      <p:sp>
        <p:nvSpPr>
          <p:cNvPr id="3" name="Content Placeholder 2">
            <a:extLst>
              <a:ext uri="{FF2B5EF4-FFF2-40B4-BE49-F238E27FC236}">
                <a16:creationId xmlns:a16="http://schemas.microsoft.com/office/drawing/2014/main" id="{C57AF787-8494-7809-CF44-3CF991573AE6}"/>
              </a:ext>
            </a:extLst>
          </p:cNvPr>
          <p:cNvSpPr>
            <a:spLocks noGrp="1"/>
          </p:cNvSpPr>
          <p:nvPr>
            <p:ph idx="1"/>
          </p:nvPr>
        </p:nvSpPr>
        <p:spPr/>
        <p:txBody>
          <a:bodyPr/>
          <a:lstStyle/>
          <a:p>
            <a:pPr marL="0" indent="0" algn="l">
              <a:buNone/>
            </a:pPr>
            <a:r>
              <a:rPr lang="en-US" b="1" i="0" dirty="0">
                <a:effectLst/>
                <a:latin typeface="Times New Roman" panose="02020603050405020304" pitchFamily="18" charset="0"/>
                <a:cs typeface="Times New Roman" panose="02020603050405020304" pitchFamily="18" charset="0"/>
              </a:rPr>
              <a:t>3. Ask questions: </a:t>
            </a:r>
            <a:r>
              <a:rPr lang="en-US" b="0" i="0" dirty="0">
                <a:effectLst/>
                <a:latin typeface="Times New Roman" panose="02020603050405020304" pitchFamily="18" charset="0"/>
                <a:cs typeface="Times New Roman" panose="02020603050405020304" pitchFamily="18" charset="0"/>
              </a:rPr>
              <a:t>Sometimes the best way to understand someone's emotions and feelings is to simply ask them. Ask open-ended questions that encourage the person to express themselves and share their thoughts and feelings.</a:t>
            </a:r>
          </a:p>
          <a:p>
            <a:pPr marL="0" indent="0" algn="l">
              <a:buNone/>
            </a:pPr>
            <a:endParaRPr lang="en-US" b="0" i="0" dirty="0">
              <a:effectLst/>
              <a:latin typeface="Times New Roman" panose="02020603050405020304" pitchFamily="18" charset="0"/>
              <a:cs typeface="Times New Roman" panose="02020603050405020304" pitchFamily="18" charset="0"/>
            </a:endParaRPr>
          </a:p>
          <a:p>
            <a:pPr marL="0" indent="0" algn="l">
              <a:buNone/>
            </a:pPr>
            <a:r>
              <a:rPr lang="en-US" b="1" i="0" dirty="0">
                <a:effectLst/>
                <a:latin typeface="Times New Roman" panose="02020603050405020304" pitchFamily="18" charset="0"/>
                <a:cs typeface="Times New Roman" panose="02020603050405020304" pitchFamily="18" charset="0"/>
              </a:rPr>
              <a:t>4. Be empathetic: </a:t>
            </a:r>
            <a:r>
              <a:rPr lang="en-US" b="0" i="0" dirty="0">
                <a:effectLst/>
                <a:latin typeface="Times New Roman" panose="02020603050405020304" pitchFamily="18" charset="0"/>
                <a:cs typeface="Times New Roman" panose="02020603050405020304" pitchFamily="18" charset="0"/>
              </a:rPr>
              <a:t>Empathy is the ability to understand and share someone else's feelings. Put yourself in the other person's shoes and try to imagine how they might be feeling in a particular situation.</a:t>
            </a:r>
          </a:p>
          <a:p>
            <a:endParaRPr lang="en-IN" dirty="0"/>
          </a:p>
        </p:txBody>
      </p:sp>
      <p:sp>
        <p:nvSpPr>
          <p:cNvPr id="4" name="Slide Number Placeholder 3">
            <a:extLst>
              <a:ext uri="{FF2B5EF4-FFF2-40B4-BE49-F238E27FC236}">
                <a16:creationId xmlns:a16="http://schemas.microsoft.com/office/drawing/2014/main" id="{91769D5C-4B4F-614B-0B95-06AAC578E5DB}"/>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10</a:t>
            </a:fld>
            <a:endParaRPr lang="en-US"/>
          </a:p>
        </p:txBody>
      </p:sp>
    </p:spTree>
    <p:extLst>
      <p:ext uri="{BB962C8B-B14F-4D97-AF65-F5344CB8AC3E}">
        <p14:creationId xmlns:p14="http://schemas.microsoft.com/office/powerpoint/2010/main" val="81450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A2104-A6A9-CDB6-C8C1-3F1D38164A75}"/>
              </a:ext>
            </a:extLst>
          </p:cNvPr>
          <p:cNvSpPr>
            <a:spLocks noGrp="1"/>
          </p:cNvSpPr>
          <p:nvPr>
            <p:ph type="title"/>
          </p:nvPr>
        </p:nvSpPr>
        <p:spPr/>
        <p:txBody>
          <a:bodyPr/>
          <a:lstStyle/>
          <a:p>
            <a:r>
              <a:rPr lang="en-IN" dirty="0"/>
              <a:t>How can one detect emotions, feelings and behaviour?</a:t>
            </a:r>
          </a:p>
        </p:txBody>
      </p:sp>
      <p:sp>
        <p:nvSpPr>
          <p:cNvPr id="3" name="Content Placeholder 2">
            <a:extLst>
              <a:ext uri="{FF2B5EF4-FFF2-40B4-BE49-F238E27FC236}">
                <a16:creationId xmlns:a16="http://schemas.microsoft.com/office/drawing/2014/main" id="{E25878F1-0C64-C8A3-65D4-15CE6BEC31BD}"/>
              </a:ext>
            </a:extLst>
          </p:cNvPr>
          <p:cNvSpPr>
            <a:spLocks noGrp="1"/>
          </p:cNvSpPr>
          <p:nvPr>
            <p:ph idx="1"/>
          </p:nvPr>
        </p:nvSpPr>
        <p:spPr/>
        <p:txBody>
          <a:bodyPr>
            <a:normAutofit lnSpcReduction="10000"/>
          </a:bodyPr>
          <a:lstStyle/>
          <a:p>
            <a:pPr marL="0" indent="0" algn="l">
              <a:buNone/>
            </a:pPr>
            <a:r>
              <a:rPr lang="en-US" b="1" i="0" dirty="0">
                <a:effectLst/>
                <a:latin typeface="Times New Roman" panose="02020603050405020304" pitchFamily="18" charset="0"/>
                <a:cs typeface="Times New Roman" panose="02020603050405020304" pitchFamily="18" charset="0"/>
              </a:rPr>
              <a:t>5. Consider the context: </a:t>
            </a:r>
            <a:r>
              <a:rPr lang="en-US" b="0" i="0" dirty="0">
                <a:effectLst/>
                <a:latin typeface="Times New Roman" panose="02020603050405020304" pitchFamily="18" charset="0"/>
                <a:cs typeface="Times New Roman" panose="02020603050405020304" pitchFamily="18" charset="0"/>
              </a:rPr>
              <a:t>The context of a situation can provide important clues about how someone is feeling or why they might be behaving in a certain way. Consider the social and environmental factors that might be influencing the person's emotional state or behavior.</a:t>
            </a:r>
          </a:p>
          <a:p>
            <a:pPr marL="0" indent="0" algn="l">
              <a:buNone/>
            </a:pPr>
            <a:r>
              <a:rPr lang="en-US" b="1" i="0" dirty="0">
                <a:effectLst/>
                <a:latin typeface="Times New Roman" panose="02020603050405020304" pitchFamily="18" charset="0"/>
                <a:cs typeface="Times New Roman" panose="02020603050405020304" pitchFamily="18" charset="0"/>
              </a:rPr>
              <a:t>6. Be mindful of your own biases: </a:t>
            </a:r>
            <a:r>
              <a:rPr lang="en-US" b="0" i="0" dirty="0">
                <a:effectLst/>
                <a:latin typeface="Times New Roman" panose="02020603050405020304" pitchFamily="18" charset="0"/>
                <a:cs typeface="Times New Roman" panose="02020603050405020304" pitchFamily="18" charset="0"/>
              </a:rPr>
              <a:t>Our own biases and assumptions can influence how we interpret someone else's emotions and behavior. Try to be aware of your own biases and approach the situation with an open mind.</a:t>
            </a:r>
          </a:p>
          <a:p>
            <a:pPr algn="l"/>
            <a:r>
              <a:rPr lang="en-US" b="0" i="0" dirty="0">
                <a:effectLst/>
                <a:latin typeface="Times New Roman" panose="02020603050405020304" pitchFamily="18" charset="0"/>
                <a:cs typeface="Times New Roman" panose="02020603050405020304" pitchFamily="18" charset="0"/>
              </a:rPr>
              <a:t>By combining these strategies and being mindful of the complexities of emotions, feelings, and behavior, you can become more adept at detecting and interpreting the emotional states of others.</a:t>
            </a:r>
          </a:p>
          <a:p>
            <a:endParaRPr lang="en-IN" dirty="0"/>
          </a:p>
        </p:txBody>
      </p:sp>
      <p:sp>
        <p:nvSpPr>
          <p:cNvPr id="4" name="Slide Number Placeholder 3">
            <a:extLst>
              <a:ext uri="{FF2B5EF4-FFF2-40B4-BE49-F238E27FC236}">
                <a16:creationId xmlns:a16="http://schemas.microsoft.com/office/drawing/2014/main" id="{B11A5FEA-AAF5-08FA-6C9D-26890E3D8856}"/>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11</a:t>
            </a:fld>
            <a:endParaRPr lang="en-US"/>
          </a:p>
        </p:txBody>
      </p:sp>
    </p:spTree>
    <p:extLst>
      <p:ext uri="{BB962C8B-B14F-4D97-AF65-F5344CB8AC3E}">
        <p14:creationId xmlns:p14="http://schemas.microsoft.com/office/powerpoint/2010/main" val="1436287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808C8-F720-F052-D975-5A8CC18EE96E}"/>
              </a:ext>
            </a:extLst>
          </p:cNvPr>
          <p:cNvSpPr>
            <a:spLocks noGrp="1"/>
          </p:cNvSpPr>
          <p:nvPr>
            <p:ph type="title"/>
          </p:nvPr>
        </p:nvSpPr>
        <p:spPr/>
        <p:txBody>
          <a:bodyPr>
            <a:normAutofit fontScale="90000"/>
          </a:bodyPr>
          <a:lstStyle/>
          <a:p>
            <a:r>
              <a:rPr lang="en-US" b="1" dirty="0">
                <a:solidFill>
                  <a:schemeClr val="tx1"/>
                </a:solidFill>
                <a:cs typeface="Calibri"/>
              </a:rPr>
              <a:t>Characteristics of people with high degree of EI :</a:t>
            </a:r>
            <a:br>
              <a:rPr lang="en-US" b="1" dirty="0">
                <a:solidFill>
                  <a:schemeClr val="accent6">
                    <a:lumMod val="60000"/>
                    <a:lumOff val="40000"/>
                  </a:schemeClr>
                </a:solidFill>
                <a:ea typeface="+mn-lt"/>
                <a:cs typeface="+mn-lt"/>
              </a:rPr>
            </a:br>
            <a:endParaRPr lang="en-US" dirty="0"/>
          </a:p>
        </p:txBody>
      </p:sp>
      <p:sp>
        <p:nvSpPr>
          <p:cNvPr id="3" name="Content Placeholder 2">
            <a:extLst>
              <a:ext uri="{FF2B5EF4-FFF2-40B4-BE49-F238E27FC236}">
                <a16:creationId xmlns:a16="http://schemas.microsoft.com/office/drawing/2014/main" id="{ADF2730A-143B-35F0-9F7C-FC3548550D5C}"/>
              </a:ext>
            </a:extLst>
          </p:cNvPr>
          <p:cNvSpPr>
            <a:spLocks noGrp="1"/>
          </p:cNvSpPr>
          <p:nvPr>
            <p:ph idx="1"/>
          </p:nvPr>
        </p:nvSpPr>
        <p:spPr/>
        <p:txBody>
          <a:bodyPr/>
          <a:lstStyle/>
          <a:p>
            <a:pPr>
              <a:buClr>
                <a:srgbClr val="FFFFFF"/>
              </a:buClr>
            </a:pPr>
            <a:r>
              <a:rPr lang="en-US" sz="2400" dirty="0">
                <a:latin typeface="Calisto MT" pitchFamily="18" charset="0"/>
                <a:cs typeface="Calibri"/>
              </a:rPr>
              <a:t>LISTEN to others and their team and communicate well </a:t>
            </a:r>
            <a:endParaRPr lang="en-US" sz="2400" dirty="0">
              <a:latin typeface="Calisto MT" pitchFamily="18" charset="0"/>
              <a:ea typeface="+mn-lt"/>
              <a:cs typeface="+mn-lt"/>
            </a:endParaRPr>
          </a:p>
          <a:p>
            <a:pPr>
              <a:buClr>
                <a:srgbClr val="FFFFFF"/>
              </a:buClr>
            </a:pPr>
            <a:r>
              <a:rPr lang="en-US" sz="2400" dirty="0">
                <a:latin typeface="Calisto MT" pitchFamily="18" charset="0"/>
                <a:cs typeface="Calibri"/>
              </a:rPr>
              <a:t>Stay cool under pressure</a:t>
            </a:r>
            <a:endParaRPr lang="en-US" sz="2400" dirty="0">
              <a:latin typeface="Calisto MT" pitchFamily="18" charset="0"/>
              <a:ea typeface="+mn-lt"/>
              <a:cs typeface="+mn-lt"/>
            </a:endParaRPr>
          </a:p>
          <a:p>
            <a:pPr>
              <a:buClr>
                <a:srgbClr val="FFFFFF"/>
              </a:buClr>
            </a:pPr>
            <a:r>
              <a:rPr lang="en-US" sz="2400" dirty="0">
                <a:latin typeface="Calisto MT" pitchFamily="18" charset="0"/>
                <a:cs typeface="Calibri"/>
              </a:rPr>
              <a:t>Know when to trust their intuition</a:t>
            </a:r>
            <a:endParaRPr lang="en-US" sz="2400" dirty="0">
              <a:latin typeface="Calisto MT" pitchFamily="18" charset="0"/>
              <a:ea typeface="+mn-lt"/>
              <a:cs typeface="+mn-lt"/>
            </a:endParaRPr>
          </a:p>
          <a:p>
            <a:pPr>
              <a:buClr>
                <a:srgbClr val="FFFFFF"/>
              </a:buClr>
            </a:pPr>
            <a:r>
              <a:rPr lang="en-US" sz="2400" dirty="0">
                <a:latin typeface="Calisto MT" pitchFamily="18" charset="0"/>
                <a:cs typeface="Calibri"/>
              </a:rPr>
              <a:t>Never let their emotions get the best of them</a:t>
            </a:r>
          </a:p>
          <a:p>
            <a:pPr>
              <a:buClr>
                <a:srgbClr val="FFFFFF"/>
              </a:buClr>
            </a:pPr>
            <a:r>
              <a:rPr lang="en-US" sz="2400" dirty="0">
                <a:latin typeface="Calisto MT" pitchFamily="18" charset="0"/>
                <a:ea typeface="+mn-lt"/>
                <a:cs typeface="+mn-lt"/>
              </a:rPr>
              <a:t>Adapt to rapidly changing work environments, </a:t>
            </a:r>
          </a:p>
          <a:p>
            <a:pPr>
              <a:buClr>
                <a:srgbClr val="FFFFFF"/>
              </a:buClr>
            </a:pPr>
            <a:r>
              <a:rPr lang="en-US" sz="2400" dirty="0">
                <a:latin typeface="Calisto MT" pitchFamily="18" charset="0"/>
                <a:ea typeface="+mn-lt"/>
                <a:cs typeface="+mn-lt"/>
              </a:rPr>
              <a:t>Work well in teams and self-manage</a:t>
            </a:r>
          </a:p>
          <a:p>
            <a:pPr>
              <a:buClr>
                <a:srgbClr val="FFFFFF"/>
              </a:buClr>
            </a:pPr>
            <a:endParaRPr lang="en-US" dirty="0">
              <a:cs typeface="Calibri"/>
            </a:endParaRPr>
          </a:p>
        </p:txBody>
      </p:sp>
      <p:sp>
        <p:nvSpPr>
          <p:cNvPr id="4" name="Slide Number Placeholder 3">
            <a:extLst>
              <a:ext uri="{FF2B5EF4-FFF2-40B4-BE49-F238E27FC236}">
                <a16:creationId xmlns:a16="http://schemas.microsoft.com/office/drawing/2014/main" id="{A6850025-3E46-A853-4CAB-95B5DDAB6B5E}"/>
              </a:ext>
            </a:extLst>
          </p:cNvPr>
          <p:cNvSpPr>
            <a:spLocks noGrp="1"/>
          </p:cNvSpPr>
          <p:nvPr>
            <p:ph type="sldNum" sz="quarter" idx="12"/>
          </p:nvPr>
        </p:nvSpPr>
        <p:spPr>
          <a:xfrm>
            <a:off x="10266060" y="5870575"/>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2626036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99351-9633-A04D-5CEE-908131720EBE}"/>
              </a:ext>
            </a:extLst>
          </p:cNvPr>
          <p:cNvSpPr>
            <a:spLocks noGrp="1"/>
          </p:cNvSpPr>
          <p:nvPr>
            <p:ph type="title"/>
          </p:nvPr>
        </p:nvSpPr>
        <p:spPr/>
        <p:txBody>
          <a:bodyPr/>
          <a:lstStyle/>
          <a:p>
            <a:r>
              <a:rPr lang="en-US" dirty="0">
                <a:latin typeface="Calibri"/>
                <a:cs typeface="Calibri"/>
              </a:rPr>
              <a:t>Five measures/elements/components </a:t>
            </a:r>
            <a:r>
              <a:rPr lang="en-US">
                <a:latin typeface="Calibri"/>
                <a:cs typeface="Calibri"/>
              </a:rPr>
              <a:t>of EI</a:t>
            </a:r>
            <a:endParaRPr lang="en-US" dirty="0">
              <a:ea typeface="+mj-lt"/>
              <a:cs typeface="+mj-lt"/>
            </a:endParaRPr>
          </a:p>
          <a:p>
            <a:endParaRPr lang="en-US" dirty="0">
              <a:cs typeface="Calibri Light"/>
            </a:endParaRPr>
          </a:p>
        </p:txBody>
      </p:sp>
      <p:sp>
        <p:nvSpPr>
          <p:cNvPr id="3" name="Content Placeholder 2">
            <a:extLst>
              <a:ext uri="{FF2B5EF4-FFF2-40B4-BE49-F238E27FC236}">
                <a16:creationId xmlns:a16="http://schemas.microsoft.com/office/drawing/2014/main" id="{1F6042A4-F171-4AC2-8BCB-B622F4343ABB}"/>
              </a:ext>
            </a:extLst>
          </p:cNvPr>
          <p:cNvSpPr>
            <a:spLocks noGrp="1"/>
          </p:cNvSpPr>
          <p:nvPr>
            <p:ph idx="1"/>
          </p:nvPr>
        </p:nvSpPr>
        <p:spPr/>
        <p:txBody>
          <a:bodyPr/>
          <a:lstStyle/>
          <a:p>
            <a:r>
              <a:rPr lang="en-IN" b="1" dirty="0"/>
              <a:t>According to Daniel </a:t>
            </a:r>
            <a:r>
              <a:rPr lang="en-IN" b="1" dirty="0" err="1"/>
              <a:t>Goleman</a:t>
            </a:r>
            <a:r>
              <a:rPr lang="en-IN" b="1" dirty="0"/>
              <a:t> , an American psychologist who helped to popularize emotional intelligence, there are five key elements to it:</a:t>
            </a:r>
            <a:endParaRPr lang="en-IN" dirty="0"/>
          </a:p>
          <a:p>
            <a:r>
              <a:rPr lang="en-IN" sz="2800" dirty="0"/>
              <a:t>1. Self-awareness</a:t>
            </a:r>
          </a:p>
          <a:p>
            <a:r>
              <a:rPr lang="en-IN" sz="2800" dirty="0"/>
              <a:t>2. Self-regulation</a:t>
            </a:r>
          </a:p>
          <a:p>
            <a:r>
              <a:rPr lang="en-IN" sz="2800" dirty="0"/>
              <a:t>3. Intrinsic Motivation</a:t>
            </a:r>
          </a:p>
          <a:p>
            <a:r>
              <a:rPr lang="en-IN" sz="2800" dirty="0"/>
              <a:t>4. Empathy</a:t>
            </a:r>
          </a:p>
          <a:p>
            <a:r>
              <a:rPr lang="en-IN" sz="2800" dirty="0"/>
              <a:t>5. Social skills</a:t>
            </a:r>
          </a:p>
          <a:p>
            <a:endParaRPr lang="en-IN" sz="2800" dirty="0"/>
          </a:p>
          <a:p>
            <a:endParaRPr lang="en-US" dirty="0"/>
          </a:p>
        </p:txBody>
      </p:sp>
      <p:sp>
        <p:nvSpPr>
          <p:cNvPr id="4" name="Slide Number Placeholder 3">
            <a:extLst>
              <a:ext uri="{FF2B5EF4-FFF2-40B4-BE49-F238E27FC236}">
                <a16:creationId xmlns:a16="http://schemas.microsoft.com/office/drawing/2014/main" id="{17F35AF6-4F57-5F6B-7A5E-E8C88AF181B5}"/>
              </a:ext>
            </a:extLst>
          </p:cNvPr>
          <p:cNvSpPr>
            <a:spLocks noGrp="1"/>
          </p:cNvSpPr>
          <p:nvPr>
            <p:ph type="sldNum" sz="quarter" idx="12"/>
          </p:nvPr>
        </p:nvSpPr>
        <p:spPr>
          <a:xfrm>
            <a:off x="10266060" y="5870575"/>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1525490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45DE4C36-9B54-042A-00DF-CA3216399F57}"/>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14</a:t>
            </a:fld>
            <a:endParaRPr lang="en-US"/>
          </a:p>
        </p:txBody>
      </p:sp>
    </p:spTree>
    <p:extLst>
      <p:ext uri="{BB962C8B-B14F-4D97-AF65-F5344CB8AC3E}">
        <p14:creationId xmlns:p14="http://schemas.microsoft.com/office/powerpoint/2010/main" val="2389603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FA1EB12F-D099-5308-19FE-2129199FFA77}"/>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15</a:t>
            </a:fld>
            <a:endParaRPr lang="en-US"/>
          </a:p>
        </p:txBody>
      </p:sp>
    </p:spTree>
    <p:extLst>
      <p:ext uri="{BB962C8B-B14F-4D97-AF65-F5344CB8AC3E}">
        <p14:creationId xmlns:p14="http://schemas.microsoft.com/office/powerpoint/2010/main" val="697849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SELF-AWARENESS</a:t>
            </a:r>
            <a:endParaRPr lang="en-IN" dirty="0"/>
          </a:p>
        </p:txBody>
      </p:sp>
      <p:sp>
        <p:nvSpPr>
          <p:cNvPr id="3" name="Content Placeholder 2"/>
          <p:cNvSpPr>
            <a:spLocks noGrp="1"/>
          </p:cNvSpPr>
          <p:nvPr>
            <p:ph idx="1"/>
          </p:nvPr>
        </p:nvSpPr>
        <p:spPr/>
        <p:txBody>
          <a:bodyPr/>
          <a:lstStyle/>
          <a:p>
            <a:r>
              <a:rPr lang="en-IN" sz="2000" dirty="0"/>
              <a:t>Being self-aware when you're in a leadership position also means having a clear picture of your strengths and weaknesses, and it means behaving with humility</a:t>
            </a:r>
          </a:p>
          <a:p>
            <a:r>
              <a:rPr lang="en-IN" sz="2000" dirty="0"/>
              <a:t>So, what can you do to improve your self-awareness?</a:t>
            </a:r>
          </a:p>
          <a:p>
            <a:r>
              <a:rPr lang="en-IN" sz="2000" b="1" dirty="0"/>
              <a:t>Keep a journal</a:t>
            </a:r>
            <a:r>
              <a:rPr lang="en-IN" sz="2000" dirty="0"/>
              <a:t> – Journals help you improve your self-awareness. If you spend just a few minutes each day writing down your thoughts, this can move you to a higher degree of self-awareness.</a:t>
            </a:r>
          </a:p>
          <a:p>
            <a:r>
              <a:rPr lang="en-IN" sz="2000" b="1" dirty="0"/>
              <a:t>Slow down</a:t>
            </a:r>
            <a:r>
              <a:rPr lang="en-IN" sz="2000" dirty="0"/>
              <a:t> – When you experience anger or other strong emotions, slow down to examine why. Remember, no matter what the situation, you can always choose how you react to it</a:t>
            </a:r>
          </a:p>
          <a:p>
            <a:endParaRPr lang="en-IN" dirty="0"/>
          </a:p>
        </p:txBody>
      </p:sp>
      <p:sp>
        <p:nvSpPr>
          <p:cNvPr id="4" name="Slide Number Placeholder 3">
            <a:extLst>
              <a:ext uri="{FF2B5EF4-FFF2-40B4-BE49-F238E27FC236}">
                <a16:creationId xmlns:a16="http://schemas.microsoft.com/office/drawing/2014/main" id="{54780B94-436D-E9C8-BDD0-951791EBC066}"/>
              </a:ext>
            </a:extLst>
          </p:cNvPr>
          <p:cNvSpPr>
            <a:spLocks noGrp="1"/>
          </p:cNvSpPr>
          <p:nvPr>
            <p:ph type="sldNum" sz="quarter" idx="12"/>
          </p:nvPr>
        </p:nvSpPr>
        <p:spPr>
          <a:xfrm>
            <a:off x="10266060" y="5870575"/>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382E7F2C-FBE6-FE5A-1B5B-A6E4B8534F3F}"/>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17</a:t>
            </a:fld>
            <a:endParaRPr lang="en-US"/>
          </a:p>
        </p:txBody>
      </p:sp>
    </p:spTree>
    <p:extLst>
      <p:ext uri="{BB962C8B-B14F-4D97-AF65-F5344CB8AC3E}">
        <p14:creationId xmlns:p14="http://schemas.microsoft.com/office/powerpoint/2010/main" val="113547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REGULATION/Emotion Regulation</a:t>
            </a:r>
            <a:endParaRPr lang="en-IN" dirty="0"/>
          </a:p>
        </p:txBody>
      </p:sp>
      <p:sp>
        <p:nvSpPr>
          <p:cNvPr id="3" name="Content Placeholder 2"/>
          <p:cNvSpPr>
            <a:spLocks noGrp="1"/>
          </p:cNvSpPr>
          <p:nvPr>
            <p:ph idx="1"/>
          </p:nvPr>
        </p:nvSpPr>
        <p:spPr/>
        <p:txBody>
          <a:bodyPr>
            <a:normAutofit/>
          </a:bodyPr>
          <a:lstStyle/>
          <a:p>
            <a:pPr>
              <a:lnSpc>
                <a:spcPct val="110000"/>
              </a:lnSpc>
            </a:pPr>
            <a:r>
              <a:rPr lang="en-IN" sz="2000" dirty="0">
                <a:latin typeface="Calisto MT" pitchFamily="18" charset="0"/>
              </a:rPr>
              <a:t>Self or Emotion regulation, also known as self management is learned in childhood, as the ability to reason develops and as children begin to realise that emotions can be controlled.</a:t>
            </a:r>
          </a:p>
          <a:p>
            <a:pPr>
              <a:lnSpc>
                <a:spcPct val="110000"/>
              </a:lnSpc>
            </a:pPr>
            <a:r>
              <a:rPr lang="en-US" sz="2000" b="0" i="0" dirty="0">
                <a:effectLst/>
                <a:latin typeface="Times New Roman" panose="02020603050405020304" pitchFamily="18" charset="0"/>
                <a:cs typeface="Times New Roman" panose="02020603050405020304" pitchFamily="18" charset="0"/>
              </a:rPr>
              <a:t>Self-regulation is the ability to control one's behavior, emotions, and thoughts in the pursuit of long-term goals. </a:t>
            </a:r>
            <a:r>
              <a:rPr lang="en-US" sz="2000" dirty="0">
                <a:latin typeface="Times New Roman" panose="02020603050405020304" pitchFamily="18" charset="0"/>
                <a:cs typeface="Times New Roman" panose="02020603050405020304" pitchFamily="18" charset="0"/>
              </a:rPr>
              <a:t>E</a:t>
            </a:r>
            <a:r>
              <a:rPr lang="en-US" sz="2000" b="0" i="0" dirty="0">
                <a:effectLst/>
                <a:latin typeface="Times New Roman" panose="02020603050405020304" pitchFamily="18" charset="0"/>
                <a:cs typeface="Times New Roman" panose="02020603050405020304" pitchFamily="18" charset="0"/>
              </a:rPr>
              <a:t>motional self-regulation refers to the ability to manage disruptive emotions and impulses—in other words, to think before acting</a:t>
            </a:r>
            <a:r>
              <a:rPr lang="en-US" sz="2000" dirty="0">
                <a:latin typeface="Times New Roman" panose="02020603050405020304" pitchFamily="18" charset="0"/>
                <a:cs typeface="Times New Roman" panose="02020603050405020304" pitchFamily="18" charset="0"/>
              </a:rPr>
              <a:t>.</a:t>
            </a:r>
            <a:endParaRPr lang="en-US" sz="2000" b="0" i="0" dirty="0">
              <a:effectLst/>
              <a:latin typeface="Times New Roman" panose="02020603050405020304" pitchFamily="18" charset="0"/>
              <a:cs typeface="Times New Roman" panose="02020603050405020304" pitchFamily="18" charset="0"/>
            </a:endParaRPr>
          </a:p>
          <a:p>
            <a:pPr>
              <a:lnSpc>
                <a:spcPct val="110000"/>
              </a:lnSpc>
            </a:pPr>
            <a:r>
              <a:rPr lang="en-IN" sz="2000" dirty="0">
                <a:latin typeface="Calisto MT" pitchFamily="18" charset="0"/>
              </a:rPr>
              <a:t>If emotion regulation is low, then the child (and later the adult) is likely to be uncontrolled, unconstructive (socially), aggressive and susceptible to circumstances such as social rejection. </a:t>
            </a:r>
          </a:p>
          <a:p>
            <a:pPr>
              <a:lnSpc>
                <a:spcPct val="110000"/>
              </a:lnSpc>
            </a:pPr>
            <a:r>
              <a:rPr lang="en-IN" sz="2000" dirty="0">
                <a:latin typeface="Calisto MT" pitchFamily="18" charset="0"/>
              </a:rPr>
              <a:t>If the level of emotion regulation is high, then general socio-emotional competence is increased. </a:t>
            </a:r>
          </a:p>
        </p:txBody>
      </p:sp>
      <p:sp>
        <p:nvSpPr>
          <p:cNvPr id="4" name="Slide Number Placeholder 3">
            <a:extLst>
              <a:ext uri="{FF2B5EF4-FFF2-40B4-BE49-F238E27FC236}">
                <a16:creationId xmlns:a16="http://schemas.microsoft.com/office/drawing/2014/main" id="{B8437A60-0A4F-72DC-99B5-6F58D2079694}"/>
              </a:ext>
            </a:extLst>
          </p:cNvPr>
          <p:cNvSpPr>
            <a:spLocks noGrp="1"/>
          </p:cNvSpPr>
          <p:nvPr>
            <p:ph type="sldNum" sz="quarter" idx="12"/>
          </p:nvPr>
        </p:nvSpPr>
        <p:spPr>
          <a:xfrm>
            <a:off x="10266060" y="5870575"/>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7F1E4F-1CFF-5643-939E-217C01CDF565}"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565F0E80-D2A2-D814-5C3A-E9149D89A62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19</a:t>
            </a:fld>
            <a:endParaRPr lang="en-US"/>
          </a:p>
        </p:txBody>
      </p:sp>
    </p:spTree>
    <p:extLst>
      <p:ext uri="{BB962C8B-B14F-4D97-AF65-F5344CB8AC3E}">
        <p14:creationId xmlns:p14="http://schemas.microsoft.com/office/powerpoint/2010/main" val="1441867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6567DD5E-15F9-FB5D-E257-A648E7D9B6A2}"/>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20</a:t>
            </a:fld>
            <a:endParaRPr lang="en-US"/>
          </a:p>
        </p:txBody>
      </p:sp>
    </p:spTree>
    <p:extLst>
      <p:ext uri="{BB962C8B-B14F-4D97-AF65-F5344CB8AC3E}">
        <p14:creationId xmlns:p14="http://schemas.microsoft.com/office/powerpoint/2010/main" val="1655404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3682E-C036-2B41-72DA-2412DAEA583F}"/>
              </a:ext>
            </a:extLst>
          </p:cNvPr>
          <p:cNvSpPr>
            <a:spLocks noGrp="1"/>
          </p:cNvSpPr>
          <p:nvPr>
            <p:ph type="title"/>
          </p:nvPr>
        </p:nvSpPr>
        <p:spPr/>
        <p:txBody>
          <a:bodyPr/>
          <a:lstStyle/>
          <a:p>
            <a:r>
              <a:rPr lang="en-US" dirty="0"/>
              <a:t>Real-life examples</a:t>
            </a:r>
            <a:endParaRPr lang="en-IN" dirty="0"/>
          </a:p>
        </p:txBody>
      </p:sp>
      <p:sp>
        <p:nvSpPr>
          <p:cNvPr id="3" name="Content Placeholder 2">
            <a:extLst>
              <a:ext uri="{FF2B5EF4-FFF2-40B4-BE49-F238E27FC236}">
                <a16:creationId xmlns:a16="http://schemas.microsoft.com/office/drawing/2014/main" id="{07995860-6A2B-F59E-7CB7-E38F6B082884}"/>
              </a:ext>
            </a:extLst>
          </p:cNvPr>
          <p:cNvSpPr>
            <a:spLocks noGrp="1"/>
          </p:cNvSpPr>
          <p:nvPr>
            <p:ph idx="1"/>
          </p:nvPr>
        </p:nvSpPr>
        <p:spPr/>
        <p:txBody>
          <a:bodyPr>
            <a:normAutofit fontScale="62500" lnSpcReduction="20000"/>
          </a:bodyPr>
          <a:lstStyle/>
          <a:p>
            <a:endParaRPr lang="en-US" dirty="0"/>
          </a:p>
          <a:p>
            <a:r>
              <a:rPr lang="en-US" b="1" dirty="0"/>
              <a:t>1. Jacinda Ardern (New Zealand) – Responding to the Christchurch Mosque Attacks (2019)</a:t>
            </a:r>
          </a:p>
          <a:p>
            <a:r>
              <a:rPr lang="en-US" b="1" dirty="0"/>
              <a:t>Situation: </a:t>
            </a:r>
            <a:r>
              <a:rPr lang="en-US" dirty="0"/>
              <a:t>The country was grieving and fearful. There was immense political and media pressure. </a:t>
            </a:r>
          </a:p>
          <a:p>
            <a:r>
              <a:rPr lang="en-US" b="1" dirty="0"/>
              <a:t>How she regulated her emotions: </a:t>
            </a:r>
            <a:r>
              <a:rPr lang="en-US" dirty="0"/>
              <a:t>Acknowledged her own sadness without allowing anger to dictate her actions. </a:t>
            </a:r>
          </a:p>
          <a:p>
            <a:r>
              <a:rPr lang="en-US" dirty="0"/>
              <a:t>Comforted victims' families instead of blaming communities. Introduced gun law reforms calmly and quickly.</a:t>
            </a:r>
          </a:p>
          <a:p>
            <a:endParaRPr lang="en-US" dirty="0"/>
          </a:p>
          <a:p>
            <a:r>
              <a:rPr lang="en-US" b="1" dirty="0"/>
              <a:t>2. Captain Chesley "Sully" Sullenberger (USA) </a:t>
            </a:r>
            <a:r>
              <a:rPr lang="en-US" dirty="0"/>
              <a:t>– Emergency Landing on the Hudson River (2009)</a:t>
            </a:r>
          </a:p>
          <a:p>
            <a:r>
              <a:rPr lang="en-US" b="1" dirty="0"/>
              <a:t>Situation: </a:t>
            </a:r>
            <a:r>
              <a:rPr lang="en-US" dirty="0"/>
              <a:t>155 lives were in danger.  Only minutes remained before impact. </a:t>
            </a:r>
          </a:p>
          <a:p>
            <a:r>
              <a:rPr lang="en-US" b="1" dirty="0"/>
              <a:t>Self-regulation: </a:t>
            </a:r>
            <a:r>
              <a:rPr lang="en-US" dirty="0"/>
              <a:t>Controlled panic. Spoke calmly to air traffic control. Focused on the next decision instead of the fear.</a:t>
            </a:r>
          </a:p>
          <a:p>
            <a:pPr marL="0" indent="0">
              <a:buNone/>
            </a:pPr>
            <a:endParaRPr lang="en-US" dirty="0"/>
          </a:p>
          <a:p>
            <a:r>
              <a:rPr lang="en-US" dirty="0"/>
              <a:t>Self-regulation is </a:t>
            </a:r>
            <a:r>
              <a:rPr lang="en-US" b="1" dirty="0"/>
              <a:t>not about eliminating emotions</a:t>
            </a:r>
            <a:r>
              <a:rPr lang="en-US" dirty="0"/>
              <a:t> such as anger, fear, or sadness. It is about </a:t>
            </a:r>
            <a:r>
              <a:rPr lang="en-US" b="1" dirty="0"/>
              <a:t>recognizing those emotions, pausing before reacting, and choosing a response that aligns with one's values and long-term goals</a:t>
            </a:r>
            <a:r>
              <a:rPr lang="en-US" dirty="0"/>
              <a:t>.</a:t>
            </a:r>
            <a:endParaRPr lang="en-IN" dirty="0"/>
          </a:p>
        </p:txBody>
      </p:sp>
      <p:sp>
        <p:nvSpPr>
          <p:cNvPr id="4" name="Footer Placeholder 3">
            <a:extLst>
              <a:ext uri="{FF2B5EF4-FFF2-40B4-BE49-F238E27FC236}">
                <a16:creationId xmlns:a16="http://schemas.microsoft.com/office/drawing/2014/main" id="{37152AC5-AA9C-5981-7AFD-7B6D1458B7D1}"/>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44E131F-18D8-EA7A-7D25-6333697D3156}"/>
              </a:ext>
            </a:extLst>
          </p:cNvPr>
          <p:cNvSpPr>
            <a:spLocks noGrp="1"/>
          </p:cNvSpPr>
          <p:nvPr>
            <p:ph type="sldNum" sz="quarter" idx="11"/>
          </p:nvPr>
        </p:nvSpPr>
        <p:spPr/>
        <p:txBody>
          <a:bodyPr/>
          <a:lstStyle/>
          <a:p>
            <a:fld id="{294A09A9-5501-47C1-A89A-A340965A2BE2}" type="slidenum">
              <a:rPr lang="en-US" smtClean="0"/>
              <a:pPr/>
              <a:t>21</a:t>
            </a:fld>
            <a:endParaRPr lang="en-US" dirty="0"/>
          </a:p>
        </p:txBody>
      </p:sp>
    </p:spTree>
    <p:extLst>
      <p:ext uri="{BB962C8B-B14F-4D97-AF65-F5344CB8AC3E}">
        <p14:creationId xmlns:p14="http://schemas.microsoft.com/office/powerpoint/2010/main" val="2028199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9085471E-314C-A0DC-038B-922B270760A4}"/>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22</a:t>
            </a:fld>
            <a:endParaRPr lang="en-US"/>
          </a:p>
        </p:txBody>
      </p:sp>
    </p:spTree>
    <p:extLst>
      <p:ext uri="{BB962C8B-B14F-4D97-AF65-F5344CB8AC3E}">
        <p14:creationId xmlns:p14="http://schemas.microsoft.com/office/powerpoint/2010/main" val="1189946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6AC547FB-13F0-0F53-6922-20A6AB432B02}"/>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23</a:t>
            </a:fld>
            <a:endParaRPr lang="en-US"/>
          </a:p>
        </p:txBody>
      </p:sp>
    </p:spTree>
    <p:extLst>
      <p:ext uri="{BB962C8B-B14F-4D97-AF65-F5344CB8AC3E}">
        <p14:creationId xmlns:p14="http://schemas.microsoft.com/office/powerpoint/2010/main" val="2369414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8281884E-730F-B5E5-F5EC-35BDC8C50AA6}"/>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24</a:t>
            </a:fld>
            <a:endParaRPr lang="en-US"/>
          </a:p>
        </p:txBody>
      </p:sp>
    </p:spTree>
    <p:extLst>
      <p:ext uri="{BB962C8B-B14F-4D97-AF65-F5344CB8AC3E}">
        <p14:creationId xmlns:p14="http://schemas.microsoft.com/office/powerpoint/2010/main" val="2086557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9B552985-A721-C7CA-B3AF-0C24A5247E1A}"/>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25</a:t>
            </a:fld>
            <a:endParaRPr lang="en-US"/>
          </a:p>
        </p:txBody>
      </p:sp>
    </p:spTree>
    <p:extLst>
      <p:ext uri="{BB962C8B-B14F-4D97-AF65-F5344CB8AC3E}">
        <p14:creationId xmlns:p14="http://schemas.microsoft.com/office/powerpoint/2010/main" val="1132212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a:extLst>
              <a:ext uri="{FF2B5EF4-FFF2-40B4-BE49-F238E27FC236}">
                <a16:creationId xmlns:a16="http://schemas.microsoft.com/office/drawing/2014/main" id="{5E3B97A7-250B-A38D-C48D-6B44B87D8242}"/>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5FCD7F-5618-480C-97D9-93DE908EA67D}" type="slidenum">
              <a:rPr lang="en-US" smtClean="0"/>
              <a:pPr/>
              <a:t>26</a:t>
            </a:fld>
            <a:endParaRPr lang="en-US"/>
          </a:p>
        </p:txBody>
      </p:sp>
    </p:spTree>
    <p:extLst>
      <p:ext uri="{BB962C8B-B14F-4D97-AF65-F5344CB8AC3E}">
        <p14:creationId xmlns:p14="http://schemas.microsoft.com/office/powerpoint/2010/main" val="7492917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AF082-7607-2C02-4ABD-61901A68F5EA}"/>
              </a:ext>
            </a:extLst>
          </p:cNvPr>
          <p:cNvSpPr>
            <a:spLocks noGrp="1"/>
          </p:cNvSpPr>
          <p:nvPr>
            <p:ph type="title"/>
          </p:nvPr>
        </p:nvSpPr>
        <p:spPr/>
        <p:txBody>
          <a:bodyPr/>
          <a:lstStyle/>
          <a:p>
            <a:r>
              <a:rPr lang="en-IN" dirty="0"/>
              <a:t>How to improve EI</a:t>
            </a:r>
          </a:p>
        </p:txBody>
      </p:sp>
      <p:sp>
        <p:nvSpPr>
          <p:cNvPr id="3" name="Content Placeholder 2">
            <a:extLst>
              <a:ext uri="{FF2B5EF4-FFF2-40B4-BE49-F238E27FC236}">
                <a16:creationId xmlns:a16="http://schemas.microsoft.com/office/drawing/2014/main" id="{467238D9-FEBA-F661-59DD-9C324A7029BE}"/>
              </a:ext>
            </a:extLst>
          </p:cNvPr>
          <p:cNvSpPr>
            <a:spLocks noGrp="1"/>
          </p:cNvSpPr>
          <p:nvPr>
            <p:ph idx="1"/>
          </p:nvPr>
        </p:nvSpPr>
        <p:spPr/>
        <p:txBody>
          <a:bodyPr>
            <a:normAutofit lnSpcReduction="10000"/>
          </a:bodyPr>
          <a:lstStyle/>
          <a:p>
            <a:r>
              <a:rPr lang="en-IN" i="0" dirty="0">
                <a:solidFill>
                  <a:srgbClr val="2D2D2D"/>
                </a:solidFill>
                <a:effectLst/>
                <a:latin typeface="Times New Roman" panose="02020603050405020304" pitchFamily="18" charset="0"/>
                <a:cs typeface="Times New Roman" panose="02020603050405020304" pitchFamily="18" charset="0"/>
              </a:rPr>
              <a:t>Be more self-aware</a:t>
            </a:r>
          </a:p>
          <a:p>
            <a:r>
              <a:rPr lang="en-IN" i="0" dirty="0">
                <a:solidFill>
                  <a:srgbClr val="2D2D2D"/>
                </a:solidFill>
                <a:effectLst/>
                <a:latin typeface="Times New Roman" panose="02020603050405020304" pitchFamily="18" charset="0"/>
                <a:cs typeface="Times New Roman" panose="02020603050405020304" pitchFamily="18" charset="0"/>
              </a:rPr>
              <a:t>Recognize how others feel</a:t>
            </a:r>
          </a:p>
          <a:p>
            <a:r>
              <a:rPr lang="en-IN" i="0" dirty="0">
                <a:solidFill>
                  <a:srgbClr val="2D2D2D"/>
                </a:solidFill>
                <a:effectLst/>
                <a:latin typeface="Times New Roman" panose="02020603050405020304" pitchFamily="18" charset="0"/>
                <a:cs typeface="Times New Roman" panose="02020603050405020304" pitchFamily="18" charset="0"/>
              </a:rPr>
              <a:t>Practice active listening</a:t>
            </a:r>
          </a:p>
          <a:p>
            <a:pPr algn="l"/>
            <a:r>
              <a:rPr lang="en-IN" i="0" dirty="0">
                <a:solidFill>
                  <a:srgbClr val="2D2D2D"/>
                </a:solidFill>
                <a:effectLst/>
                <a:latin typeface="Times New Roman" panose="02020603050405020304" pitchFamily="18" charset="0"/>
                <a:cs typeface="Times New Roman" panose="02020603050405020304" pitchFamily="18" charset="0"/>
              </a:rPr>
              <a:t>Communicate clearly</a:t>
            </a:r>
          </a:p>
          <a:p>
            <a:pPr algn="l"/>
            <a:r>
              <a:rPr lang="en-IN" i="0" dirty="0">
                <a:solidFill>
                  <a:srgbClr val="2D2D2D"/>
                </a:solidFill>
                <a:effectLst/>
                <a:latin typeface="Times New Roman" panose="02020603050405020304" pitchFamily="18" charset="0"/>
                <a:cs typeface="Times New Roman" panose="02020603050405020304" pitchFamily="18" charset="0"/>
              </a:rPr>
              <a:t>Stay positive</a:t>
            </a:r>
          </a:p>
          <a:p>
            <a:r>
              <a:rPr lang="en-IN" i="0" dirty="0">
                <a:solidFill>
                  <a:srgbClr val="2D2D2D"/>
                </a:solidFill>
                <a:effectLst/>
                <a:latin typeface="Times New Roman" panose="02020603050405020304" pitchFamily="18" charset="0"/>
                <a:cs typeface="Times New Roman" panose="02020603050405020304" pitchFamily="18" charset="0"/>
              </a:rPr>
              <a:t>Empathize</a:t>
            </a:r>
          </a:p>
          <a:p>
            <a:r>
              <a:rPr lang="en-IN" i="0" dirty="0">
                <a:solidFill>
                  <a:srgbClr val="2D2D2D"/>
                </a:solidFill>
                <a:effectLst/>
                <a:latin typeface="Times New Roman" panose="02020603050405020304" pitchFamily="18" charset="0"/>
                <a:cs typeface="Times New Roman" panose="02020603050405020304" pitchFamily="18" charset="0"/>
              </a:rPr>
              <a:t>Be open-minded</a:t>
            </a:r>
          </a:p>
          <a:p>
            <a:r>
              <a:rPr lang="en-IN" i="0" dirty="0">
                <a:solidFill>
                  <a:srgbClr val="2D2D2D"/>
                </a:solidFill>
                <a:effectLst/>
                <a:latin typeface="Times New Roman" panose="02020603050405020304" pitchFamily="18" charset="0"/>
                <a:cs typeface="Times New Roman" panose="02020603050405020304" pitchFamily="18" charset="0"/>
              </a:rPr>
              <a:t>Listen to feedback</a:t>
            </a:r>
          </a:p>
          <a:p>
            <a:r>
              <a:rPr lang="en-IN" i="0" dirty="0">
                <a:solidFill>
                  <a:srgbClr val="2D2D2D"/>
                </a:solidFill>
                <a:effectLst/>
                <a:latin typeface="Times New Roman" panose="02020603050405020304" pitchFamily="18" charset="0"/>
                <a:cs typeface="Times New Roman" panose="02020603050405020304" pitchFamily="18" charset="0"/>
              </a:rPr>
              <a:t>Stay calm under pressure</a:t>
            </a:r>
          </a:p>
          <a:p>
            <a:endParaRPr lang="en-IN" b="1" i="0" dirty="0">
              <a:solidFill>
                <a:srgbClr val="2D2D2D"/>
              </a:solidFill>
              <a:effectLst/>
              <a:latin typeface="Noto Sans" panose="020B0502040504020204" pitchFamily="34" charset="0"/>
            </a:endParaRPr>
          </a:p>
          <a:p>
            <a:endParaRPr lang="en-IN" dirty="0"/>
          </a:p>
        </p:txBody>
      </p:sp>
      <p:sp>
        <p:nvSpPr>
          <p:cNvPr id="4" name="Footer Placeholder 3">
            <a:extLst>
              <a:ext uri="{FF2B5EF4-FFF2-40B4-BE49-F238E27FC236}">
                <a16:creationId xmlns:a16="http://schemas.microsoft.com/office/drawing/2014/main" id="{D6237693-3322-C0B0-2BF4-85FDFC7E375F}"/>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26F95DE-1F30-36D1-C55D-BE0F67315216}"/>
              </a:ext>
            </a:extLst>
          </p:cNvPr>
          <p:cNvSpPr>
            <a:spLocks noGrp="1"/>
          </p:cNvSpPr>
          <p:nvPr>
            <p:ph type="sldNum" sz="quarter" idx="11"/>
          </p:nvPr>
        </p:nvSpPr>
        <p:spPr/>
        <p:txBody>
          <a:bodyPr/>
          <a:lstStyle/>
          <a:p>
            <a:fld id="{294A09A9-5501-47C1-A89A-A340965A2BE2}" type="slidenum">
              <a:rPr lang="en-US" smtClean="0"/>
              <a:pPr/>
              <a:t>27</a:t>
            </a:fld>
            <a:endParaRPr lang="en-US" dirty="0"/>
          </a:p>
        </p:txBody>
      </p:sp>
    </p:spTree>
    <p:extLst>
      <p:ext uri="{BB962C8B-B14F-4D97-AF65-F5344CB8AC3E}">
        <p14:creationId xmlns:p14="http://schemas.microsoft.com/office/powerpoint/2010/main" val="578107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EB5DC-8C2B-5750-6E12-9A35C0FFBA00}"/>
              </a:ext>
            </a:extLst>
          </p:cNvPr>
          <p:cNvSpPr>
            <a:spLocks noGrp="1"/>
          </p:cNvSpPr>
          <p:nvPr>
            <p:ph type="title"/>
          </p:nvPr>
        </p:nvSpPr>
        <p:spPr/>
        <p:txBody>
          <a:bodyPr/>
          <a:lstStyle/>
          <a:p>
            <a:r>
              <a:rPr lang="en-US" dirty="0"/>
              <a:t>Thank you</a:t>
            </a:r>
          </a:p>
        </p:txBody>
      </p:sp>
      <p:sp>
        <p:nvSpPr>
          <p:cNvPr id="5" name="Content Placeholder 4">
            <a:extLst>
              <a:ext uri="{FF2B5EF4-FFF2-40B4-BE49-F238E27FC236}">
                <a16:creationId xmlns:a16="http://schemas.microsoft.com/office/drawing/2014/main" id="{AAF5CF3F-E5EF-5769-3F83-24ADB4412BB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790251853"/>
      </p:ext>
    </p:extLst>
  </p:cSld>
  <p:clrMapOvr>
    <a:masterClrMapping/>
  </p:clrMapOvr>
</p:sld>
</file>

<file path=ppt/theme/theme1.xml><?xml version="1.0" encoding="utf-8"?>
<a:theme xmlns:a="http://schemas.openxmlformats.org/drawingml/2006/main" name="Office Theme">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Flourish_Win32_CP_v8" id="{BCFB3359-BC8B-4F4E-99DD-822A55018E7C}" vid="{7DF7CEC2-9D9A-40F6-95E4-E2F6E93D64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14EFF02-EA18-493C-972D-813DB244CB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CE2AAA-C718-435C-B4E6-95A08ACAC441}">
  <ds:schemaRefs>
    <ds:schemaRef ds:uri="http://schemas.microsoft.com/sharepoint/v3/contenttype/forms"/>
  </ds:schemaRefs>
</ds:datastoreItem>
</file>

<file path=customXml/itemProps3.xml><?xml version="1.0" encoding="utf-8"?>
<ds:datastoreItem xmlns:ds="http://schemas.openxmlformats.org/officeDocument/2006/customXml" ds:itemID="{8FBB2F3B-6257-41BB-8B64-5AC7494F274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{A251CD20-D135-4AEE-9C08-0B90C695407B}tf56410444_win32</Template>
  <TotalTime>66</TotalTime>
  <Words>1526</Words>
  <Application>Microsoft Office PowerPoint</Application>
  <PresentationFormat>Widescreen</PresentationFormat>
  <Paragraphs>124</Paragraphs>
  <Slides>28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Arial</vt:lpstr>
      <vt:lpstr>Baskerville</vt:lpstr>
      <vt:lpstr>Baskerville Old Face</vt:lpstr>
      <vt:lpstr>Calibri</vt:lpstr>
      <vt:lpstr>Calibri Light</vt:lpstr>
      <vt:lpstr>Calisto MT</vt:lpstr>
      <vt:lpstr>Gill Sans Light</vt:lpstr>
      <vt:lpstr>Gill Sans Nova</vt:lpstr>
      <vt:lpstr>Gill Sans Nova Light</vt:lpstr>
      <vt:lpstr>Noto Sans</vt:lpstr>
      <vt:lpstr>Times New Roman</vt:lpstr>
      <vt:lpstr>Office Theme</vt:lpstr>
      <vt:lpstr>Emotional Intelligence</vt:lpstr>
      <vt:lpstr>What is EI?</vt:lpstr>
      <vt:lpstr>What is EI?</vt:lpstr>
      <vt:lpstr>Types of Emotions</vt:lpstr>
      <vt:lpstr>Types of Emotions</vt:lpstr>
      <vt:lpstr>Types of Emotions</vt:lpstr>
      <vt:lpstr>Self Conscious Emotions</vt:lpstr>
      <vt:lpstr>Self Conscious Emotions</vt:lpstr>
      <vt:lpstr>How can one detect emotions, feelings and behaviour?</vt:lpstr>
      <vt:lpstr>How can one detect emotions, feelings and behaviour?</vt:lpstr>
      <vt:lpstr>How can one detect emotions, feelings and behaviour?</vt:lpstr>
      <vt:lpstr>Characteristics of people with high degree of EI : </vt:lpstr>
      <vt:lpstr>Five measures/elements/components of EI </vt:lpstr>
      <vt:lpstr>PowerPoint Presentation</vt:lpstr>
      <vt:lpstr>PowerPoint Presentation</vt:lpstr>
      <vt:lpstr>SELF-AWARENESS</vt:lpstr>
      <vt:lpstr>PowerPoint Presentation</vt:lpstr>
      <vt:lpstr>SELF REGULATION/Emotion Regulation</vt:lpstr>
      <vt:lpstr>PowerPoint Presentation</vt:lpstr>
      <vt:lpstr>PowerPoint Presentation</vt:lpstr>
      <vt:lpstr>Real-life examples</vt:lpstr>
      <vt:lpstr>PowerPoint Presentation</vt:lpstr>
      <vt:lpstr>PowerPoint Presentation</vt:lpstr>
      <vt:lpstr>PowerPoint Presentation</vt:lpstr>
      <vt:lpstr>PowerPoint Presentation</vt:lpstr>
      <vt:lpstr>PowerPoint Presentation</vt:lpstr>
      <vt:lpstr>How to improve EI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Emotional Intelligence</dc:title>
  <dc:creator>MARTHA KARUNAKAR</dc:creator>
  <cp:lastModifiedBy>MARTHA KARUNAKAR</cp:lastModifiedBy>
  <cp:revision>7</cp:revision>
  <dcterms:created xsi:type="dcterms:W3CDTF">2024-03-26T13:35:01Z</dcterms:created>
  <dcterms:modified xsi:type="dcterms:W3CDTF">2026-07-13T12:44:20Z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