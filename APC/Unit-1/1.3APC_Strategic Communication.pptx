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98" r:id="rId5"/>
    <p:sldId id="299" r:id="rId6"/>
    <p:sldId id="300" r:id="rId7"/>
    <p:sldId id="301" r:id="rId8"/>
    <p:sldId id="302" r:id="rId9"/>
    <p:sldId id="303" r:id="rId10"/>
    <p:sldId id="311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2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2" autoAdjust="0"/>
  </p:normalViewPr>
  <p:slideViewPr>
    <p:cSldViewPr snapToGrid="0">
      <p:cViewPr varScale="1">
        <p:scale>
          <a:sx n="62" d="100"/>
          <a:sy n="62" d="100"/>
        </p:scale>
        <p:origin x="828" y="40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6/23/2026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39647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er Slid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id="{BBC0CAF5-0DE6-4BEA-824E-124A54A7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id="{ED008080-B2F5-441A-8B15-30AE86BB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:a16="http://schemas.microsoft.com/office/drawing/2014/main" id="{3E8A46E0-47C2-4441-B7DD-F621A80F1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>
              <a:lnSpc>
                <a:spcPts val="1000"/>
              </a:lnSpc>
            </a:pPr>
            <a:r>
              <a:rPr lang="en-US" sz="2500" b="1" i="0" spc="-100" baseline="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n-US" sz="1200" b="0" i="0" spc="14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3" r:id="rId18"/>
    <p:sldLayoutId id="2147483674" r:id="rId19"/>
    <p:sldLayoutId id="2147483654" r:id="rId20"/>
    <p:sldLayoutId id="2147483655" r:id="rId21"/>
    <p:sldLayoutId id="2147483675" r:id="rId22"/>
    <p:sldLayoutId id="2147483672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4489807"/>
            <a:ext cx="8882009" cy="2314218"/>
          </a:xfrm>
        </p:spPr>
        <p:txBody>
          <a:bodyPr/>
          <a:lstStyle/>
          <a:p>
            <a:pPr algn="ctr"/>
            <a:r>
              <a:rPr lang="en-IN" sz="5400" dirty="0"/>
              <a:t>Strategic Communication: Tailoring Messages for Diverse Audiences</a:t>
            </a:r>
            <a:endParaRPr lang="en-US" sz="54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0" y="4061039"/>
            <a:ext cx="3200400" cy="839734"/>
          </a:xfrm>
        </p:spPr>
        <p:txBody>
          <a:bodyPr/>
          <a:lstStyle/>
          <a:p>
            <a:r>
              <a:rPr lang="en-US" dirty="0"/>
              <a:t>Dr Martha Karunakar 23.06.2026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311F-E147-3F77-655B-D3B8D7AC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 dirty="0"/>
              <a:t>OBJECTIVES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5508B-291A-EFC1-0054-C7D9E982A9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F4A8A-161B-F420-345A-6CFF71DA764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74C8E29-2E2C-BEB8-EE06-DB3F65FAB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2000" y="1891465"/>
            <a:ext cx="1147782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what strategic communication 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different audiences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 communication based on cultural, generational,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organizational contexts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communication strategies in engineering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workplace situations</a:t>
            </a:r>
          </a:p>
        </p:txBody>
      </p:sp>
    </p:spTree>
    <p:extLst>
      <p:ext uri="{BB962C8B-B14F-4D97-AF65-F5344CB8AC3E}">
        <p14:creationId xmlns:p14="http://schemas.microsoft.com/office/powerpoint/2010/main" val="1151239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22EC-E73F-8ACE-74DF-D58DE693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What is Strategic Communication?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E7991-F571-7AF7-623A-71B673BB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3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Strategic communication is the </a:t>
            </a:r>
            <a:r>
              <a:rPr lang="en-US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purposeful planning and delivery of messages to achieve a specific objective while considering the audience, context, and desired outcome.</a:t>
            </a:r>
            <a:endParaRPr lang="en-US" sz="3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It is not merely about </a:t>
            </a:r>
            <a:r>
              <a:rPr lang="en-US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what</a:t>
            </a:r>
            <a:r>
              <a:rPr lang="en-US" sz="3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you say, but also:</a:t>
            </a:r>
          </a:p>
          <a:p>
            <a:r>
              <a:rPr lang="en-US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Why</a:t>
            </a:r>
            <a:r>
              <a:rPr lang="en-US" sz="3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you are saying it </a:t>
            </a:r>
          </a:p>
          <a:p>
            <a:r>
              <a:rPr lang="en-US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Who </a:t>
            </a:r>
            <a:r>
              <a:rPr lang="en-US" sz="3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you are speaking to </a:t>
            </a:r>
          </a:p>
          <a:p>
            <a:r>
              <a:rPr lang="en-US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How</a:t>
            </a:r>
            <a:r>
              <a:rPr lang="en-US" sz="3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you say it </a:t>
            </a:r>
          </a:p>
          <a:p>
            <a:r>
              <a:rPr lang="en-US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When</a:t>
            </a:r>
            <a:r>
              <a:rPr lang="en-US" sz="32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you say it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DF557-81A2-6524-BA94-C393FCFC95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E67BE-D78F-C6A8-9C84-2EC61BDF07D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0151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D8D0-8769-C57A-92E2-E74376EA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49063-5082-0E8F-B925-1280371C7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an engineering team discovers a software bug.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they communicate it in the same way to: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manager?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client?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fellow developers?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CEO?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The information remains the same, but the communication changes.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32AB2-67CF-0456-3C9C-8618FC591C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C9C77-894C-DE28-C6A9-88DA2B5F442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75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39CE-0B9E-0CF0-61B7-7F23E1A3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Engineers communicate with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19FF-1A61-8800-4CD0-7CEA863C4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clients </a:t>
            </a:r>
          </a:p>
          <a:p>
            <a:r>
              <a:rPr lang="en-US" dirty="0"/>
              <a:t>managers </a:t>
            </a:r>
          </a:p>
          <a:p>
            <a:r>
              <a:rPr lang="en-US" dirty="0"/>
              <a:t>investors </a:t>
            </a:r>
          </a:p>
          <a:p>
            <a:r>
              <a:rPr lang="en-US" dirty="0"/>
              <a:t>technicians </a:t>
            </a:r>
          </a:p>
          <a:p>
            <a:r>
              <a:rPr lang="en-US" dirty="0"/>
              <a:t>government officials </a:t>
            </a:r>
          </a:p>
          <a:p>
            <a:r>
              <a:rPr lang="en-US" dirty="0"/>
              <a:t>international teams </a:t>
            </a:r>
          </a:p>
          <a:p>
            <a:r>
              <a:rPr lang="en-US" dirty="0"/>
              <a:t>customers </a:t>
            </a:r>
          </a:p>
          <a:p>
            <a:r>
              <a:rPr lang="en-US" sz="2000" b="1" dirty="0"/>
              <a:t>Poor communication can result in:</a:t>
            </a:r>
          </a:p>
          <a:p>
            <a:r>
              <a:rPr lang="en-US" dirty="0"/>
              <a:t>project failure </a:t>
            </a:r>
          </a:p>
          <a:p>
            <a:r>
              <a:rPr lang="en-US" dirty="0"/>
              <a:t>misunderstandings </a:t>
            </a:r>
          </a:p>
          <a:p>
            <a:r>
              <a:rPr lang="en-US" dirty="0"/>
              <a:t>financial loss </a:t>
            </a:r>
          </a:p>
          <a:p>
            <a:r>
              <a:rPr lang="en-US" dirty="0"/>
              <a:t>safety hazards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07A8D-AB11-AEB4-5723-D6EA608CCC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13299-8A59-EF47-7552-E1E4282D047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248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0E38-3068-4B3D-CD3E-87D14DEB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Same information. Different audience.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B772F-1BDA-298D-1958-98F7187CB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An engineer says: "The API response latency exceeds 600 milliseconds due to inefficient asynchronous thread management."</a:t>
            </a:r>
          </a:p>
          <a:p>
            <a:r>
              <a:rPr lang="en-US" sz="3200" dirty="0"/>
              <a:t>A client may not understand.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Instead:</a:t>
            </a:r>
          </a:p>
          <a:p>
            <a:r>
              <a:rPr lang="en-US" sz="3200" dirty="0"/>
              <a:t>"The application is responding more slowly than expected because of a software issue. We are working on improving its performance."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7FDD9-CE44-E67C-CC15-243A19B4F6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C3600-686D-B8C3-0509-67EE9EEA251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2163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9530-B43B-B483-8DF9-453DE659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Same information. Different communication.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A0AEC-EA47-CA31-D1CD-6E18414E4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Engineering Case Study</a:t>
            </a:r>
          </a:p>
          <a:p>
            <a:r>
              <a:rPr lang="en-US" b="1" dirty="0"/>
              <a:t>Situation</a:t>
            </a:r>
          </a:p>
          <a:p>
            <a:r>
              <a:rPr lang="en-US" dirty="0"/>
              <a:t>A bridge inspection finds a crack.</a:t>
            </a:r>
          </a:p>
          <a:p>
            <a:r>
              <a:rPr lang="en-US" b="1" dirty="0"/>
              <a:t>Engineer to Engineer</a:t>
            </a:r>
          </a:p>
          <a:p>
            <a:r>
              <a:rPr lang="en-US" dirty="0"/>
              <a:t>"The longitudinal crack measures approximately 2.3 mm."</a:t>
            </a:r>
          </a:p>
          <a:p>
            <a:endParaRPr lang="en-US" dirty="0"/>
          </a:p>
          <a:p>
            <a:r>
              <a:rPr lang="en-US" b="1" dirty="0"/>
              <a:t>Engineer to Manager</a:t>
            </a:r>
          </a:p>
          <a:p>
            <a:r>
              <a:rPr lang="en-US" dirty="0"/>
              <a:t>"A structural defect has been identified.</a:t>
            </a:r>
            <a:br>
              <a:rPr lang="en-US" dirty="0"/>
            </a:br>
            <a:r>
              <a:rPr lang="en-US" dirty="0"/>
              <a:t>Repairs are recommended."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Engineer to Public</a:t>
            </a:r>
          </a:p>
          <a:p>
            <a:r>
              <a:rPr lang="en-US" dirty="0"/>
              <a:t>"The bridge remains safe for controlled use while repair work is planned."</a:t>
            </a:r>
          </a:p>
          <a:p>
            <a:r>
              <a:rPr lang="en-US" dirty="0"/>
              <a:t>Notice: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CB731-BD32-E1CA-F8D4-06F092908E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7904F-71F1-F9BC-7312-ED6DAFBB3F5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2295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671D-0057-20A3-EE36-040668305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Know Your Audience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878B8-06CA-0395-94B0-DBF64C0A3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r>
              <a:rPr lang="en-US" sz="2000" b="1" dirty="0"/>
              <a:t>WHO?</a:t>
            </a:r>
          </a:p>
          <a:p>
            <a:r>
              <a:rPr lang="en-US" sz="2000" dirty="0"/>
              <a:t>technical experts? </a:t>
            </a:r>
          </a:p>
          <a:p>
            <a:r>
              <a:rPr lang="en-US" sz="2000" dirty="0"/>
              <a:t>beginners? </a:t>
            </a:r>
          </a:p>
          <a:p>
            <a:r>
              <a:rPr lang="en-US" sz="2000" dirty="0"/>
              <a:t>customers? </a:t>
            </a:r>
          </a:p>
          <a:p>
            <a:r>
              <a:rPr lang="en-US" sz="2000" dirty="0"/>
              <a:t>executives? </a:t>
            </a:r>
          </a:p>
          <a:p>
            <a:endParaRPr lang="en-US" sz="2000" dirty="0"/>
          </a:p>
          <a:p>
            <a:r>
              <a:rPr lang="en-US" sz="2000" b="1" dirty="0"/>
              <a:t>WHAT do they know already?  </a:t>
            </a:r>
            <a:r>
              <a:rPr lang="en-US" sz="2000" dirty="0"/>
              <a:t>Do they have technical knowledge?</a:t>
            </a:r>
          </a:p>
          <a:p>
            <a:endParaRPr lang="en-US" sz="2000" dirty="0"/>
          </a:p>
          <a:p>
            <a:r>
              <a:rPr lang="en-US" sz="2000" b="1" dirty="0"/>
              <a:t>WHAT do they need? </a:t>
            </a:r>
            <a:r>
              <a:rPr lang="en-US" sz="2000" dirty="0"/>
              <a:t>Only relevant information.</a:t>
            </a:r>
          </a:p>
          <a:p>
            <a:endParaRPr lang="en-US" sz="2000" dirty="0"/>
          </a:p>
          <a:p>
            <a:r>
              <a:rPr lang="en-US" sz="2000" b="1" dirty="0"/>
              <a:t>WHY are they listening?  </a:t>
            </a:r>
            <a:r>
              <a:rPr lang="en-US" sz="2000" dirty="0"/>
              <a:t>To learn?  To decide?  To solve a problem?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8CE6E-ACC9-70FF-DA69-6FE28CC806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8D6F0-D22B-AF4F-3EC4-B1335AA200C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680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682A-A4BF-AB9B-4219-EB9B1E5D0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Tailoring Your Message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BDBCB-B133-A061-DF18-24AE5A5FB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97726"/>
            <a:ext cx="11328000" cy="5183250"/>
          </a:xfrm>
        </p:spPr>
        <p:txBody>
          <a:bodyPr/>
          <a:lstStyle/>
          <a:p>
            <a:r>
              <a:rPr lang="en-US" dirty="0"/>
              <a:t>Tailoring means adapting communication according to the audience.</a:t>
            </a:r>
          </a:p>
          <a:p>
            <a:r>
              <a:rPr lang="en-US" b="1" dirty="0"/>
              <a:t>Vocabulary</a:t>
            </a:r>
          </a:p>
          <a:p>
            <a:r>
              <a:rPr lang="en-US" dirty="0"/>
              <a:t>Instead of "Microservice architecture"</a:t>
            </a:r>
          </a:p>
          <a:p>
            <a:r>
              <a:rPr lang="en-US" dirty="0"/>
              <a:t>Say: "The software is divided into independent modules."</a:t>
            </a:r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/>
              <a:t>Tone</a:t>
            </a:r>
          </a:p>
          <a:p>
            <a:r>
              <a:rPr lang="en-US" dirty="0"/>
              <a:t>Formal: Dear Sir,</a:t>
            </a:r>
          </a:p>
          <a:p>
            <a:r>
              <a:rPr lang="en-US" dirty="0"/>
              <a:t>Semi-formal: Hello Team,</a:t>
            </a:r>
          </a:p>
          <a:p>
            <a:r>
              <a:rPr lang="en-US" dirty="0"/>
              <a:t>Informal: Hi everyone!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 </a:t>
            </a:r>
            <a:r>
              <a:rPr lang="en-US" b="1" dirty="0"/>
              <a:t>Amount of Detail</a:t>
            </a:r>
          </a:p>
          <a:p>
            <a:r>
              <a:rPr lang="en-US" dirty="0"/>
              <a:t>CEO: Project completed.</a:t>
            </a:r>
          </a:p>
          <a:p>
            <a:r>
              <a:rPr lang="en-US" dirty="0"/>
              <a:t>Engineering Lead: 95% completed. Two modules remain under testing.</a:t>
            </a:r>
          </a:p>
          <a:p>
            <a:r>
              <a:rPr lang="en-US" dirty="0"/>
              <a:t>Developer: Detailed technical explanation.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E94F8-E89C-D9BF-323A-597E91CA58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4E976-AAE2-B0C3-642A-FCBE73C562C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762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C0F8-4C10-84E6-3E5B-7BFF5A0A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Cultural Context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7AE41-177C-944D-7552-C3FBF53FC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People from different cultures communicate differently.</a:t>
            </a:r>
          </a:p>
          <a:p>
            <a:r>
              <a:rPr lang="en-US" sz="2400" dirty="0"/>
              <a:t>Examples:</a:t>
            </a:r>
          </a:p>
          <a:p>
            <a:r>
              <a:rPr lang="en-US" sz="2400" b="1" dirty="0"/>
              <a:t>Direct Communication</a:t>
            </a:r>
          </a:p>
          <a:p>
            <a:r>
              <a:rPr lang="en-US" sz="2400" dirty="0"/>
              <a:t>Countries like USA, Germany, and the Netherlands, people usually say exactly what they think.</a:t>
            </a:r>
          </a:p>
          <a:p>
            <a:r>
              <a:rPr lang="en-US" sz="2400" dirty="0"/>
              <a:t>Example: This design has problems.</a:t>
            </a:r>
          </a:p>
          <a:p>
            <a:r>
              <a:rPr lang="en-US" sz="2400" dirty="0"/>
              <a:t>--------------------------------------------------</a:t>
            </a:r>
          </a:p>
          <a:p>
            <a:r>
              <a:rPr lang="en-US" sz="2400" b="1" dirty="0"/>
              <a:t>Indirect Communication</a:t>
            </a:r>
          </a:p>
          <a:p>
            <a:r>
              <a:rPr lang="en-US" sz="2400" dirty="0"/>
              <a:t>Countries like India, Japan, and South Korea, people often communicate politely.</a:t>
            </a:r>
          </a:p>
          <a:p>
            <a:r>
              <a:rPr lang="en-US" sz="2400" dirty="0"/>
              <a:t>Example: Perhaps we can improve this section.</a:t>
            </a:r>
          </a:p>
          <a:p>
            <a:endParaRPr lang="en-US" dirty="0"/>
          </a:p>
          <a:p>
            <a:r>
              <a:rPr lang="en-US" sz="4000" dirty="0"/>
              <a:t>Same meaning. Different style.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D5F67-72DB-AD5E-FE35-1A96041E50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2EF2A-9B7D-8A08-28CD-D09EA5EF6CC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793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C52A-082D-970C-9643-50A960FE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Classroom Discussion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B8F74-0E62-4820-117F-72767E7A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Suppose your teammate says:</a:t>
            </a:r>
          </a:p>
          <a:p>
            <a:endParaRPr lang="en-US" sz="2800" dirty="0"/>
          </a:p>
          <a:p>
            <a:r>
              <a:rPr lang="en-US" sz="2800" dirty="0"/>
              <a:t>"We'll see."</a:t>
            </a:r>
          </a:p>
          <a:p>
            <a:r>
              <a:rPr lang="en-US" sz="2800" dirty="0"/>
              <a:t>Does it mean: Yes?, No?, Maybe? Hint: Depends on culture.</a:t>
            </a:r>
          </a:p>
          <a:p>
            <a:endParaRPr lang="en-IN" sz="2800" dirty="0"/>
          </a:p>
          <a:p>
            <a:r>
              <a:rPr lang="en-IN" sz="2800" dirty="0"/>
              <a:t>If your mum says the same thing when you want to buy something for yourself – what does it mean</a:t>
            </a:r>
          </a:p>
          <a:p>
            <a:r>
              <a:rPr lang="en-IN" sz="2800" dirty="0"/>
              <a:t>If your teacher says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B4FA9-AFC4-5FD3-B880-A84C791752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9CE93-4DC1-FCF0-BAD3-1B1C8E22B8E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881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F404-9B1C-BECF-4CF3-FDC4161B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r>
              <a:rPr lang="en-US" dirty="0"/>
              <a:t>Generational Context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Different generations often communicate differently.</a:t>
            </a:r>
            <a:endParaRPr lang="en-IN" sz="2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494BED1-D7F9-CDFD-0D88-47FE139C3A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049311"/>
              </p:ext>
            </p:extLst>
          </p:nvPr>
        </p:nvGraphicFramePr>
        <p:xfrm>
          <a:off x="431800" y="1941816"/>
          <a:ext cx="11328400" cy="4202130"/>
        </p:xfrm>
        <a:graphic>
          <a:graphicData uri="http://schemas.openxmlformats.org/drawingml/2006/table">
            <a:tbl>
              <a:tblPr/>
              <a:tblGrid>
                <a:gridCol w="5664200">
                  <a:extLst>
                    <a:ext uri="{9D8B030D-6E8A-4147-A177-3AD203B41FA5}">
                      <a16:colId xmlns:a16="http://schemas.microsoft.com/office/drawing/2014/main" val="703839208"/>
                    </a:ext>
                  </a:extLst>
                </a:gridCol>
                <a:gridCol w="5664200">
                  <a:extLst>
                    <a:ext uri="{9D8B030D-6E8A-4147-A177-3AD203B41FA5}">
                      <a16:colId xmlns:a16="http://schemas.microsoft.com/office/drawing/2014/main" val="1507217378"/>
                    </a:ext>
                  </a:extLst>
                </a:gridCol>
              </a:tblGrid>
              <a:tr h="84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Preference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593359"/>
                  </a:ext>
                </a:extLst>
              </a:tr>
              <a:tr h="84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Baby Boomers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Face-to-face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431462"/>
                  </a:ext>
                </a:extLst>
              </a:tr>
              <a:tr h="84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Gen 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148588"/>
                  </a:ext>
                </a:extLst>
              </a:tr>
              <a:tr h="84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Millennials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Messaging + 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330430"/>
                  </a:ext>
                </a:extLst>
              </a:tr>
              <a:tr h="84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Gen 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Instant messaging, short videos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5930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49C2D-2C16-D9FC-ABCE-9DBCB14705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34D1D-B8D3-9232-E547-A3A08FEF9AD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8112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AC75-7DA6-2796-2421-8A928725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Example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BA662-14FE-320B-875F-A6FDEECAA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Manager (Boomer)</a:t>
            </a:r>
          </a:p>
          <a:p>
            <a:r>
              <a:rPr lang="en-US" sz="2800" dirty="0"/>
              <a:t>"Please send an email."</a:t>
            </a:r>
          </a:p>
          <a:p>
            <a:r>
              <a:rPr lang="en-US" sz="2800" dirty="0"/>
              <a:t>Intern (Gen Z)</a:t>
            </a:r>
          </a:p>
          <a:p>
            <a:r>
              <a:rPr lang="en-US" sz="2800" dirty="0"/>
              <a:t>"Sends a WhatsApp message."</a:t>
            </a:r>
          </a:p>
          <a:p>
            <a:r>
              <a:rPr lang="en-US" sz="2800" dirty="0"/>
              <a:t>Miscommunication occurs.</a:t>
            </a:r>
          </a:p>
          <a:p>
            <a:endParaRPr lang="en-IN" dirty="0"/>
          </a:p>
          <a:p>
            <a:r>
              <a:rPr lang="en-IN" dirty="0"/>
              <a:t>Students can give some more similar examples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7F888-4950-E7B7-2819-E7D120EF80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350F3-217D-61B7-594C-001F9ABA9DB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246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7D2B-D066-2E34-4BD8-A4493672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Barriers to Strategic Communication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DD332-3209-7BD3-3B54-6D67A7C2E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Language differences </a:t>
            </a:r>
          </a:p>
          <a:p>
            <a:r>
              <a:rPr lang="en-US" sz="2800" dirty="0"/>
              <a:t>Technical jargon </a:t>
            </a:r>
          </a:p>
          <a:p>
            <a:r>
              <a:rPr lang="en-US" sz="2800" dirty="0"/>
              <a:t>Cultural misunderstandings </a:t>
            </a:r>
          </a:p>
          <a:p>
            <a:r>
              <a:rPr lang="en-US" sz="2800" dirty="0"/>
              <a:t>Poor listening </a:t>
            </a:r>
          </a:p>
          <a:p>
            <a:r>
              <a:rPr lang="en-US" sz="2800" dirty="0"/>
              <a:t>Wrong communication channel </a:t>
            </a:r>
          </a:p>
          <a:p>
            <a:r>
              <a:rPr lang="en-US" sz="2800" dirty="0"/>
              <a:t>Information overload </a:t>
            </a:r>
          </a:p>
          <a:p>
            <a:r>
              <a:rPr lang="en-US" sz="2800" dirty="0"/>
              <a:t>Assumptions 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1EB3E-DA25-9D86-18D6-F2694A0B63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C0968-3D83-9C7B-BC94-A5D67E5A12E9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971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CBE3-4BA2-2974-460E-8CA495E8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Classroom Activity (15–20 minutes)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3D415-BDDE-308A-3C02-894C562A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Activity: One Message, Four Audiences</a:t>
            </a:r>
          </a:p>
          <a:p>
            <a:r>
              <a:rPr lang="en-US" b="1" dirty="0"/>
              <a:t>Scenario:</a:t>
            </a:r>
            <a:r>
              <a:rPr lang="en-US" dirty="0"/>
              <a:t> A software company has discovered a security vulnerability in its product.</a:t>
            </a:r>
          </a:p>
          <a:p>
            <a:r>
              <a:rPr lang="en-US" dirty="0"/>
              <a:t>Each group must prepare a brief communication (2–3 minutes) for one audience:</a:t>
            </a:r>
          </a:p>
          <a:p>
            <a:r>
              <a:rPr lang="en-US" b="1" dirty="0"/>
              <a:t>Group 1:</a:t>
            </a:r>
            <a:r>
              <a:rPr lang="en-US" dirty="0"/>
              <a:t> Customers </a:t>
            </a:r>
          </a:p>
          <a:p>
            <a:r>
              <a:rPr lang="en-US" b="1" dirty="0"/>
              <a:t>Group 2:</a:t>
            </a:r>
            <a:r>
              <a:rPr lang="en-US" dirty="0"/>
              <a:t> Company CEO </a:t>
            </a:r>
          </a:p>
          <a:p>
            <a:r>
              <a:rPr lang="en-US" b="1" dirty="0"/>
              <a:t>Group 3:</a:t>
            </a:r>
            <a:r>
              <a:rPr lang="en-US" dirty="0"/>
              <a:t> Software Engineers </a:t>
            </a:r>
          </a:p>
          <a:p>
            <a:r>
              <a:rPr lang="en-US" b="1" dirty="0"/>
              <a:t>Group 4:</a:t>
            </a:r>
            <a:r>
              <a:rPr lang="en-US" dirty="0"/>
              <a:t> News Media </a:t>
            </a:r>
          </a:p>
          <a:p>
            <a:r>
              <a:rPr lang="en-US" b="1" dirty="0"/>
              <a:t>Discussion Questions:</a:t>
            </a:r>
            <a:endParaRPr lang="en-US" dirty="0"/>
          </a:p>
          <a:p>
            <a:r>
              <a:rPr lang="en-US" dirty="0"/>
              <a:t>What information did you include or omit? </a:t>
            </a:r>
          </a:p>
          <a:p>
            <a:r>
              <a:rPr lang="en-US" dirty="0"/>
              <a:t>How did your tone change? </a:t>
            </a:r>
          </a:p>
          <a:p>
            <a:r>
              <a:rPr lang="en-US" dirty="0"/>
              <a:t>What technical terms did you simplify? </a:t>
            </a:r>
          </a:p>
          <a:p>
            <a:r>
              <a:rPr lang="en-US" dirty="0"/>
              <a:t>Which communication channel would you use (email, press release, meeting, etc.)? 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25E7E-88DB-F928-6EDB-232BAE8933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7613" y="6331776"/>
            <a:ext cx="9482562" cy="432000"/>
          </a:xfrm>
        </p:spPr>
        <p:txBody>
          <a:bodyPr/>
          <a:lstStyle/>
          <a:p>
            <a:r>
              <a:rPr lang="en-US" sz="2400" dirty="0"/>
              <a:t>This activity reinforces that </a:t>
            </a:r>
            <a:r>
              <a:rPr lang="en-US" sz="2400" b="1" dirty="0"/>
              <a:t>effective communication is audience-centered, not message-centered</a:t>
            </a:r>
            <a:r>
              <a:rPr lang="en-US" sz="2400" dirty="0"/>
              <a:t>.</a:t>
            </a:r>
          </a:p>
          <a:p>
            <a:r>
              <a:rPr lang="en-US" noProof="0" dirty="0"/>
              <a:t>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295CC-71B5-929A-B3E8-8A91125E6AA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081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hand clapping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0_Bright business presentation_AAS_v3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245E38-7A2C-4D38-96FA-24EAC5F220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90D0D0-7C1D-47FF-A2F0-9937AA567A3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Bright business presentation</Template>
  <TotalTime>1551</TotalTime>
  <Words>818</Words>
  <Application>Microsoft Office PowerPoint</Application>
  <PresentationFormat>Widescreen</PresentationFormat>
  <Paragraphs>175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Candara</vt:lpstr>
      <vt:lpstr>Corbel</vt:lpstr>
      <vt:lpstr>Times New Roman</vt:lpstr>
      <vt:lpstr>Custom</vt:lpstr>
      <vt:lpstr>Strategic Communication: Tailoring Messages for Diverse Audiences</vt:lpstr>
      <vt:lpstr>OBJECTIVES</vt:lpstr>
      <vt:lpstr> What is Strategic Communication? </vt:lpstr>
      <vt:lpstr>Example</vt:lpstr>
      <vt:lpstr> Engineers communicate with </vt:lpstr>
      <vt:lpstr> Same information. Different audience. </vt:lpstr>
      <vt:lpstr> Same information. Different communication. </vt:lpstr>
      <vt:lpstr> Know Your Audience </vt:lpstr>
      <vt:lpstr> Tailoring Your Message </vt:lpstr>
      <vt:lpstr> Cultural Context </vt:lpstr>
      <vt:lpstr> Classroom Discussion </vt:lpstr>
      <vt:lpstr>  Generational Context  Different generations often communicate differently.</vt:lpstr>
      <vt:lpstr> Example </vt:lpstr>
      <vt:lpstr> Barriers to Strategic Communication </vt:lpstr>
      <vt:lpstr> Classroom Activity (15–20 minutes)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MARTHA KARUNAKAR</dc:creator>
  <cp:lastModifiedBy>MARTHA KARUNAKAR</cp:lastModifiedBy>
  <cp:revision>16</cp:revision>
  <dcterms:created xsi:type="dcterms:W3CDTF">2026-06-23T08:08:01Z</dcterms:created>
  <dcterms:modified xsi:type="dcterms:W3CDTF">2026-06-24T09:59:31Z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