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6"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3" r:id="rId19"/>
    <p:sldId id="302" r:id="rId20"/>
    <p:sldId id="304" r:id="rId21"/>
    <p:sldId id="30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595" autoAdjust="0"/>
  </p:normalViewPr>
  <p:slideViewPr>
    <p:cSldViewPr snapToGrid="0">
      <p:cViewPr varScale="1">
        <p:scale>
          <a:sx n="77" d="100"/>
          <a:sy n="77" d="100"/>
        </p:scale>
        <p:origin x="232" y="60"/>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9/21/2026</a:t>
            </a:fld>
            <a:endParaRPr lang="en-US"/>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a:p>
        </p:txBody>
      </p:sp>
    </p:spTree>
    <p:extLst>
      <p:ext uri="{BB962C8B-B14F-4D97-AF65-F5344CB8AC3E}">
        <p14:creationId xmlns:p14="http://schemas.microsoft.com/office/powerpoint/2010/main" val="177737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9/21/2026</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9/21/2026</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9/21/2026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9/21/2026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9/21/2026</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9/21/2026</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9/21/2026</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9/21/2026</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9/21/2026</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9/21/2026</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9/21/2026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C9C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p:txBody>
          <a:bodyPr>
            <a:normAutofit fontScale="90000"/>
          </a:bodyPr>
          <a:lstStyle/>
          <a:p>
            <a:r>
              <a:rPr lang="en-US" sz="4000" b="1" dirty="0" err="1">
                <a:latin typeface="Times New Roman" panose="02020603050405020304" pitchFamily="18" charset="0"/>
                <a:cs typeface="Times New Roman" panose="02020603050405020304" pitchFamily="18" charset="0"/>
              </a:rPr>
              <a:t>Behavioural</a:t>
            </a:r>
            <a:r>
              <a:rPr lang="en-US" sz="4000" b="1" dirty="0">
                <a:latin typeface="Times New Roman" panose="02020603050405020304" pitchFamily="18" charset="0"/>
                <a:cs typeface="Times New Roman" panose="02020603050405020304" pitchFamily="18" charset="0"/>
              </a:rPr>
              <a:t> and Situational Interviewing Using the STAR Method </a:t>
            </a:r>
          </a:p>
        </p:txBody>
      </p:sp>
      <p:sp>
        <p:nvSpPr>
          <p:cNvPr id="18" name="Text Placeholder 17">
            <a:extLst>
              <a:ext uri="{FF2B5EF4-FFF2-40B4-BE49-F238E27FC236}">
                <a16:creationId xmlns:a16="http://schemas.microsoft.com/office/drawing/2014/main" id="{27A48A35-E5E4-4A5F-9F91-BAEA4F5DF21D}"/>
              </a:ext>
            </a:extLst>
          </p:cNvPr>
          <p:cNvSpPr>
            <a:spLocks noGrp="1"/>
          </p:cNvSpPr>
          <p:nvPr>
            <p:ph type="body" sz="quarter" idx="12"/>
          </p:nvPr>
        </p:nvSpPr>
        <p:spPr/>
        <p:txBody>
          <a:bodyPr/>
          <a:lstStyle/>
          <a:p>
            <a:r>
              <a:rPr lang="en-US" dirty="0"/>
              <a:t>Martha Karunakar</a:t>
            </a:r>
          </a:p>
          <a:p>
            <a:r>
              <a:rPr lang="en-US" dirty="0"/>
              <a:t>22.09.2026</a:t>
            </a:r>
          </a:p>
        </p:txBody>
      </p:sp>
      <p:sp>
        <p:nvSpPr>
          <p:cNvPr id="5" name="Picture Placeholder 2">
            <a:extLst>
              <a:ext uri="{FF2B5EF4-FFF2-40B4-BE49-F238E27FC236}">
                <a16:creationId xmlns:a16="http://schemas.microsoft.com/office/drawing/2014/main" id="{7684CBEA-4930-283E-F524-A18144A0B90D}"/>
              </a:ext>
            </a:extLst>
          </p:cNvPr>
          <p:cNvSpPr txBox="1">
            <a:spLocks/>
          </p:cNvSpPr>
          <p:nvPr/>
        </p:nvSpPr>
        <p:spPr>
          <a:xfrm>
            <a:off x="6373813" y="152400"/>
            <a:ext cx="4941887" cy="5726113"/>
          </a:xfrm>
          <a:prstGeom prst="rect">
            <a:avLst/>
          </a:prstGeom>
        </p:spPr>
      </p:sp>
      <p:pic>
        <p:nvPicPr>
          <p:cNvPr id="10244" name="Picture 4" descr="Interviews Vector Art &amp; Graphics | freevector.com">
            <a:extLst>
              <a:ext uri="{FF2B5EF4-FFF2-40B4-BE49-F238E27FC236}">
                <a16:creationId xmlns:a16="http://schemas.microsoft.com/office/drawing/2014/main" id="{B5856526-FD88-D10D-E25B-26CAD3D3F3E1}"/>
              </a:ext>
            </a:extLst>
          </p:cNvPr>
          <p:cNvPicPr>
            <a:picLocks noGrp="1" noChangeAspect="1" noChangeArrowheads="1"/>
          </p:cNvPicPr>
          <p:nvPr>
            <p:ph type="pic" sz="quarter" idx="11"/>
          </p:nvPr>
        </p:nvPicPr>
        <p:blipFill>
          <a:blip r:embed="rId3">
            <a:extLst>
              <a:ext uri="{28A0092B-C50C-407E-A947-70E740481C1C}">
                <a14:useLocalDpi xmlns:a14="http://schemas.microsoft.com/office/drawing/2010/main" val="0"/>
              </a:ext>
            </a:extLst>
          </a:blip>
          <a:srcRect l="18698" r="18698"/>
          <a:stretch>
            <a:fillRect/>
          </a:stretch>
        </p:blipFill>
        <p:spPr bwMode="auto">
          <a:xfrm>
            <a:off x="6651627" y="565943"/>
            <a:ext cx="4941887" cy="5726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B4E75E-A9C9-698C-6B7E-7B62D91F16A0}"/>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64C1B526-C562-88F0-1628-310829A2ABA1}"/>
              </a:ext>
            </a:extLst>
          </p:cNvPr>
          <p:cNvSpPr>
            <a:spLocks noGrp="1"/>
          </p:cNvSpPr>
          <p:nvPr>
            <p:ph type="sldNum" sz="quarter" idx="4"/>
          </p:nvPr>
        </p:nvSpPr>
        <p:spPr/>
        <p:txBody>
          <a:bodyPr/>
          <a:lstStyle/>
          <a:p>
            <a:fld id="{294A09A9-5501-47C1-A89A-A340965A2BE2}" type="slidenum">
              <a:rPr lang="en-US" smtClean="0"/>
              <a:pPr/>
              <a:t>2</a:t>
            </a:fld>
            <a:endParaRPr lang="en-US" dirty="0"/>
          </a:p>
        </p:txBody>
      </p:sp>
      <p:sp>
        <p:nvSpPr>
          <p:cNvPr id="4" name="Content Placeholder 3">
            <a:extLst>
              <a:ext uri="{FF2B5EF4-FFF2-40B4-BE49-F238E27FC236}">
                <a16:creationId xmlns:a16="http://schemas.microsoft.com/office/drawing/2014/main" id="{96C21C83-FD50-A6AD-4EAD-899DBCC4468B}"/>
              </a:ext>
            </a:extLst>
          </p:cNvPr>
          <p:cNvSpPr>
            <a:spLocks noGrp="1"/>
          </p:cNvSpPr>
          <p:nvPr>
            <p:ph sz="quarter" idx="11"/>
          </p:nvPr>
        </p:nvSpPr>
        <p:spPr/>
        <p:txBody>
          <a:bodyPr>
            <a:normAutofit fontScale="77500" lnSpcReduction="20000"/>
          </a:bodyPr>
          <a:lstStyle/>
          <a:p>
            <a:r>
              <a:rPr lang="en-US" b="1" dirty="0" err="1">
                <a:latin typeface="Times New Roman" panose="02020603050405020304" pitchFamily="18" charset="0"/>
                <a:cs typeface="Times New Roman" panose="02020603050405020304" pitchFamily="18" charset="0"/>
              </a:rPr>
              <a:t>Behavioural</a:t>
            </a:r>
            <a:r>
              <a:rPr lang="en-US" b="1" dirty="0">
                <a:latin typeface="Times New Roman" panose="02020603050405020304" pitchFamily="18" charset="0"/>
                <a:cs typeface="Times New Roman" panose="02020603050405020304" pitchFamily="18" charset="0"/>
              </a:rPr>
              <a:t> and situational interviews</a:t>
            </a:r>
            <a:r>
              <a:rPr lang="en-US" dirty="0">
                <a:latin typeface="Times New Roman" panose="02020603050405020304" pitchFamily="18" charset="0"/>
                <a:cs typeface="Times New Roman" panose="02020603050405020304" pitchFamily="18" charset="0"/>
              </a:rPr>
              <a:t> are structured interview techniques used to assess how candidates respond to workplace challenges.</a:t>
            </a:r>
          </a:p>
          <a:p>
            <a:r>
              <a:rPr lang="en-US" dirty="0">
                <a:latin typeface="Times New Roman" panose="02020603050405020304" pitchFamily="18" charset="0"/>
                <a:cs typeface="Times New Roman" panose="02020603050405020304" pitchFamily="18" charset="0"/>
              </a:rPr>
              <a:t>Instead of focusing only on academic qualifications or technical knowledge, these approaches examine a candidate’s past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decision-making, problem-solving, interpersonal skills, and ability to handle realistic workplace situations.</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questions: Ask about what you </a:t>
            </a:r>
            <a:r>
              <a:rPr lang="en-US" b="1" dirty="0">
                <a:latin typeface="Times New Roman" panose="02020603050405020304" pitchFamily="18" charset="0"/>
                <a:cs typeface="Times New Roman" panose="02020603050405020304" pitchFamily="18" charset="0"/>
              </a:rPr>
              <a:t>have done</a:t>
            </a:r>
            <a:r>
              <a:rPr lang="en-US" dirty="0">
                <a:latin typeface="Times New Roman" panose="02020603050405020304" pitchFamily="18" charset="0"/>
                <a:cs typeface="Times New Roman" panose="02020603050405020304" pitchFamily="18" charset="0"/>
              </a:rPr>
              <a:t> in a real situation.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Situational questions: Ask what you </a:t>
            </a:r>
            <a:r>
              <a:rPr lang="en-US" b="1" dirty="0">
                <a:latin typeface="Times New Roman" panose="02020603050405020304" pitchFamily="18" charset="0"/>
                <a:cs typeface="Times New Roman" panose="02020603050405020304" pitchFamily="18" charset="0"/>
              </a:rPr>
              <a:t>would do</a:t>
            </a:r>
            <a:r>
              <a:rPr lang="en-US" dirty="0">
                <a:latin typeface="Times New Roman" panose="02020603050405020304" pitchFamily="18" charset="0"/>
                <a:cs typeface="Times New Roman" panose="02020603050405020304" pitchFamily="18" charset="0"/>
              </a:rPr>
              <a:t> in a hypothetical situation. </a:t>
            </a:r>
          </a:p>
          <a:p>
            <a:r>
              <a:rPr lang="en-US" dirty="0">
                <a:latin typeface="Times New Roman" panose="02020603050405020304" pitchFamily="18" charset="0"/>
                <a:cs typeface="Times New Roman" panose="02020603050405020304" pitchFamily="18" charset="0"/>
              </a:rPr>
              <a:t>Both approaches help interviewers assess competencies that may not be evident from a resume alone.</a:t>
            </a:r>
          </a:p>
          <a:p>
            <a:endParaRPr lang="en-US" dirty="0">
              <a:latin typeface="Times New Roman" panose="02020603050405020304" pitchFamily="18" charset="0"/>
              <a:cs typeface="Times New Roman" panose="02020603050405020304" pitchFamily="18" charset="0"/>
            </a:endParaRPr>
          </a:p>
          <a:p>
            <a:endParaRPr lang="en-IN" dirty="0"/>
          </a:p>
        </p:txBody>
      </p:sp>
      <p:sp>
        <p:nvSpPr>
          <p:cNvPr id="5" name="Title 4">
            <a:extLst>
              <a:ext uri="{FF2B5EF4-FFF2-40B4-BE49-F238E27FC236}">
                <a16:creationId xmlns:a16="http://schemas.microsoft.com/office/drawing/2014/main" id="{6BF0E07B-DDB4-5F4B-355F-95FE132AD3D6}"/>
              </a:ext>
            </a:extLst>
          </p:cNvPr>
          <p:cNvSpPr>
            <a:spLocks noGrp="1"/>
          </p:cNvSpPr>
          <p:nvPr>
            <p:ph type="title"/>
          </p:nvPr>
        </p:nvSpPr>
        <p:spPr/>
        <p:txBody>
          <a:bodyPr/>
          <a:lstStyle/>
          <a:p>
            <a:r>
              <a:rPr lang="en-US" b="1" dirty="0"/>
              <a:t>Introduction</a:t>
            </a:r>
            <a:br>
              <a:rPr lang="en-US" b="1" dirty="0"/>
            </a:br>
            <a:endParaRPr lang="en-IN" dirty="0"/>
          </a:p>
        </p:txBody>
      </p:sp>
    </p:spTree>
    <p:extLst>
      <p:ext uri="{BB962C8B-B14F-4D97-AF65-F5344CB8AC3E}">
        <p14:creationId xmlns:p14="http://schemas.microsoft.com/office/powerpoint/2010/main" val="2231506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0AE586-C14F-8E72-A709-65533034D160}"/>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37C42C4E-6234-0589-0ADA-090C9F4CCA81}"/>
              </a:ext>
            </a:extLst>
          </p:cNvPr>
          <p:cNvSpPr>
            <a:spLocks noGrp="1"/>
          </p:cNvSpPr>
          <p:nvPr>
            <p:ph type="sldNum" sz="quarter" idx="4"/>
          </p:nvPr>
        </p:nvSpPr>
        <p:spPr/>
        <p:txBody>
          <a:bodyPr/>
          <a:lstStyle/>
          <a:p>
            <a:fld id="{294A09A9-5501-47C1-A89A-A340965A2BE2}" type="slidenum">
              <a:rPr lang="en-US" smtClean="0"/>
              <a:pPr/>
              <a:t>3</a:t>
            </a:fld>
            <a:endParaRPr lang="en-US" dirty="0"/>
          </a:p>
        </p:txBody>
      </p:sp>
      <p:sp>
        <p:nvSpPr>
          <p:cNvPr id="4" name="Content Placeholder 3">
            <a:extLst>
              <a:ext uri="{FF2B5EF4-FFF2-40B4-BE49-F238E27FC236}">
                <a16:creationId xmlns:a16="http://schemas.microsoft.com/office/drawing/2014/main" id="{CE708E83-6FB5-03EF-4DAE-20E008FD9C15}"/>
              </a:ext>
            </a:extLst>
          </p:cNvPr>
          <p:cNvSpPr>
            <a:spLocks noGrp="1"/>
          </p:cNvSpPr>
          <p:nvPr>
            <p:ph sz="quarter" idx="11"/>
          </p:nvPr>
        </p:nvSpPr>
        <p:spPr/>
        <p:txBody>
          <a:bodyPr>
            <a:normAutofit fontScale="70000" lnSpcReduction="20000"/>
          </a:bodyPr>
          <a:lstStyle/>
          <a:p>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interviewing is based on the principle that past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can provide evidence of how a person may approach similar situations in the future.</a:t>
            </a:r>
          </a:p>
          <a:p>
            <a:r>
              <a:rPr lang="en-US" b="1" dirty="0">
                <a:latin typeface="Times New Roman" panose="02020603050405020304" pitchFamily="18" charset="0"/>
                <a:cs typeface="Times New Roman" panose="02020603050405020304" pitchFamily="18" charset="0"/>
              </a:rPr>
              <a:t>Typical </a:t>
            </a:r>
            <a:r>
              <a:rPr lang="en-US" b="1" dirty="0" err="1">
                <a:latin typeface="Times New Roman" panose="02020603050405020304" pitchFamily="18" charset="0"/>
                <a:cs typeface="Times New Roman" panose="02020603050405020304" pitchFamily="18" charset="0"/>
              </a:rPr>
              <a:t>behavioural</a:t>
            </a:r>
            <a:r>
              <a:rPr lang="en-US" b="1" dirty="0">
                <a:latin typeface="Times New Roman" panose="02020603050405020304" pitchFamily="18" charset="0"/>
                <a:cs typeface="Times New Roman" panose="02020603050405020304" pitchFamily="18" charset="0"/>
              </a:rPr>
              <a:t> questions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“Tell me about a time when you had to resolve a conflict within your team.”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“Describe a situation where you failed to meet a deadline.”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“Tell me about a time when you had to persuade someone to accept your idea.”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“Describe a difficult decision you had to make.”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“Give an example of a time when you demonstrated leadership.” </a:t>
            </a:r>
          </a:p>
          <a:p>
            <a:r>
              <a:rPr lang="en-US" dirty="0">
                <a:latin typeface="Times New Roman" panose="02020603050405020304" pitchFamily="18" charset="0"/>
                <a:cs typeface="Times New Roman" panose="02020603050405020304" pitchFamily="18" charset="0"/>
              </a:rPr>
              <a:t>These questions require candidates to provide </a:t>
            </a:r>
            <a:r>
              <a:rPr lang="en-US" i="1" dirty="0">
                <a:latin typeface="Times New Roman" panose="02020603050405020304" pitchFamily="18" charset="0"/>
                <a:cs typeface="Times New Roman" panose="02020603050405020304" pitchFamily="18" charset="0"/>
              </a:rPr>
              <a:t>specific examples rather than general statements</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D472E2F5-A6A1-97A8-2A42-D3807D0870A5}"/>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Interviewing</a:t>
            </a:r>
            <a:endParaRPr lang="en-IN" dirty="0"/>
          </a:p>
        </p:txBody>
      </p:sp>
    </p:spTree>
    <p:extLst>
      <p:ext uri="{BB962C8B-B14F-4D97-AF65-F5344CB8AC3E}">
        <p14:creationId xmlns:p14="http://schemas.microsoft.com/office/powerpoint/2010/main" val="381560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0BBA47-7530-A759-DBFA-4CA182E918EA}"/>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F29EF05F-B144-FFBA-FA63-16A8C2E4D6EB}"/>
              </a:ext>
            </a:extLst>
          </p:cNvPr>
          <p:cNvSpPr>
            <a:spLocks noGrp="1"/>
          </p:cNvSpPr>
          <p:nvPr>
            <p:ph type="sldNum" sz="quarter" idx="4"/>
          </p:nvPr>
        </p:nvSpPr>
        <p:spPr/>
        <p:txBody>
          <a:bodyPr/>
          <a:lstStyle/>
          <a:p>
            <a:fld id="{294A09A9-5501-47C1-A89A-A340965A2BE2}" type="slidenum">
              <a:rPr lang="en-US" smtClean="0"/>
              <a:pPr/>
              <a:t>4</a:t>
            </a:fld>
            <a:endParaRPr lang="en-US" dirty="0"/>
          </a:p>
        </p:txBody>
      </p:sp>
      <p:graphicFrame>
        <p:nvGraphicFramePr>
          <p:cNvPr id="6" name="Content Placeholder 5">
            <a:extLst>
              <a:ext uri="{FF2B5EF4-FFF2-40B4-BE49-F238E27FC236}">
                <a16:creationId xmlns:a16="http://schemas.microsoft.com/office/drawing/2014/main" id="{0BE5CC79-0236-1B7D-6B62-3EBF63C4B942}"/>
              </a:ext>
            </a:extLst>
          </p:cNvPr>
          <p:cNvGraphicFramePr>
            <a:graphicFrameLocks noGrp="1"/>
          </p:cNvGraphicFramePr>
          <p:nvPr>
            <p:ph sz="quarter" idx="11"/>
            <p:extLst>
              <p:ext uri="{D42A27DB-BD31-4B8C-83A1-F6EECF244321}">
                <p14:modId xmlns:p14="http://schemas.microsoft.com/office/powerpoint/2010/main" val="636332779"/>
              </p:ext>
            </p:extLst>
          </p:nvPr>
        </p:nvGraphicFramePr>
        <p:xfrm>
          <a:off x="856211" y="1724963"/>
          <a:ext cx="10497588" cy="4660542"/>
        </p:xfrm>
        <a:graphic>
          <a:graphicData uri="http://schemas.openxmlformats.org/drawingml/2006/table">
            <a:tbl>
              <a:tblPr/>
              <a:tblGrid>
                <a:gridCol w="5247726">
                  <a:extLst>
                    <a:ext uri="{9D8B030D-6E8A-4147-A177-3AD203B41FA5}">
                      <a16:colId xmlns:a16="http://schemas.microsoft.com/office/drawing/2014/main" val="3400822824"/>
                    </a:ext>
                  </a:extLst>
                </a:gridCol>
                <a:gridCol w="5249862">
                  <a:extLst>
                    <a:ext uri="{9D8B030D-6E8A-4147-A177-3AD203B41FA5}">
                      <a16:colId xmlns:a16="http://schemas.microsoft.com/office/drawing/2014/main" val="595577357"/>
                    </a:ext>
                  </a:extLst>
                </a:gridCol>
              </a:tblGrid>
              <a:tr h="365208">
                <a:tc>
                  <a:txBody>
                    <a:bodyPr/>
                    <a:lstStyle/>
                    <a:p>
                      <a:r>
                        <a:rPr lang="en-IN" sz="1800" b="1" dirty="0">
                          <a:latin typeface="Times New Roman" panose="02020603050405020304" pitchFamily="18" charset="0"/>
                          <a:cs typeface="Times New Roman" panose="02020603050405020304" pitchFamily="18" charset="0"/>
                        </a:rPr>
                        <a:t>Competency</a:t>
                      </a:r>
                    </a:p>
                  </a:txBody>
                  <a:tcPr marL="91302" marR="91302" marT="45651" marB="45651" anchor="ctr">
                    <a:lnL>
                      <a:noFill/>
                    </a:lnL>
                    <a:lnR>
                      <a:noFill/>
                    </a:lnR>
                    <a:lnT>
                      <a:noFill/>
                    </a:lnT>
                    <a:lnB>
                      <a:noFill/>
                    </a:lnB>
                  </a:tcPr>
                </a:tc>
                <a:tc>
                  <a:txBody>
                    <a:bodyPr/>
                    <a:lstStyle/>
                    <a:p>
                      <a:r>
                        <a:rPr lang="en-IN" sz="1800" b="1" dirty="0">
                          <a:latin typeface="Times New Roman" panose="02020603050405020304" pitchFamily="18" charset="0"/>
                          <a:cs typeface="Times New Roman" panose="02020603050405020304" pitchFamily="18" charset="0"/>
                        </a:rPr>
                        <a:t>Possible question</a:t>
                      </a:r>
                    </a:p>
                  </a:txBody>
                  <a:tcPr marL="91302" marR="91302" marT="45651" marB="45651" anchor="ctr">
                    <a:lnL>
                      <a:noFill/>
                    </a:lnL>
                    <a:lnR>
                      <a:noFill/>
                    </a:lnR>
                    <a:lnT>
                      <a:noFill/>
                    </a:lnT>
                    <a:lnB>
                      <a:noFill/>
                    </a:lnB>
                  </a:tcPr>
                </a:tc>
                <a:extLst>
                  <a:ext uri="{0D108BD9-81ED-4DB2-BD59-A6C34878D82A}">
                    <a16:rowId xmlns:a16="http://schemas.microsoft.com/office/drawing/2014/main" val="3092259778"/>
                  </a:ext>
                </a:extLst>
              </a:tr>
              <a:tr h="365208">
                <a:tc>
                  <a:txBody>
                    <a:bodyPr/>
                    <a:lstStyle/>
                    <a:p>
                      <a:r>
                        <a:rPr lang="en-IN" sz="1800">
                          <a:latin typeface="Times New Roman" panose="02020603050405020304" pitchFamily="18" charset="0"/>
                          <a:cs typeface="Times New Roman" panose="02020603050405020304" pitchFamily="18" charset="0"/>
                        </a:rPr>
                        <a:t>Leadership</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“Tell me about a time you led a team.”</a:t>
                      </a:r>
                    </a:p>
                  </a:txBody>
                  <a:tcPr marL="91302" marR="91302" marT="45651" marB="45651" anchor="ctr">
                    <a:lnL>
                      <a:noFill/>
                    </a:lnL>
                    <a:lnR>
                      <a:noFill/>
                    </a:lnR>
                    <a:lnT>
                      <a:noFill/>
                    </a:lnT>
                    <a:lnB>
                      <a:noFill/>
                    </a:lnB>
                  </a:tcPr>
                </a:tc>
                <a:extLst>
                  <a:ext uri="{0D108BD9-81ED-4DB2-BD59-A6C34878D82A}">
                    <a16:rowId xmlns:a16="http://schemas.microsoft.com/office/drawing/2014/main" val="1754185984"/>
                  </a:ext>
                </a:extLst>
              </a:tr>
              <a:tr h="365208">
                <a:tc>
                  <a:txBody>
                    <a:bodyPr/>
                    <a:lstStyle/>
                    <a:p>
                      <a:r>
                        <a:rPr lang="en-IN" sz="1800" dirty="0">
                          <a:latin typeface="Times New Roman" panose="02020603050405020304" pitchFamily="18" charset="0"/>
                          <a:cs typeface="Times New Roman" panose="02020603050405020304" pitchFamily="18" charset="0"/>
                        </a:rPr>
                        <a:t>Teamwork</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“Describe a disagreement within your team.”</a:t>
                      </a:r>
                    </a:p>
                  </a:txBody>
                  <a:tcPr marL="91302" marR="91302" marT="45651" marB="45651" anchor="ctr">
                    <a:lnL>
                      <a:noFill/>
                    </a:lnL>
                    <a:lnR>
                      <a:noFill/>
                    </a:lnR>
                    <a:lnT>
                      <a:noFill/>
                    </a:lnT>
                    <a:lnB>
                      <a:noFill/>
                    </a:lnB>
                  </a:tcPr>
                </a:tc>
                <a:extLst>
                  <a:ext uri="{0D108BD9-81ED-4DB2-BD59-A6C34878D82A}">
                    <a16:rowId xmlns:a16="http://schemas.microsoft.com/office/drawing/2014/main" val="775344151"/>
                  </a:ext>
                </a:extLst>
              </a:tr>
              <a:tr h="639114">
                <a:tc>
                  <a:txBody>
                    <a:bodyPr/>
                    <a:lstStyle/>
                    <a:p>
                      <a:r>
                        <a:rPr lang="en-IN" sz="1800">
                          <a:latin typeface="Times New Roman" panose="02020603050405020304" pitchFamily="18" charset="0"/>
                          <a:cs typeface="Times New Roman" panose="02020603050405020304" pitchFamily="18" charset="0"/>
                        </a:rPr>
                        <a:t>Problem-solving</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“Tell me about a difficult problem you solved.”</a:t>
                      </a:r>
                    </a:p>
                  </a:txBody>
                  <a:tcPr marL="91302" marR="91302" marT="45651" marB="45651" anchor="ctr">
                    <a:lnL>
                      <a:noFill/>
                    </a:lnL>
                    <a:lnR>
                      <a:noFill/>
                    </a:lnR>
                    <a:lnT>
                      <a:noFill/>
                    </a:lnT>
                    <a:lnB>
                      <a:noFill/>
                    </a:lnB>
                  </a:tcPr>
                </a:tc>
                <a:extLst>
                  <a:ext uri="{0D108BD9-81ED-4DB2-BD59-A6C34878D82A}">
                    <a16:rowId xmlns:a16="http://schemas.microsoft.com/office/drawing/2014/main" val="4104855574"/>
                  </a:ext>
                </a:extLst>
              </a:tr>
              <a:tr h="639114">
                <a:tc>
                  <a:txBody>
                    <a:bodyPr/>
                    <a:lstStyle/>
                    <a:p>
                      <a:r>
                        <a:rPr lang="en-IN" sz="1800" dirty="0">
                          <a:latin typeface="Times New Roman" panose="02020603050405020304" pitchFamily="18" charset="0"/>
                          <a:cs typeface="Times New Roman" panose="02020603050405020304" pitchFamily="18" charset="0"/>
                        </a:rPr>
                        <a:t>Communication</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“Describe a time you had to communicate difficult information.”</a:t>
                      </a:r>
                    </a:p>
                  </a:txBody>
                  <a:tcPr marL="91302" marR="91302" marT="45651" marB="45651" anchor="ctr">
                    <a:lnL>
                      <a:noFill/>
                    </a:lnL>
                    <a:lnR>
                      <a:noFill/>
                    </a:lnR>
                    <a:lnT>
                      <a:noFill/>
                    </a:lnT>
                    <a:lnB>
                      <a:noFill/>
                    </a:lnB>
                  </a:tcPr>
                </a:tc>
                <a:extLst>
                  <a:ext uri="{0D108BD9-81ED-4DB2-BD59-A6C34878D82A}">
                    <a16:rowId xmlns:a16="http://schemas.microsoft.com/office/drawing/2014/main" val="1616569857"/>
                  </a:ext>
                </a:extLst>
              </a:tr>
              <a:tr h="639114">
                <a:tc>
                  <a:txBody>
                    <a:bodyPr/>
                    <a:lstStyle/>
                    <a:p>
                      <a:r>
                        <a:rPr lang="en-IN" sz="1800">
                          <a:latin typeface="Times New Roman" panose="02020603050405020304" pitchFamily="18" charset="0"/>
                          <a:cs typeface="Times New Roman" panose="02020603050405020304" pitchFamily="18" charset="0"/>
                        </a:rPr>
                        <a:t>Adaptability</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“Tell me about a time you had to adapt to unexpected change.”</a:t>
                      </a:r>
                    </a:p>
                  </a:txBody>
                  <a:tcPr marL="91302" marR="91302" marT="45651" marB="45651" anchor="ctr">
                    <a:lnL>
                      <a:noFill/>
                    </a:lnL>
                    <a:lnR>
                      <a:noFill/>
                    </a:lnR>
                    <a:lnT>
                      <a:noFill/>
                    </a:lnT>
                    <a:lnB>
                      <a:noFill/>
                    </a:lnB>
                  </a:tcPr>
                </a:tc>
                <a:extLst>
                  <a:ext uri="{0D108BD9-81ED-4DB2-BD59-A6C34878D82A}">
                    <a16:rowId xmlns:a16="http://schemas.microsoft.com/office/drawing/2014/main" val="2183250318"/>
                  </a:ext>
                </a:extLst>
              </a:tr>
              <a:tr h="639114">
                <a:tc>
                  <a:txBody>
                    <a:bodyPr/>
                    <a:lstStyle/>
                    <a:p>
                      <a:r>
                        <a:rPr lang="en-IN" sz="1800">
                          <a:latin typeface="Times New Roman" panose="02020603050405020304" pitchFamily="18" charset="0"/>
                          <a:cs typeface="Times New Roman" panose="02020603050405020304" pitchFamily="18" charset="0"/>
                        </a:rPr>
                        <a:t>Time management</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“Describe a situation in which you managed competing deadlines.”</a:t>
                      </a:r>
                    </a:p>
                  </a:txBody>
                  <a:tcPr marL="91302" marR="91302" marT="45651" marB="45651" anchor="ctr">
                    <a:lnL>
                      <a:noFill/>
                    </a:lnL>
                    <a:lnR>
                      <a:noFill/>
                    </a:lnR>
                    <a:lnT>
                      <a:noFill/>
                    </a:lnT>
                    <a:lnB>
                      <a:noFill/>
                    </a:lnB>
                  </a:tcPr>
                </a:tc>
                <a:extLst>
                  <a:ext uri="{0D108BD9-81ED-4DB2-BD59-A6C34878D82A}">
                    <a16:rowId xmlns:a16="http://schemas.microsoft.com/office/drawing/2014/main" val="3264735325"/>
                  </a:ext>
                </a:extLst>
              </a:tr>
              <a:tr h="639114">
                <a:tc>
                  <a:txBody>
                    <a:bodyPr/>
                    <a:lstStyle/>
                    <a:p>
                      <a:r>
                        <a:rPr lang="en-IN" sz="1800">
                          <a:latin typeface="Times New Roman" panose="02020603050405020304" pitchFamily="18" charset="0"/>
                          <a:cs typeface="Times New Roman" panose="02020603050405020304" pitchFamily="18" charset="0"/>
                        </a:rPr>
                        <a:t>Conflict management</a:t>
                      </a:r>
                    </a:p>
                  </a:txBody>
                  <a:tcPr marL="91302" marR="91302" marT="45651" marB="4565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“Tell me about a conflict you successfully resolved.”</a:t>
                      </a:r>
                    </a:p>
                  </a:txBody>
                  <a:tcPr marL="91302" marR="91302" marT="45651" marB="45651" anchor="ctr">
                    <a:lnL>
                      <a:noFill/>
                    </a:lnL>
                    <a:lnR>
                      <a:noFill/>
                    </a:lnR>
                    <a:lnT>
                      <a:noFill/>
                    </a:lnT>
                    <a:lnB>
                      <a:noFill/>
                    </a:lnB>
                  </a:tcPr>
                </a:tc>
                <a:extLst>
                  <a:ext uri="{0D108BD9-81ED-4DB2-BD59-A6C34878D82A}">
                    <a16:rowId xmlns:a16="http://schemas.microsoft.com/office/drawing/2014/main" val="2375542232"/>
                  </a:ext>
                </a:extLst>
              </a:tr>
              <a:tr h="365208">
                <a:tc>
                  <a:txBody>
                    <a:bodyPr/>
                    <a:lstStyle/>
                    <a:p>
                      <a:r>
                        <a:rPr lang="en-IN" sz="1800">
                          <a:latin typeface="Times New Roman" panose="02020603050405020304" pitchFamily="18" charset="0"/>
                          <a:cs typeface="Times New Roman" panose="02020603050405020304" pitchFamily="18" charset="0"/>
                        </a:rPr>
                        <a:t>Decision-making</a:t>
                      </a:r>
                    </a:p>
                  </a:txBody>
                  <a:tcPr marL="91302" marR="91302" marT="45651" marB="45651"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“Describe a difficult decision you made.”</a:t>
                      </a:r>
                    </a:p>
                  </a:txBody>
                  <a:tcPr marL="91302" marR="91302" marT="45651" marB="45651" anchor="ctr">
                    <a:lnL>
                      <a:noFill/>
                    </a:lnL>
                    <a:lnR>
                      <a:noFill/>
                    </a:lnR>
                    <a:lnT>
                      <a:noFill/>
                    </a:lnT>
                    <a:lnB>
                      <a:noFill/>
                    </a:lnB>
                  </a:tcPr>
                </a:tc>
                <a:extLst>
                  <a:ext uri="{0D108BD9-81ED-4DB2-BD59-A6C34878D82A}">
                    <a16:rowId xmlns:a16="http://schemas.microsoft.com/office/drawing/2014/main" val="3220608191"/>
                  </a:ext>
                </a:extLst>
              </a:tr>
            </a:tbl>
          </a:graphicData>
        </a:graphic>
      </p:graphicFrame>
      <p:sp>
        <p:nvSpPr>
          <p:cNvPr id="5" name="Title 4">
            <a:extLst>
              <a:ext uri="{FF2B5EF4-FFF2-40B4-BE49-F238E27FC236}">
                <a16:creationId xmlns:a16="http://schemas.microsoft.com/office/drawing/2014/main" id="{6F819161-AD14-4144-6C7B-BC85923C36A4}"/>
              </a:ext>
            </a:extLst>
          </p:cNvPr>
          <p:cNvSpPr>
            <a:spLocks noGrp="1"/>
          </p:cNvSpPr>
          <p:nvPr>
            <p:ph type="title"/>
          </p:nvPr>
        </p:nvSpPr>
        <p:spPr/>
        <p:txBody>
          <a:bodyPr/>
          <a:lstStyle/>
          <a:p>
            <a:r>
              <a:rPr lang="en-IN" dirty="0"/>
              <a:t>What behavioural questions assess</a:t>
            </a:r>
            <a:endParaRPr lang="en-IN" b="1" dirty="0"/>
          </a:p>
        </p:txBody>
      </p:sp>
    </p:spTree>
    <p:extLst>
      <p:ext uri="{BB962C8B-B14F-4D97-AF65-F5344CB8AC3E}">
        <p14:creationId xmlns:p14="http://schemas.microsoft.com/office/powerpoint/2010/main" val="96267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A942B-5FC7-6D99-EAB8-4A4F5F3BC2EC}"/>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D9832B95-DA37-5726-D629-BE3E62E5CAD2}"/>
              </a:ext>
            </a:extLst>
          </p:cNvPr>
          <p:cNvSpPr>
            <a:spLocks noGrp="1"/>
          </p:cNvSpPr>
          <p:nvPr>
            <p:ph type="sldNum" sz="quarter" idx="4"/>
          </p:nvPr>
        </p:nvSpPr>
        <p:spPr/>
        <p:txBody>
          <a:bodyPr/>
          <a:lstStyle/>
          <a:p>
            <a:fld id="{294A09A9-5501-47C1-A89A-A340965A2BE2}" type="slidenum">
              <a:rPr lang="en-US" smtClean="0"/>
              <a:pPr/>
              <a:t>5</a:t>
            </a:fld>
            <a:endParaRPr lang="en-US" dirty="0"/>
          </a:p>
        </p:txBody>
      </p:sp>
      <p:sp>
        <p:nvSpPr>
          <p:cNvPr id="4" name="Content Placeholder 3">
            <a:extLst>
              <a:ext uri="{FF2B5EF4-FFF2-40B4-BE49-F238E27FC236}">
                <a16:creationId xmlns:a16="http://schemas.microsoft.com/office/drawing/2014/main" id="{F59D729D-3660-4E18-8590-EE49F2EA94F6}"/>
              </a:ext>
            </a:extLst>
          </p:cNvPr>
          <p:cNvSpPr>
            <a:spLocks noGrp="1"/>
          </p:cNvSpPr>
          <p:nvPr>
            <p:ph sz="quarter" idx="1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Situational interviews present candidates with </a:t>
            </a:r>
            <a:r>
              <a:rPr lang="en-US" sz="2400" b="1" dirty="0">
                <a:latin typeface="Times New Roman" panose="02020603050405020304" pitchFamily="18" charset="0"/>
                <a:cs typeface="Times New Roman" panose="02020603050405020304" pitchFamily="18" charset="0"/>
              </a:rPr>
              <a:t>hypothetical workplace scenarios </a:t>
            </a:r>
            <a:r>
              <a:rPr lang="en-US" sz="2400" dirty="0">
                <a:latin typeface="Times New Roman" panose="02020603050405020304" pitchFamily="18" charset="0"/>
                <a:cs typeface="Times New Roman" panose="02020603050405020304" pitchFamily="18" charset="0"/>
              </a:rPr>
              <a:t>and ask them how they would respond.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are leading a team, and two members strongly disagree about how to complete an important project. What would you do?”</a:t>
            </a:r>
          </a:p>
          <a:p>
            <a:pPr marL="0" indent="0">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have been given two urgent assignments by different managers, both due on the same day. How would you handle the situation?”</a:t>
            </a:r>
          </a:p>
          <a:p>
            <a:pPr marL="0" indent="0">
              <a:buNone/>
            </a:pPr>
            <a:r>
              <a:rPr lang="en-US" sz="2400" dirty="0">
                <a:latin typeface="Times New Roman" panose="02020603050405020304" pitchFamily="18" charset="0"/>
                <a:cs typeface="Times New Roman" panose="02020603050405020304" pitchFamily="18" charset="0"/>
              </a:rPr>
              <a:t>“A customer is dissatisfied with your team's work and demands an immediate solution. How would you respond?”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F6303ABE-BE44-A43F-A451-4186B41692F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Situational Interviewing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730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842412-7666-A880-9175-C2A9A1512614}"/>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F804524B-1522-87B6-5E2F-D8D2742DB779}"/>
              </a:ext>
            </a:extLst>
          </p:cNvPr>
          <p:cNvSpPr>
            <a:spLocks noGrp="1"/>
          </p:cNvSpPr>
          <p:nvPr>
            <p:ph type="sldNum" sz="quarter" idx="4"/>
          </p:nvPr>
        </p:nvSpPr>
        <p:spPr/>
        <p:txBody>
          <a:bodyPr/>
          <a:lstStyle/>
          <a:p>
            <a:fld id="{294A09A9-5501-47C1-A89A-A340965A2BE2}" type="slidenum">
              <a:rPr lang="en-US" smtClean="0"/>
              <a:pPr/>
              <a:t>6</a:t>
            </a:fld>
            <a:endParaRPr lang="en-US" dirty="0"/>
          </a:p>
        </p:txBody>
      </p:sp>
      <p:graphicFrame>
        <p:nvGraphicFramePr>
          <p:cNvPr id="6" name="Content Placeholder 5">
            <a:extLst>
              <a:ext uri="{FF2B5EF4-FFF2-40B4-BE49-F238E27FC236}">
                <a16:creationId xmlns:a16="http://schemas.microsoft.com/office/drawing/2014/main" id="{A259CF12-AA34-B62E-40D2-737196753365}"/>
              </a:ext>
            </a:extLst>
          </p:cNvPr>
          <p:cNvGraphicFramePr>
            <a:graphicFrameLocks noGrp="1"/>
          </p:cNvGraphicFramePr>
          <p:nvPr>
            <p:ph sz="quarter" idx="11"/>
            <p:extLst>
              <p:ext uri="{D42A27DB-BD31-4B8C-83A1-F6EECF244321}">
                <p14:modId xmlns:p14="http://schemas.microsoft.com/office/powerpoint/2010/main" val="439907073"/>
              </p:ext>
            </p:extLst>
          </p:nvPr>
        </p:nvGraphicFramePr>
        <p:xfrm>
          <a:off x="854075" y="2822036"/>
          <a:ext cx="10499724" cy="3473892"/>
        </p:xfrm>
        <a:graphic>
          <a:graphicData uri="http://schemas.openxmlformats.org/drawingml/2006/table">
            <a:tbl>
              <a:tblPr/>
              <a:tblGrid>
                <a:gridCol w="5249862">
                  <a:extLst>
                    <a:ext uri="{9D8B030D-6E8A-4147-A177-3AD203B41FA5}">
                      <a16:colId xmlns:a16="http://schemas.microsoft.com/office/drawing/2014/main" val="1032108710"/>
                    </a:ext>
                  </a:extLst>
                </a:gridCol>
                <a:gridCol w="5249862">
                  <a:extLst>
                    <a:ext uri="{9D8B030D-6E8A-4147-A177-3AD203B41FA5}">
                      <a16:colId xmlns:a16="http://schemas.microsoft.com/office/drawing/2014/main" val="2927097574"/>
                    </a:ext>
                  </a:extLst>
                </a:gridCol>
              </a:tblGrid>
              <a:tr h="365208">
                <a:tc>
                  <a:txBody>
                    <a:bodyPr/>
                    <a:lstStyle/>
                    <a:p>
                      <a:r>
                        <a:rPr lang="en-IN" sz="2400">
                          <a:latin typeface="Times New Roman" panose="02020603050405020304" pitchFamily="18" charset="0"/>
                          <a:cs typeface="Times New Roman" panose="02020603050405020304" pitchFamily="18" charset="0"/>
                        </a:rPr>
                        <a:t>Behavioural</a:t>
                      </a:r>
                    </a:p>
                  </a:txBody>
                  <a:tcPr marL="91302" marR="91302" marT="45651" marB="45651" anchor="ctr">
                    <a:lnL>
                      <a:noFill/>
                    </a:lnL>
                    <a:lnR>
                      <a:noFill/>
                    </a:lnR>
                    <a:lnT>
                      <a:noFill/>
                    </a:lnT>
                    <a:lnB>
                      <a:noFill/>
                    </a:lnB>
                  </a:tcPr>
                </a:tc>
                <a:tc>
                  <a:txBody>
                    <a:bodyPr/>
                    <a:lstStyle/>
                    <a:p>
                      <a:r>
                        <a:rPr lang="en-IN" sz="2400">
                          <a:latin typeface="Times New Roman" panose="02020603050405020304" pitchFamily="18" charset="0"/>
                          <a:cs typeface="Times New Roman" panose="02020603050405020304" pitchFamily="18" charset="0"/>
                        </a:rPr>
                        <a:t>Situational</a:t>
                      </a:r>
                    </a:p>
                  </a:txBody>
                  <a:tcPr marL="91302" marR="91302" marT="45651" marB="45651" anchor="ctr">
                    <a:lnL>
                      <a:noFill/>
                    </a:lnL>
                    <a:lnR>
                      <a:noFill/>
                    </a:lnR>
                    <a:lnT>
                      <a:noFill/>
                    </a:lnT>
                    <a:lnB>
                      <a:noFill/>
                    </a:lnB>
                  </a:tcPr>
                </a:tc>
                <a:extLst>
                  <a:ext uri="{0D108BD9-81ED-4DB2-BD59-A6C34878D82A}">
                    <a16:rowId xmlns:a16="http://schemas.microsoft.com/office/drawing/2014/main" val="3469743695"/>
                  </a:ext>
                </a:extLst>
              </a:tr>
              <a:tr h="365208">
                <a:tc>
                  <a:txBody>
                    <a:bodyPr/>
                    <a:lstStyle/>
                    <a:p>
                      <a:r>
                        <a:rPr lang="en-IN" sz="2400" dirty="0">
                          <a:latin typeface="Times New Roman" panose="02020603050405020304" pitchFamily="18" charset="0"/>
                          <a:cs typeface="Times New Roman" panose="02020603050405020304" pitchFamily="18" charset="0"/>
                        </a:rPr>
                        <a:t>Focuses on the past</a:t>
                      </a:r>
                    </a:p>
                  </a:txBody>
                  <a:tcPr marL="91302" marR="91302" marT="45651" marB="45651" anchor="ctr">
                    <a:lnL>
                      <a:noFill/>
                    </a:lnL>
                    <a:lnR>
                      <a:noFill/>
                    </a:lnR>
                    <a:lnT>
                      <a:noFill/>
                    </a:lnT>
                    <a:lnB>
                      <a:noFill/>
                    </a:lnB>
                  </a:tcPr>
                </a:tc>
                <a:tc>
                  <a:txBody>
                    <a:bodyPr/>
                    <a:lstStyle/>
                    <a:p>
                      <a:r>
                        <a:rPr lang="en-IN" sz="2400">
                          <a:latin typeface="Times New Roman" panose="02020603050405020304" pitchFamily="18" charset="0"/>
                          <a:cs typeface="Times New Roman" panose="02020603050405020304" pitchFamily="18" charset="0"/>
                        </a:rPr>
                        <a:t>Focuses on a hypothetical future situation</a:t>
                      </a:r>
                    </a:p>
                  </a:txBody>
                  <a:tcPr marL="91302" marR="91302" marT="45651" marB="45651" anchor="ctr">
                    <a:lnL>
                      <a:noFill/>
                    </a:lnL>
                    <a:lnR>
                      <a:noFill/>
                    </a:lnR>
                    <a:lnT>
                      <a:noFill/>
                    </a:lnT>
                    <a:lnB>
                      <a:noFill/>
                    </a:lnB>
                  </a:tcPr>
                </a:tc>
                <a:extLst>
                  <a:ext uri="{0D108BD9-81ED-4DB2-BD59-A6C34878D82A}">
                    <a16:rowId xmlns:a16="http://schemas.microsoft.com/office/drawing/2014/main" val="3761372304"/>
                  </a:ext>
                </a:extLst>
              </a:tr>
              <a:tr h="365208">
                <a:tc>
                  <a:txBody>
                    <a:bodyPr/>
                    <a:lstStyle/>
                    <a:p>
                      <a:r>
                        <a:rPr lang="en-US" sz="2400">
                          <a:latin typeface="Times New Roman" panose="02020603050405020304" pitchFamily="18" charset="0"/>
                          <a:cs typeface="Times New Roman" panose="02020603050405020304" pitchFamily="18" charset="0"/>
                        </a:rPr>
                        <a:t>“Tell me about a time when…”</a:t>
                      </a:r>
                    </a:p>
                  </a:txBody>
                  <a:tcPr marL="91302" marR="91302" marT="45651" marB="45651" anchor="ctr">
                    <a:lnL>
                      <a:noFill/>
                    </a:lnL>
                    <a:lnR>
                      <a:noFill/>
                    </a:lnR>
                    <a:lnT>
                      <a:noFill/>
                    </a:lnT>
                    <a:lnB>
                      <a:noFill/>
                    </a:lnB>
                  </a:tcPr>
                </a:tc>
                <a:tc>
                  <a:txBody>
                    <a:bodyPr/>
                    <a:lstStyle/>
                    <a:p>
                      <a:r>
                        <a:rPr lang="en-US" sz="2400">
                          <a:latin typeface="Times New Roman" panose="02020603050405020304" pitchFamily="18" charset="0"/>
                          <a:cs typeface="Times New Roman" panose="02020603050405020304" pitchFamily="18" charset="0"/>
                        </a:rPr>
                        <a:t>“What would you do if…”</a:t>
                      </a:r>
                    </a:p>
                  </a:txBody>
                  <a:tcPr marL="91302" marR="91302" marT="45651" marB="45651" anchor="ctr">
                    <a:lnL>
                      <a:noFill/>
                    </a:lnL>
                    <a:lnR>
                      <a:noFill/>
                    </a:lnR>
                    <a:lnT>
                      <a:noFill/>
                    </a:lnT>
                    <a:lnB>
                      <a:noFill/>
                    </a:lnB>
                  </a:tcPr>
                </a:tc>
                <a:extLst>
                  <a:ext uri="{0D108BD9-81ED-4DB2-BD59-A6C34878D82A}">
                    <a16:rowId xmlns:a16="http://schemas.microsoft.com/office/drawing/2014/main" val="3682963112"/>
                  </a:ext>
                </a:extLst>
              </a:tr>
              <a:tr h="365208">
                <a:tc>
                  <a:txBody>
                    <a:bodyPr/>
                    <a:lstStyle/>
                    <a:p>
                      <a:r>
                        <a:rPr lang="en-IN" sz="2400">
                          <a:latin typeface="Times New Roman" panose="02020603050405020304" pitchFamily="18" charset="0"/>
                          <a:cs typeface="Times New Roman" panose="02020603050405020304" pitchFamily="18" charset="0"/>
                        </a:rPr>
                        <a:t>Requires a real example</a:t>
                      </a:r>
                    </a:p>
                  </a:txBody>
                  <a:tcPr marL="91302" marR="91302" marT="45651" marB="45651" anchor="ctr">
                    <a:lnL>
                      <a:noFill/>
                    </a:lnL>
                    <a:lnR>
                      <a:noFill/>
                    </a:lnR>
                    <a:lnT>
                      <a:noFill/>
                    </a:lnT>
                    <a:lnB>
                      <a:noFill/>
                    </a:lnB>
                  </a:tcPr>
                </a:tc>
                <a:tc>
                  <a:txBody>
                    <a:bodyPr/>
                    <a:lstStyle/>
                    <a:p>
                      <a:r>
                        <a:rPr lang="en-IN" sz="2400">
                          <a:latin typeface="Times New Roman" panose="02020603050405020304" pitchFamily="18" charset="0"/>
                          <a:cs typeface="Times New Roman" panose="02020603050405020304" pitchFamily="18" charset="0"/>
                        </a:rPr>
                        <a:t>Requires a proposed response</a:t>
                      </a:r>
                    </a:p>
                  </a:txBody>
                  <a:tcPr marL="91302" marR="91302" marT="45651" marB="45651" anchor="ctr">
                    <a:lnL>
                      <a:noFill/>
                    </a:lnL>
                    <a:lnR>
                      <a:noFill/>
                    </a:lnR>
                    <a:lnT>
                      <a:noFill/>
                    </a:lnT>
                    <a:lnB>
                      <a:noFill/>
                    </a:lnB>
                  </a:tcPr>
                </a:tc>
                <a:extLst>
                  <a:ext uri="{0D108BD9-81ED-4DB2-BD59-A6C34878D82A}">
                    <a16:rowId xmlns:a16="http://schemas.microsoft.com/office/drawing/2014/main" val="763385629"/>
                  </a:ext>
                </a:extLst>
              </a:tr>
              <a:tr h="365208">
                <a:tc>
                  <a:txBody>
                    <a:bodyPr/>
                    <a:lstStyle/>
                    <a:p>
                      <a:r>
                        <a:rPr lang="en-IN" sz="2400">
                          <a:latin typeface="Times New Roman" panose="02020603050405020304" pitchFamily="18" charset="0"/>
                          <a:cs typeface="Times New Roman" panose="02020603050405020304" pitchFamily="18" charset="0"/>
                        </a:rPr>
                        <a:t>Demonstrates previous behaviour</a:t>
                      </a:r>
                    </a:p>
                  </a:txBody>
                  <a:tcPr marL="91302" marR="91302" marT="45651" marB="45651" anchor="ctr">
                    <a:lnL>
                      <a:noFill/>
                    </a:lnL>
                    <a:lnR>
                      <a:noFill/>
                    </a:lnR>
                    <a:lnT>
                      <a:noFill/>
                    </a:lnT>
                    <a:lnB>
                      <a:noFill/>
                    </a:lnB>
                  </a:tcPr>
                </a:tc>
                <a:tc>
                  <a:txBody>
                    <a:bodyPr/>
                    <a:lstStyle/>
                    <a:p>
                      <a:r>
                        <a:rPr lang="en-IN" sz="2400">
                          <a:latin typeface="Times New Roman" panose="02020603050405020304" pitchFamily="18" charset="0"/>
                          <a:cs typeface="Times New Roman" panose="02020603050405020304" pitchFamily="18" charset="0"/>
                        </a:rPr>
                        <a:t>Reveals reasoning and judgement</a:t>
                      </a:r>
                    </a:p>
                  </a:txBody>
                  <a:tcPr marL="91302" marR="91302" marT="45651" marB="45651" anchor="ctr">
                    <a:lnL>
                      <a:noFill/>
                    </a:lnL>
                    <a:lnR>
                      <a:noFill/>
                    </a:lnR>
                    <a:lnT>
                      <a:noFill/>
                    </a:lnT>
                    <a:lnB>
                      <a:noFill/>
                    </a:lnB>
                  </a:tcPr>
                </a:tc>
                <a:extLst>
                  <a:ext uri="{0D108BD9-81ED-4DB2-BD59-A6C34878D82A}">
                    <a16:rowId xmlns:a16="http://schemas.microsoft.com/office/drawing/2014/main" val="2171187764"/>
                  </a:ext>
                </a:extLst>
              </a:tr>
              <a:tr h="639114">
                <a:tc>
                  <a:txBody>
                    <a:bodyPr/>
                    <a:lstStyle/>
                    <a:p>
                      <a:r>
                        <a:rPr lang="en-IN" sz="2400">
                          <a:latin typeface="Times New Roman" panose="02020603050405020304" pitchFamily="18" charset="0"/>
                          <a:cs typeface="Times New Roman" panose="02020603050405020304" pitchFamily="18" charset="0"/>
                        </a:rPr>
                        <a:t>Usually answered using STAR</a:t>
                      </a:r>
                    </a:p>
                  </a:txBody>
                  <a:tcPr marL="91302" marR="91302" marT="45651" marB="45651" anchor="ctr">
                    <a:lnL>
                      <a:noFill/>
                    </a:lnL>
                    <a:lnR>
                      <a:noFill/>
                    </a:lnR>
                    <a:lnT>
                      <a:noFill/>
                    </a:lnT>
                    <a:lnB>
                      <a:noFill/>
                    </a:lnB>
                  </a:tcPr>
                </a:tc>
                <a:tc>
                  <a:txBody>
                    <a:bodyPr/>
                    <a:lstStyle/>
                    <a:p>
                      <a:r>
                        <a:rPr lang="en-US" sz="2400" dirty="0">
                          <a:latin typeface="Times New Roman" panose="02020603050405020304" pitchFamily="18" charset="0"/>
                          <a:cs typeface="Times New Roman" panose="02020603050405020304" pitchFamily="18" charset="0"/>
                        </a:rPr>
                        <a:t>Can be answered using a structured decision-making approach</a:t>
                      </a:r>
                    </a:p>
                  </a:txBody>
                  <a:tcPr marL="91302" marR="91302" marT="45651" marB="45651" anchor="ctr">
                    <a:lnL>
                      <a:noFill/>
                    </a:lnL>
                    <a:lnR>
                      <a:noFill/>
                    </a:lnR>
                    <a:lnT>
                      <a:noFill/>
                    </a:lnT>
                    <a:lnB>
                      <a:noFill/>
                    </a:lnB>
                  </a:tcPr>
                </a:tc>
                <a:extLst>
                  <a:ext uri="{0D108BD9-81ED-4DB2-BD59-A6C34878D82A}">
                    <a16:rowId xmlns:a16="http://schemas.microsoft.com/office/drawing/2014/main" val="2768807030"/>
                  </a:ext>
                </a:extLst>
              </a:tr>
            </a:tbl>
          </a:graphicData>
        </a:graphic>
      </p:graphicFrame>
      <p:sp>
        <p:nvSpPr>
          <p:cNvPr id="5" name="Title 4">
            <a:extLst>
              <a:ext uri="{FF2B5EF4-FFF2-40B4-BE49-F238E27FC236}">
                <a16:creationId xmlns:a16="http://schemas.microsoft.com/office/drawing/2014/main" id="{B3BE3907-7C66-B750-486B-521466C500B5}"/>
              </a:ext>
            </a:extLst>
          </p:cNvPr>
          <p:cNvSpPr>
            <a:spLocks noGrp="1"/>
          </p:cNvSpPr>
          <p:nvPr>
            <p:ph type="title"/>
          </p:nvPr>
        </p:nvSpPr>
        <p:spPr/>
        <p:txBody>
          <a:bodyPr/>
          <a:lstStyle/>
          <a:p>
            <a:r>
              <a:rPr lang="en-IN" dirty="0"/>
              <a:t>Behavioural vs Situational</a:t>
            </a:r>
          </a:p>
        </p:txBody>
      </p:sp>
    </p:spTree>
    <p:extLst>
      <p:ext uri="{BB962C8B-B14F-4D97-AF65-F5344CB8AC3E}">
        <p14:creationId xmlns:p14="http://schemas.microsoft.com/office/powerpoint/2010/main" val="301080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BFD4AA-F591-A050-0E32-77C1020C090C}"/>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881649BE-BB3B-C142-1E88-2626C25149D5}"/>
              </a:ext>
            </a:extLst>
          </p:cNvPr>
          <p:cNvSpPr>
            <a:spLocks noGrp="1"/>
          </p:cNvSpPr>
          <p:nvPr>
            <p:ph type="sldNum" sz="quarter" idx="4"/>
          </p:nvPr>
        </p:nvSpPr>
        <p:spPr/>
        <p:txBody>
          <a:bodyPr/>
          <a:lstStyle/>
          <a:p>
            <a:fld id="{294A09A9-5501-47C1-A89A-A340965A2BE2}" type="slidenum">
              <a:rPr lang="en-US" smtClean="0"/>
              <a:pPr/>
              <a:t>7</a:t>
            </a:fld>
            <a:endParaRPr lang="en-US" dirty="0"/>
          </a:p>
        </p:txBody>
      </p:sp>
      <p:sp>
        <p:nvSpPr>
          <p:cNvPr id="4" name="Content Placeholder 3">
            <a:extLst>
              <a:ext uri="{FF2B5EF4-FFF2-40B4-BE49-F238E27FC236}">
                <a16:creationId xmlns:a16="http://schemas.microsoft.com/office/drawing/2014/main" id="{65B204F5-1365-7339-033D-BE6BFDE93DBD}"/>
              </a:ext>
            </a:extLst>
          </p:cNvPr>
          <p:cNvSpPr>
            <a:spLocks noGrp="1"/>
          </p:cNvSpPr>
          <p:nvPr>
            <p:ph sz="quarter" idx="11"/>
          </p:nvPr>
        </p:nvSpPr>
        <p:spPr/>
        <p:txBody>
          <a:bodyPr>
            <a:normAutofit fontScale="85000" lnSpcReduction="10000"/>
          </a:bodyPr>
          <a:lstStyle/>
          <a:p>
            <a:r>
              <a:rPr lang="en-US" dirty="0"/>
              <a:t>The </a:t>
            </a:r>
            <a:r>
              <a:rPr lang="en-US" b="1" dirty="0"/>
              <a:t>STAR method</a:t>
            </a:r>
            <a:r>
              <a:rPr lang="en-US" dirty="0"/>
              <a:t> is a structured technique for answering </a:t>
            </a:r>
            <a:r>
              <a:rPr lang="en-US" dirty="0" err="1"/>
              <a:t>behavioural</a:t>
            </a:r>
            <a:r>
              <a:rPr lang="en-US" dirty="0"/>
              <a:t> interview questions.</a:t>
            </a:r>
          </a:p>
          <a:p>
            <a:r>
              <a:rPr lang="en-US" b="1" dirty="0"/>
              <a:t>S – Situation</a:t>
            </a:r>
            <a:br>
              <a:rPr lang="en-US" dirty="0"/>
            </a:br>
            <a:r>
              <a:rPr lang="en-US" b="1" dirty="0"/>
              <a:t>T – Task</a:t>
            </a:r>
            <a:br>
              <a:rPr lang="en-US" dirty="0"/>
            </a:br>
            <a:r>
              <a:rPr lang="en-US" b="1" dirty="0"/>
              <a:t>A – Action</a:t>
            </a:r>
            <a:br>
              <a:rPr lang="en-US" dirty="0"/>
            </a:br>
            <a:r>
              <a:rPr lang="en-US" b="1" dirty="0"/>
              <a:t>R – Result</a:t>
            </a:r>
            <a:endParaRPr lang="en-US" dirty="0"/>
          </a:p>
          <a:p>
            <a:r>
              <a:rPr lang="en-US" dirty="0"/>
              <a:t>It helps candidates provide a </a:t>
            </a:r>
            <a:r>
              <a:rPr lang="en-US" b="1" dirty="0"/>
              <a:t>focused, logical, and evidence-based response</a:t>
            </a:r>
            <a:r>
              <a:rPr lang="en-US" dirty="0"/>
              <a:t> rather than giving a vague or overly general answer.</a:t>
            </a:r>
          </a:p>
          <a:p>
            <a:endParaRPr lang="en-IN" dirty="0"/>
          </a:p>
        </p:txBody>
      </p:sp>
      <p:sp>
        <p:nvSpPr>
          <p:cNvPr id="5" name="Title 4">
            <a:extLst>
              <a:ext uri="{FF2B5EF4-FFF2-40B4-BE49-F238E27FC236}">
                <a16:creationId xmlns:a16="http://schemas.microsoft.com/office/drawing/2014/main" id="{22BE7E0D-E31F-5106-3898-BF968AC7197B}"/>
              </a:ext>
            </a:extLst>
          </p:cNvPr>
          <p:cNvSpPr>
            <a:spLocks noGrp="1"/>
          </p:cNvSpPr>
          <p:nvPr>
            <p:ph type="title"/>
          </p:nvPr>
        </p:nvSpPr>
        <p:spPr/>
        <p:txBody>
          <a:bodyPr/>
          <a:lstStyle/>
          <a:p>
            <a:r>
              <a:rPr lang="en-US" dirty="0"/>
              <a:t>The </a:t>
            </a:r>
            <a:r>
              <a:rPr lang="en-US" b="1" dirty="0"/>
              <a:t>STAR method</a:t>
            </a:r>
            <a:endParaRPr lang="en-IN" dirty="0"/>
          </a:p>
        </p:txBody>
      </p:sp>
    </p:spTree>
    <p:extLst>
      <p:ext uri="{BB962C8B-B14F-4D97-AF65-F5344CB8AC3E}">
        <p14:creationId xmlns:p14="http://schemas.microsoft.com/office/powerpoint/2010/main" val="693784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8862FE-3C52-BBF9-172F-C0E0ABC8869A}"/>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C465F774-FF49-0E29-CA99-C7B88AED14CF}"/>
              </a:ext>
            </a:extLst>
          </p:cNvPr>
          <p:cNvSpPr>
            <a:spLocks noGrp="1"/>
          </p:cNvSpPr>
          <p:nvPr>
            <p:ph type="sldNum" sz="quarter" idx="4"/>
          </p:nvPr>
        </p:nvSpPr>
        <p:spPr/>
        <p:txBody>
          <a:bodyPr/>
          <a:lstStyle/>
          <a:p>
            <a:fld id="{294A09A9-5501-47C1-A89A-A340965A2BE2}" type="slidenum">
              <a:rPr lang="en-US" smtClean="0"/>
              <a:pPr/>
              <a:t>8</a:t>
            </a:fld>
            <a:endParaRPr lang="en-US" dirty="0"/>
          </a:p>
        </p:txBody>
      </p:sp>
      <p:sp>
        <p:nvSpPr>
          <p:cNvPr id="4" name="Content Placeholder 3">
            <a:extLst>
              <a:ext uri="{FF2B5EF4-FFF2-40B4-BE49-F238E27FC236}">
                <a16:creationId xmlns:a16="http://schemas.microsoft.com/office/drawing/2014/main" id="{38A14323-C57E-A54D-CC36-B197B008C7FC}"/>
              </a:ext>
            </a:extLst>
          </p:cNvPr>
          <p:cNvSpPr>
            <a:spLocks noGrp="1"/>
          </p:cNvSpPr>
          <p:nvPr>
            <p:ph sz="quarter" idx="11"/>
          </p:nvPr>
        </p:nvSpPr>
        <p:spPr/>
        <p:txBody>
          <a:bodyPr>
            <a:noAutofit/>
          </a:bodyPr>
          <a:lstStyle/>
          <a:p>
            <a:r>
              <a:rPr lang="en-US" sz="2000" dirty="0">
                <a:latin typeface="Times New Roman" panose="02020603050405020304" pitchFamily="18" charset="0"/>
                <a:cs typeface="Times New Roman" panose="02020603050405020304" pitchFamily="18" charset="0"/>
              </a:rPr>
              <a:t>Briefly describe the </a:t>
            </a:r>
            <a:r>
              <a:rPr lang="en-US" sz="2000" b="1" dirty="0">
                <a:latin typeface="Times New Roman" panose="02020603050405020304" pitchFamily="18" charset="0"/>
                <a:cs typeface="Times New Roman" panose="02020603050405020304" pitchFamily="18" charset="0"/>
              </a:rPr>
              <a:t>context or background</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Explain: Where did the situation occur?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was happening?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Who was involved?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was the challenge?</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“During my final-year project, our team was developing a mobile application, but two team members disagreed about the technical approach.”</a:t>
            </a:r>
          </a:p>
          <a:p>
            <a:pPr marL="0" indent="0">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situation should be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Avoid spending most of the answer describing the background.</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0D16B85C-6EC9-0B24-575F-5F644891AF84}"/>
              </a:ext>
            </a:extLst>
          </p:cNvPr>
          <p:cNvSpPr>
            <a:spLocks noGrp="1"/>
          </p:cNvSpPr>
          <p:nvPr>
            <p:ph type="title"/>
          </p:nvPr>
        </p:nvSpPr>
        <p:spPr/>
        <p:txBody>
          <a:bodyPr/>
          <a:lstStyle/>
          <a:p>
            <a:r>
              <a:rPr lang="en-US" b="1" dirty="0"/>
              <a:t>S – Situation</a:t>
            </a:r>
            <a:br>
              <a:rPr lang="en-US" b="1" dirty="0"/>
            </a:br>
            <a:endParaRPr lang="en-IN" dirty="0"/>
          </a:p>
        </p:txBody>
      </p:sp>
    </p:spTree>
    <p:extLst>
      <p:ext uri="{BB962C8B-B14F-4D97-AF65-F5344CB8AC3E}">
        <p14:creationId xmlns:p14="http://schemas.microsoft.com/office/powerpoint/2010/main" val="34129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08DEC-F14D-B9AE-E8E8-93EF68854098}"/>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CF669BD3-A060-A24A-196F-DEC5721C5426}"/>
              </a:ext>
            </a:extLst>
          </p:cNvPr>
          <p:cNvSpPr>
            <a:spLocks noGrp="1"/>
          </p:cNvSpPr>
          <p:nvPr>
            <p:ph type="sldNum" sz="quarter" idx="4"/>
          </p:nvPr>
        </p:nvSpPr>
        <p:spPr/>
        <p:txBody>
          <a:bodyPr/>
          <a:lstStyle/>
          <a:p>
            <a:fld id="{294A09A9-5501-47C1-A89A-A340965A2BE2}" type="slidenum">
              <a:rPr lang="en-US" smtClean="0"/>
              <a:pPr/>
              <a:t>9</a:t>
            </a:fld>
            <a:endParaRPr lang="en-US" dirty="0"/>
          </a:p>
        </p:txBody>
      </p:sp>
      <p:sp>
        <p:nvSpPr>
          <p:cNvPr id="4" name="Content Placeholder 3">
            <a:extLst>
              <a:ext uri="{FF2B5EF4-FFF2-40B4-BE49-F238E27FC236}">
                <a16:creationId xmlns:a16="http://schemas.microsoft.com/office/drawing/2014/main" id="{5B6AD447-8916-2795-0E9D-8799A92E7537}"/>
              </a:ext>
            </a:extLst>
          </p:cNvPr>
          <p:cNvSpPr>
            <a:spLocks noGrp="1"/>
          </p:cNvSpPr>
          <p:nvPr>
            <p:ph sz="quarter" idx="11"/>
          </p:nvPr>
        </p:nvSpPr>
        <p:spPr>
          <a:xfrm>
            <a:off x="904187" y="1625600"/>
            <a:ext cx="10449613" cy="4860925"/>
          </a:xfrm>
        </p:spPr>
        <p:txBody>
          <a:bodyPr>
            <a:normAutofit lnSpcReduction="10000"/>
          </a:bodyPr>
          <a:lstStyle/>
          <a:p>
            <a:r>
              <a:rPr lang="en-US" dirty="0">
                <a:latin typeface="Times New Roman" panose="02020603050405020304" pitchFamily="18" charset="0"/>
                <a:cs typeface="Times New Roman" panose="02020603050405020304" pitchFamily="18" charset="0"/>
              </a:rPr>
              <a:t>Explain your </a:t>
            </a:r>
            <a:r>
              <a:rPr lang="en-US" b="1" dirty="0">
                <a:latin typeface="Times New Roman" panose="02020603050405020304" pitchFamily="18" charset="0"/>
                <a:cs typeface="Times New Roman" panose="02020603050405020304" pitchFamily="18" charset="0"/>
              </a:rPr>
              <a:t>specific responsibility or objective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Ask: What did you need to accomplish?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What responsibility did you have?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What problem needed to be solved?</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the team coordinator, I needed to resolve the disagreement and ensure that we selected an approach that would allow us to meet the project deadline.”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77328008-C2D0-1298-01CD-A949FFF12A38}"/>
              </a:ext>
            </a:extLst>
          </p:cNvPr>
          <p:cNvSpPr>
            <a:spLocks noGrp="1"/>
          </p:cNvSpPr>
          <p:nvPr>
            <p:ph type="title"/>
          </p:nvPr>
        </p:nvSpPr>
        <p:spPr/>
        <p:txBody>
          <a:bodyPr/>
          <a:lstStyle/>
          <a:p>
            <a:r>
              <a:rPr lang="en-US" b="1" dirty="0"/>
              <a:t>T – Task</a:t>
            </a:r>
            <a:br>
              <a:rPr lang="en-US" b="1" dirty="0"/>
            </a:br>
            <a:endParaRPr lang="en-IN" dirty="0"/>
          </a:p>
        </p:txBody>
      </p:sp>
    </p:spTree>
    <p:extLst>
      <p:ext uri="{BB962C8B-B14F-4D97-AF65-F5344CB8AC3E}">
        <p14:creationId xmlns:p14="http://schemas.microsoft.com/office/powerpoint/2010/main" val="2813119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FACC22-008A-8627-C59E-AD0AA8D8921C}"/>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0072A6FB-94CC-B240-164F-A1E89F250C5E}"/>
              </a:ext>
            </a:extLst>
          </p:cNvPr>
          <p:cNvSpPr>
            <a:spLocks noGrp="1"/>
          </p:cNvSpPr>
          <p:nvPr>
            <p:ph type="sldNum" sz="quarter" idx="4"/>
          </p:nvPr>
        </p:nvSpPr>
        <p:spPr/>
        <p:txBody>
          <a:bodyPr/>
          <a:lstStyle/>
          <a:p>
            <a:fld id="{294A09A9-5501-47C1-A89A-A340965A2BE2}" type="slidenum">
              <a:rPr lang="en-US" smtClean="0"/>
              <a:pPr/>
              <a:t>10</a:t>
            </a:fld>
            <a:endParaRPr lang="en-US" dirty="0"/>
          </a:p>
        </p:txBody>
      </p:sp>
      <p:sp>
        <p:nvSpPr>
          <p:cNvPr id="4" name="Content Placeholder 3">
            <a:extLst>
              <a:ext uri="{FF2B5EF4-FFF2-40B4-BE49-F238E27FC236}">
                <a16:creationId xmlns:a16="http://schemas.microsoft.com/office/drawing/2014/main" id="{0B099454-A503-8857-11ED-9402FF997594}"/>
              </a:ext>
            </a:extLst>
          </p:cNvPr>
          <p:cNvSpPr>
            <a:spLocks noGrp="1"/>
          </p:cNvSpPr>
          <p:nvPr>
            <p:ph sz="quarter" idx="11"/>
          </p:nvPr>
        </p:nvSpPr>
        <p:spPr/>
        <p:txBody>
          <a:bodyPr>
            <a:normAutofit fontScale="92500"/>
          </a:bodyPr>
          <a:lstStyle/>
          <a:p>
            <a:r>
              <a:rPr lang="en-US" dirty="0"/>
              <a:t>This is usually the </a:t>
            </a:r>
            <a:r>
              <a:rPr lang="en-US" b="1" dirty="0"/>
              <a:t>most important part</a:t>
            </a:r>
            <a:r>
              <a:rPr lang="en-US" dirty="0"/>
              <a:t> of the STAR response.</a:t>
            </a:r>
          </a:p>
          <a:p>
            <a:r>
              <a:rPr lang="en-US" dirty="0"/>
              <a:t>Explain exactly </a:t>
            </a:r>
            <a:r>
              <a:rPr lang="en-US" b="1" dirty="0"/>
              <a:t>what you did</a:t>
            </a:r>
            <a:r>
              <a:rPr lang="en-US" dirty="0"/>
              <a:t>.</a:t>
            </a:r>
          </a:p>
          <a:p>
            <a:r>
              <a:rPr lang="en-US" dirty="0"/>
              <a:t>You can mention: steps you took; communication strategies; </a:t>
            </a:r>
          </a:p>
          <a:p>
            <a:pPr>
              <a:buFont typeface="Arial" panose="020B0604020202020204" pitchFamily="34" charset="0"/>
              <a:buChar char="•"/>
            </a:pPr>
            <a:r>
              <a:rPr lang="en-US" dirty="0"/>
              <a:t>decisions you made; resources you used; </a:t>
            </a:r>
          </a:p>
          <a:p>
            <a:pPr>
              <a:buFont typeface="Arial" panose="020B0604020202020204" pitchFamily="34" charset="0"/>
              <a:buChar char="•"/>
            </a:pPr>
            <a:r>
              <a:rPr lang="en-US" dirty="0"/>
              <a:t>how you collaborated with others; how you solved the problem.</a:t>
            </a:r>
          </a:p>
          <a:p>
            <a:endParaRPr lang="en-IN" dirty="0"/>
          </a:p>
        </p:txBody>
      </p:sp>
      <p:sp>
        <p:nvSpPr>
          <p:cNvPr id="5" name="Title 4">
            <a:extLst>
              <a:ext uri="{FF2B5EF4-FFF2-40B4-BE49-F238E27FC236}">
                <a16:creationId xmlns:a16="http://schemas.microsoft.com/office/drawing/2014/main" id="{6B56415A-203E-3474-3C2F-2CBD183D92DC}"/>
              </a:ext>
            </a:extLst>
          </p:cNvPr>
          <p:cNvSpPr>
            <a:spLocks noGrp="1"/>
          </p:cNvSpPr>
          <p:nvPr>
            <p:ph type="title"/>
          </p:nvPr>
        </p:nvSpPr>
        <p:spPr/>
        <p:txBody>
          <a:bodyPr/>
          <a:lstStyle/>
          <a:p>
            <a:r>
              <a:rPr lang="en-US" b="1" dirty="0"/>
              <a:t>A – Action</a:t>
            </a:r>
            <a:br>
              <a:rPr lang="en-US" b="1" dirty="0"/>
            </a:br>
            <a:endParaRPr lang="en-IN" dirty="0"/>
          </a:p>
        </p:txBody>
      </p:sp>
    </p:spTree>
    <p:extLst>
      <p:ext uri="{BB962C8B-B14F-4D97-AF65-F5344CB8AC3E}">
        <p14:creationId xmlns:p14="http://schemas.microsoft.com/office/powerpoint/2010/main" val="2241617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BE2100-DFEC-7C13-E074-B18C7D5332FB}"/>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BEB14996-9FC5-ADC9-8FA3-71026C884920}"/>
              </a:ext>
            </a:extLst>
          </p:cNvPr>
          <p:cNvSpPr>
            <a:spLocks noGrp="1"/>
          </p:cNvSpPr>
          <p:nvPr>
            <p:ph type="sldNum" sz="quarter" idx="4"/>
          </p:nvPr>
        </p:nvSpPr>
        <p:spPr/>
        <p:txBody>
          <a:bodyPr/>
          <a:lstStyle/>
          <a:p>
            <a:fld id="{294A09A9-5501-47C1-A89A-A340965A2BE2}" type="slidenum">
              <a:rPr lang="en-US" smtClean="0"/>
              <a:pPr/>
              <a:t>11</a:t>
            </a:fld>
            <a:endParaRPr lang="en-US" dirty="0"/>
          </a:p>
        </p:txBody>
      </p:sp>
      <p:sp>
        <p:nvSpPr>
          <p:cNvPr id="4" name="Content Placeholder 3">
            <a:extLst>
              <a:ext uri="{FF2B5EF4-FFF2-40B4-BE49-F238E27FC236}">
                <a16:creationId xmlns:a16="http://schemas.microsoft.com/office/drawing/2014/main" id="{E26D9C07-D4CB-FE6C-1916-E5A0EBB4C0D1}"/>
              </a:ext>
            </a:extLst>
          </p:cNvPr>
          <p:cNvSpPr>
            <a:spLocks noGrp="1"/>
          </p:cNvSpPr>
          <p:nvPr>
            <p:ph sz="quarter" idx="11"/>
          </p:nvPr>
        </p:nvSpPr>
        <p:spPr/>
        <p:txBody>
          <a:bodyPr>
            <a:normAutofit/>
          </a:bodyPr>
          <a:lstStyle/>
          <a:p>
            <a:r>
              <a:rPr lang="en-US" sz="2400" dirty="0">
                <a:latin typeface="Times New Roman" panose="02020603050405020304" pitchFamily="18" charset="0"/>
                <a:cs typeface="Times New Roman" panose="02020603050405020304" pitchFamily="18" charset="0"/>
              </a:rPr>
              <a:t>“I asked both members to explain their approaches and identify the advantages and limitations of each. I then suggested that we compare the approaches against the project requirements, available time, and technical feasibility. After discussing the evidence, the team agreed to adopt one approach and divide the remaining tasks according to individual strengths.”</a:t>
            </a:r>
          </a:p>
          <a:p>
            <a:r>
              <a:rPr lang="en-US" sz="2400" dirty="0">
                <a:latin typeface="Times New Roman" panose="02020603050405020304" pitchFamily="18" charset="0"/>
                <a:cs typeface="Times New Roman" panose="02020603050405020304" pitchFamily="18" charset="0"/>
              </a:rPr>
              <a:t>Use </a:t>
            </a:r>
            <a:r>
              <a:rPr lang="en-US" sz="2400" b="1" dirty="0">
                <a:latin typeface="Times New Roman" panose="02020603050405020304" pitchFamily="18" charset="0"/>
                <a:cs typeface="Times New Roman" panose="02020603050405020304" pitchFamily="18" charset="0"/>
              </a:rPr>
              <a:t>“I” rather than only “we”</a:t>
            </a:r>
            <a:r>
              <a:rPr lang="en-US" sz="2400" dirty="0">
                <a:latin typeface="Times New Roman" panose="02020603050405020304" pitchFamily="18" charset="0"/>
                <a:cs typeface="Times New Roman" panose="02020603050405020304" pitchFamily="18" charset="0"/>
              </a:rPr>
              <a:t> when explaining your contribution.</a:t>
            </a:r>
            <a:endParaRPr lang="en-IN" sz="24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44FED173-E9A3-D8AD-B2FC-41E34F76FA1E}"/>
              </a:ext>
            </a:extLst>
          </p:cNvPr>
          <p:cNvSpPr>
            <a:spLocks noGrp="1"/>
          </p:cNvSpPr>
          <p:nvPr>
            <p:ph type="title"/>
          </p:nvPr>
        </p:nvSpPr>
        <p:spPr/>
        <p:txBody>
          <a:bodyPr/>
          <a:lstStyle/>
          <a:p>
            <a:r>
              <a:rPr lang="en-IN" dirty="0"/>
              <a:t>Example for Action</a:t>
            </a:r>
          </a:p>
        </p:txBody>
      </p:sp>
    </p:spTree>
    <p:extLst>
      <p:ext uri="{BB962C8B-B14F-4D97-AF65-F5344CB8AC3E}">
        <p14:creationId xmlns:p14="http://schemas.microsoft.com/office/powerpoint/2010/main" val="744115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BA75F0-817A-B46D-D882-F27C7DAA2119}"/>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1C0931D1-3B6D-981B-F395-69EBABD8F4F5}"/>
              </a:ext>
            </a:extLst>
          </p:cNvPr>
          <p:cNvSpPr>
            <a:spLocks noGrp="1"/>
          </p:cNvSpPr>
          <p:nvPr>
            <p:ph type="sldNum" sz="quarter" idx="4"/>
          </p:nvPr>
        </p:nvSpPr>
        <p:spPr/>
        <p:txBody>
          <a:bodyPr/>
          <a:lstStyle/>
          <a:p>
            <a:fld id="{294A09A9-5501-47C1-A89A-A340965A2BE2}" type="slidenum">
              <a:rPr lang="en-US" smtClean="0"/>
              <a:pPr/>
              <a:t>12</a:t>
            </a:fld>
            <a:endParaRPr lang="en-US" dirty="0"/>
          </a:p>
        </p:txBody>
      </p:sp>
      <p:sp>
        <p:nvSpPr>
          <p:cNvPr id="4" name="Content Placeholder 3">
            <a:extLst>
              <a:ext uri="{FF2B5EF4-FFF2-40B4-BE49-F238E27FC236}">
                <a16:creationId xmlns:a16="http://schemas.microsoft.com/office/drawing/2014/main" id="{EBAE7743-DEA0-2D45-38D9-4DCE3B1A3073}"/>
              </a:ext>
            </a:extLst>
          </p:cNvPr>
          <p:cNvSpPr>
            <a:spLocks noGrp="1"/>
          </p:cNvSpPr>
          <p:nvPr>
            <p:ph sz="quarter" idx="11"/>
          </p:nvPr>
        </p:nvSpPr>
        <p:spPr/>
        <p:txBody>
          <a:bodyPr>
            <a:normAutofit lnSpcReduction="10000"/>
          </a:bodyPr>
          <a:lstStyle/>
          <a:p>
            <a:r>
              <a:rPr lang="en-US" sz="2400" dirty="0">
                <a:latin typeface="Times New Roman" panose="02020603050405020304" pitchFamily="18" charset="0"/>
                <a:cs typeface="Times New Roman" panose="02020603050405020304" pitchFamily="18" charset="0"/>
              </a:rPr>
              <a:t>Explain the </a:t>
            </a:r>
            <a:r>
              <a:rPr lang="en-US" sz="2400" b="1" dirty="0">
                <a:latin typeface="Times New Roman" panose="02020603050405020304" pitchFamily="18" charset="0"/>
                <a:cs typeface="Times New Roman" panose="02020603050405020304" pitchFamily="18" charset="0"/>
              </a:rPr>
              <a:t>outcome</a:t>
            </a:r>
            <a:r>
              <a:rPr lang="en-US" sz="2400" dirty="0">
                <a:latin typeface="Times New Roman" panose="02020603050405020304" pitchFamily="18" charset="0"/>
                <a:cs typeface="Times New Roman" panose="02020603050405020304" pitchFamily="18" charset="0"/>
              </a:rPr>
              <a:t> of your actions.</a:t>
            </a:r>
          </a:p>
          <a:p>
            <a:r>
              <a:rPr lang="en-US" sz="2400" dirty="0">
                <a:latin typeface="Times New Roman" panose="02020603050405020304" pitchFamily="18" charset="0"/>
                <a:cs typeface="Times New Roman" panose="02020603050405020304" pitchFamily="18" charset="0"/>
              </a:rPr>
              <a:t>Where possible, provide measurable evidence.</a:t>
            </a:r>
          </a:p>
          <a:p>
            <a:r>
              <a:rPr lang="en-US" sz="2400" dirty="0">
                <a:latin typeface="Times New Roman" panose="02020603050405020304" pitchFamily="18" charset="0"/>
                <a:cs typeface="Times New Roman" panose="02020603050405020304" pitchFamily="18" charset="0"/>
              </a:rPr>
              <a:t>Consider: What happened?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Was the problem resolved?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did you achieve?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did you learn?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completed the prototype before the deadline, and the application successfully passed the initial testing phase. The experience also taught me the importance of using evidence rather than personal preferences when resolving team disagreements.”</a:t>
            </a:r>
            <a:endParaRPr lang="en-US" sz="2200" dirty="0">
              <a:latin typeface="Times New Roman" panose="02020603050405020304" pitchFamily="18" charset="0"/>
              <a:cs typeface="Times New Roman" panose="02020603050405020304" pitchFamily="18" charset="0"/>
            </a:endParaRPr>
          </a:p>
          <a:p>
            <a:pPr lvl="8"/>
            <a:endParaRPr lang="en-IN" sz="14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6A7B1257-344A-D01B-0BE5-3C097CB5F65F}"/>
              </a:ext>
            </a:extLst>
          </p:cNvPr>
          <p:cNvSpPr>
            <a:spLocks noGrp="1"/>
          </p:cNvSpPr>
          <p:nvPr>
            <p:ph type="title"/>
          </p:nvPr>
        </p:nvSpPr>
        <p:spPr/>
        <p:txBody>
          <a:bodyPr/>
          <a:lstStyle/>
          <a:p>
            <a:r>
              <a:rPr lang="en-US" b="1" dirty="0"/>
              <a:t>R – Result</a:t>
            </a:r>
            <a:br>
              <a:rPr lang="en-US" b="1" dirty="0"/>
            </a:br>
            <a:endParaRPr lang="en-IN" dirty="0"/>
          </a:p>
        </p:txBody>
      </p:sp>
    </p:spTree>
    <p:extLst>
      <p:ext uri="{BB962C8B-B14F-4D97-AF65-F5344CB8AC3E}">
        <p14:creationId xmlns:p14="http://schemas.microsoft.com/office/powerpoint/2010/main" val="351807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19504-4A51-41EC-8FDC-D4884A407F97}"/>
              </a:ext>
            </a:extLst>
          </p:cNvPr>
          <p:cNvSpPr>
            <a:spLocks noGrp="1"/>
          </p:cNvSpPr>
          <p:nvPr>
            <p:ph type="dt" sz="half" idx="2"/>
          </p:nvPr>
        </p:nvSpPr>
        <p:spPr/>
        <p:txBody>
          <a:bodyPr/>
          <a:lstStyle/>
          <a:p>
            <a:fld id="{90EA6C54-2562-43EA-9A1B-F808D04718E7}" type="datetime1">
              <a:rPr lang="en-US" smtClean="0"/>
              <a:t>9/21/2026</a:t>
            </a:fld>
            <a:endParaRPr lang="en-US" dirty="0"/>
          </a:p>
        </p:txBody>
      </p:sp>
      <p:sp>
        <p:nvSpPr>
          <p:cNvPr id="3" name="Slide Number Placeholder 2">
            <a:extLst>
              <a:ext uri="{FF2B5EF4-FFF2-40B4-BE49-F238E27FC236}">
                <a16:creationId xmlns:a16="http://schemas.microsoft.com/office/drawing/2014/main" id="{24A858DD-C7DB-5CCA-4397-3CFDA0492FFF}"/>
              </a:ext>
            </a:extLst>
          </p:cNvPr>
          <p:cNvSpPr>
            <a:spLocks noGrp="1"/>
          </p:cNvSpPr>
          <p:nvPr>
            <p:ph type="sldNum" sz="quarter" idx="4"/>
          </p:nvPr>
        </p:nvSpPr>
        <p:spPr/>
        <p:txBody>
          <a:bodyPr/>
          <a:lstStyle/>
          <a:p>
            <a:fld id="{294A09A9-5501-47C1-A89A-A340965A2BE2}" type="slidenum">
              <a:rPr lang="en-US" smtClean="0"/>
              <a:pPr/>
              <a:t>13</a:t>
            </a:fld>
            <a:endParaRPr lang="en-US" dirty="0"/>
          </a:p>
        </p:txBody>
      </p:sp>
      <p:sp>
        <p:nvSpPr>
          <p:cNvPr id="5" name="TextBox 4">
            <a:extLst>
              <a:ext uri="{FF2B5EF4-FFF2-40B4-BE49-F238E27FC236}">
                <a16:creationId xmlns:a16="http://schemas.microsoft.com/office/drawing/2014/main" id="{ECF9CA3F-54E1-A485-0500-28AB0F95DA7A}"/>
              </a:ext>
            </a:extLst>
          </p:cNvPr>
          <p:cNvSpPr txBox="1"/>
          <p:nvPr/>
        </p:nvSpPr>
        <p:spPr>
          <a:xfrm>
            <a:off x="1321725" y="-349135"/>
            <a:ext cx="8853054" cy="5632311"/>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Interview question: “Tell me about a time when you had to resolve a conflict within a team.”</a:t>
            </a:r>
          </a:p>
          <a:p>
            <a:r>
              <a:rPr lang="en-US" dirty="0">
                <a:latin typeface="Times New Roman" panose="02020603050405020304" pitchFamily="18" charset="0"/>
                <a:cs typeface="Times New Roman" panose="02020603050405020304" pitchFamily="18" charset="0"/>
              </a:rPr>
              <a:t>STAR response</a:t>
            </a:r>
          </a:p>
          <a:p>
            <a:r>
              <a:rPr lang="en-US" b="1" dirty="0">
                <a:latin typeface="Times New Roman" panose="02020603050405020304" pitchFamily="18" charset="0"/>
                <a:cs typeface="Times New Roman" panose="02020603050405020304" pitchFamily="18" charset="0"/>
              </a:rPr>
              <a:t>Situation: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“During my final-year project, two members of my team disagreed strongly about the technical approach to developing our application.”</a:t>
            </a:r>
          </a:p>
          <a:p>
            <a:r>
              <a:rPr lang="en-US" b="1" dirty="0">
                <a:latin typeface="Times New Roman" panose="02020603050405020304" pitchFamily="18" charset="0"/>
                <a:cs typeface="Times New Roman" panose="02020603050405020304" pitchFamily="18" charset="0"/>
              </a:rPr>
              <a:t>Task: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 the team coordinator, I had to resolve the disagreement while ensuring that the project remained on schedule.”</a:t>
            </a:r>
          </a:p>
          <a:p>
            <a:r>
              <a:rPr lang="en-US" b="1" dirty="0">
                <a:latin typeface="Times New Roman" panose="02020603050405020304" pitchFamily="18" charset="0"/>
                <a:cs typeface="Times New Roman" panose="02020603050405020304" pitchFamily="18" charset="0"/>
              </a:rPr>
              <a:t>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 first asked both members to explain their approaches and the reasoning behind them. I then encouraged the team to evaluate both options based on technical feasibility, available resources, and the project deadline. After comparing the alternatives, we selected the approach that best met the project requirements and redistributed the tasks according to each member's strengths.”</a:t>
            </a:r>
          </a:p>
          <a:p>
            <a:r>
              <a:rPr lang="en-US" b="1" dirty="0">
                <a:latin typeface="Times New Roman" panose="02020603050405020304" pitchFamily="18" charset="0"/>
                <a:cs typeface="Times New Roman" panose="02020603050405020304" pitchFamily="18" charset="0"/>
              </a:rPr>
              <a:t>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completed the prototype on schedule and avoided further disagreement. The experience taught me that structured discussion and evidence-based decision-making can help resolve team conflicts effectively.”</a:t>
            </a:r>
          </a:p>
        </p:txBody>
      </p:sp>
    </p:spTree>
    <p:extLst>
      <p:ext uri="{BB962C8B-B14F-4D97-AF65-F5344CB8AC3E}">
        <p14:creationId xmlns:p14="http://schemas.microsoft.com/office/powerpoint/2010/main" val="473288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C9932-5406-DD9F-8256-2808AE5D3A5A}"/>
              </a:ext>
            </a:extLst>
          </p:cNvPr>
          <p:cNvSpPr>
            <a:spLocks noGrp="1"/>
          </p:cNvSpPr>
          <p:nvPr>
            <p:ph type="dt" sz="half" idx="2"/>
          </p:nvPr>
        </p:nvSpPr>
        <p:spPr/>
        <p:txBody>
          <a:bodyPr/>
          <a:lstStyle/>
          <a:p>
            <a:fld id="{90EA6C54-2562-43EA-9A1B-F808D04718E7}" type="datetime1">
              <a:rPr lang="en-US" smtClean="0"/>
              <a:t>9/21/2026</a:t>
            </a:fld>
            <a:endParaRPr lang="en-US" dirty="0"/>
          </a:p>
        </p:txBody>
      </p:sp>
      <p:sp>
        <p:nvSpPr>
          <p:cNvPr id="3" name="Slide Number Placeholder 2">
            <a:extLst>
              <a:ext uri="{FF2B5EF4-FFF2-40B4-BE49-F238E27FC236}">
                <a16:creationId xmlns:a16="http://schemas.microsoft.com/office/drawing/2014/main" id="{D069E2D5-E514-475D-B4AF-8150DFAD8151}"/>
              </a:ext>
            </a:extLst>
          </p:cNvPr>
          <p:cNvSpPr>
            <a:spLocks noGrp="1"/>
          </p:cNvSpPr>
          <p:nvPr>
            <p:ph type="sldNum" sz="quarter" idx="4"/>
          </p:nvPr>
        </p:nvSpPr>
        <p:spPr/>
        <p:txBody>
          <a:bodyPr/>
          <a:lstStyle/>
          <a:p>
            <a:fld id="{294A09A9-5501-47C1-A89A-A340965A2BE2}" type="slidenum">
              <a:rPr lang="en-US" smtClean="0"/>
              <a:pPr/>
              <a:t>14</a:t>
            </a:fld>
            <a:endParaRPr lang="en-US" dirty="0"/>
          </a:p>
        </p:txBody>
      </p:sp>
      <p:sp>
        <p:nvSpPr>
          <p:cNvPr id="4" name="Rectangle 1">
            <a:extLst>
              <a:ext uri="{FF2B5EF4-FFF2-40B4-BE49-F238E27FC236}">
                <a16:creationId xmlns:a16="http://schemas.microsoft.com/office/drawing/2014/main" id="{D2FCBE3C-954D-197E-D1E2-00BEB14508B7}"/>
              </a:ext>
            </a:extLst>
          </p:cNvPr>
          <p:cNvSpPr>
            <a:spLocks noChangeArrowheads="1"/>
          </p:cNvSpPr>
          <p:nvPr/>
        </p:nvSpPr>
        <p:spPr bwMode="auto">
          <a:xfrm>
            <a:off x="0" y="-5203647"/>
            <a:ext cx="12195967" cy="1086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 is primarily designed for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because those questions ask about actual past experiences.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situational questions, candidates can use a similar logical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Situation → Action → Reasoning → Expected Result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Situation: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two team members disagreed during a project…”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would first listen to both perspectives…”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Reasoning: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would help identify whether the disagreement was based on evidence, priorities,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 misunderstanding…”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Result: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would then work with them to agree on an evidence-based solution and clarify responsibilities.”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demonstrates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structured thinking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 when the candidate has not previously experienced the situation.</a:t>
            </a:r>
          </a:p>
        </p:txBody>
      </p:sp>
    </p:spTree>
    <p:extLst>
      <p:ext uri="{BB962C8B-B14F-4D97-AF65-F5344CB8AC3E}">
        <p14:creationId xmlns:p14="http://schemas.microsoft.com/office/powerpoint/2010/main" val="458730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52BEFF-D815-37E4-9C2F-3CE834CDA18B}"/>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6E4D73A4-52C9-6DD3-0D54-3171825CDCED}"/>
              </a:ext>
            </a:extLst>
          </p:cNvPr>
          <p:cNvSpPr>
            <a:spLocks noGrp="1"/>
          </p:cNvSpPr>
          <p:nvPr>
            <p:ph type="sldNum" sz="quarter" idx="4"/>
          </p:nvPr>
        </p:nvSpPr>
        <p:spPr/>
        <p:txBody>
          <a:bodyPr/>
          <a:lstStyle/>
          <a:p>
            <a:fld id="{294A09A9-5501-47C1-A89A-A340965A2BE2}" type="slidenum">
              <a:rPr lang="en-US" smtClean="0"/>
              <a:pPr/>
              <a:t>15</a:t>
            </a:fld>
            <a:endParaRPr lang="en-US" dirty="0"/>
          </a:p>
        </p:txBody>
      </p:sp>
      <p:sp>
        <p:nvSpPr>
          <p:cNvPr id="5" name="Title 4">
            <a:extLst>
              <a:ext uri="{FF2B5EF4-FFF2-40B4-BE49-F238E27FC236}">
                <a16:creationId xmlns:a16="http://schemas.microsoft.com/office/drawing/2014/main" id="{917AD4CE-FC3D-803E-73EF-C3DDA44F8CAC}"/>
              </a:ext>
            </a:extLst>
          </p:cNvPr>
          <p:cNvSpPr>
            <a:spLocks noGrp="1"/>
          </p:cNvSpPr>
          <p:nvPr>
            <p:ph type="title"/>
          </p:nvPr>
        </p:nvSpPr>
        <p:spPr/>
        <p:txBody>
          <a:bodyPr/>
          <a:lstStyle/>
          <a:p>
            <a:r>
              <a:rPr kumimoji="0" lang="en-US" altLang="en-US" sz="4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t>
            </a:r>
            <a:r>
              <a:rPr kumimoji="0" lang="en-US" altLang="en-US" sz="4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4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a:t>
            </a:r>
            <a:br>
              <a:rPr kumimoji="0" lang="en-US" altLang="en-US" sz="4400" b="1" i="0" u="none" strike="noStrike" cap="none" normalizeH="0" baseline="0" dirty="0">
                <a:ln>
                  <a:noFill/>
                </a:ln>
                <a:solidFill>
                  <a:schemeClr val="tx1"/>
                </a:solidFill>
                <a:effectLst/>
                <a:latin typeface="Arial" panose="020B0604020202020204" pitchFamily="34" charset="0"/>
              </a:rPr>
            </a:br>
            <a:endParaRPr lang="en-IN" dirty="0"/>
          </a:p>
        </p:txBody>
      </p:sp>
      <p:sp>
        <p:nvSpPr>
          <p:cNvPr id="6" name="Rectangle 1">
            <a:extLst>
              <a:ext uri="{FF2B5EF4-FFF2-40B4-BE49-F238E27FC236}">
                <a16:creationId xmlns:a16="http://schemas.microsoft.com/office/drawing/2014/main" id="{AB59D4DD-736D-5395-6FF9-FB59C1BF9330}"/>
              </a:ext>
            </a:extLst>
          </p:cNvPr>
          <p:cNvSpPr>
            <a:spLocks noGrp="1" noChangeArrowheads="1"/>
          </p:cNvSpPr>
          <p:nvPr>
            <p:ph sz="quarter" idx="11"/>
          </p:nvPr>
        </p:nvSpPr>
        <p:spPr bwMode="auto">
          <a:xfrm>
            <a:off x="854075" y="1609239"/>
            <a:ext cx="1085354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Experienced interviewers may ask follow-up questions to obtain deeper evidence.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question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“Tell me about a time you dealt with a difficult team member.”</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Follow-up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specifically made the situation difficult?”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did you do first?”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did you choose that approach?”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alternatives did you consider?”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did the other person respond?”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would you do differently now?”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did you learn from the experience?”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questions prevent candidates from relying 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prepared or superficial answers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3439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E308C0-FB67-BD85-4D84-4AA9357AAFAE}"/>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F474C064-4015-4D3A-432C-61F1B0E562DB}"/>
              </a:ext>
            </a:extLst>
          </p:cNvPr>
          <p:cNvSpPr>
            <a:spLocks noGrp="1"/>
          </p:cNvSpPr>
          <p:nvPr>
            <p:ph type="sldNum" sz="quarter" idx="4"/>
          </p:nvPr>
        </p:nvSpPr>
        <p:spPr/>
        <p:txBody>
          <a:bodyPr/>
          <a:lstStyle/>
          <a:p>
            <a:fld id="{294A09A9-5501-47C1-A89A-A340965A2BE2}" type="slidenum">
              <a:rPr lang="en-US" smtClean="0"/>
              <a:pPr/>
              <a:t>16</a:t>
            </a:fld>
            <a:endParaRPr lang="en-US" dirty="0"/>
          </a:p>
        </p:txBody>
      </p:sp>
      <p:sp>
        <p:nvSpPr>
          <p:cNvPr id="5" name="Title 4">
            <a:extLst>
              <a:ext uri="{FF2B5EF4-FFF2-40B4-BE49-F238E27FC236}">
                <a16:creationId xmlns:a16="http://schemas.microsoft.com/office/drawing/2014/main" id="{66B1B23D-6D82-7781-B0BC-81D7EA7ADD11}"/>
              </a:ext>
            </a:extLst>
          </p:cNvPr>
          <p:cNvSpPr>
            <a:spLocks noGrp="1"/>
          </p:cNvSpPr>
          <p:nvPr>
            <p:ph type="title"/>
          </p:nvPr>
        </p:nvSpPr>
        <p:spPr/>
        <p:txBody>
          <a:bodyPr/>
          <a:lstStyle/>
          <a:p>
            <a:r>
              <a:rPr lang="en-IN" dirty="0"/>
              <a:t>Summary</a:t>
            </a:r>
          </a:p>
        </p:txBody>
      </p:sp>
      <p:sp>
        <p:nvSpPr>
          <p:cNvPr id="6" name="Rectangle 1">
            <a:extLst>
              <a:ext uri="{FF2B5EF4-FFF2-40B4-BE49-F238E27FC236}">
                <a16:creationId xmlns:a16="http://schemas.microsoft.com/office/drawing/2014/main" id="{3E628E5D-E724-268A-6862-E3DE78946741}"/>
              </a:ext>
            </a:extLst>
          </p:cNvPr>
          <p:cNvSpPr>
            <a:spLocks noGrp="1" noChangeArrowheads="1"/>
          </p:cNvSpPr>
          <p:nvPr>
            <p:ph sz="quarter" idx="11"/>
          </p:nvPr>
        </p:nvSpPr>
        <p:spPr bwMode="auto">
          <a:xfrm>
            <a:off x="854075" y="2347903"/>
            <a:ext cx="991008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interviewing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asks what you have done in the past.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Situational interviewing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asks what you would do in a hypothetical situation.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structured way to answer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Situation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establishes context.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explains responsibility.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demonstrates what you personally did.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demonstrates the outcome.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answers are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 concise, evidence-based, and relevant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the competency being assessed. </a:t>
            </a:r>
          </a:p>
        </p:txBody>
      </p:sp>
    </p:spTree>
    <p:extLst>
      <p:ext uri="{BB962C8B-B14F-4D97-AF65-F5344CB8AC3E}">
        <p14:creationId xmlns:p14="http://schemas.microsoft.com/office/powerpoint/2010/main" val="1229720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924B28-7EB6-08B4-222A-C9FE337724D8}"/>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CF3D7218-E787-8286-99D5-C3ABD9099091}"/>
              </a:ext>
            </a:extLst>
          </p:cNvPr>
          <p:cNvSpPr>
            <a:spLocks noGrp="1"/>
          </p:cNvSpPr>
          <p:nvPr>
            <p:ph type="sldNum" sz="quarter" idx="4"/>
          </p:nvPr>
        </p:nvSpPr>
        <p:spPr/>
        <p:txBody>
          <a:bodyPr/>
          <a:lstStyle/>
          <a:p>
            <a:fld id="{294A09A9-5501-47C1-A89A-A340965A2BE2}" type="slidenum">
              <a:rPr lang="en-US" smtClean="0"/>
              <a:pPr/>
              <a:t>17</a:t>
            </a:fld>
            <a:endParaRPr lang="en-US" dirty="0"/>
          </a:p>
        </p:txBody>
      </p:sp>
      <p:sp>
        <p:nvSpPr>
          <p:cNvPr id="4" name="Content Placeholder 3">
            <a:extLst>
              <a:ext uri="{FF2B5EF4-FFF2-40B4-BE49-F238E27FC236}">
                <a16:creationId xmlns:a16="http://schemas.microsoft.com/office/drawing/2014/main" id="{C1214009-6C83-58D2-B141-BBB06F1859A5}"/>
              </a:ext>
            </a:extLst>
          </p:cNvPr>
          <p:cNvSpPr>
            <a:spLocks noGrp="1"/>
          </p:cNvSpPr>
          <p:nvPr>
            <p:ph sz="quarter" idx="11"/>
          </p:nvPr>
        </p:nvSpPr>
        <p:spPr/>
        <p:txBody>
          <a:bodyPr>
            <a:normAutofit/>
          </a:bodyPr>
          <a:lstStyle/>
          <a:p>
            <a:r>
              <a:rPr lang="en-US" sz="1600" dirty="0">
                <a:latin typeface="Times New Roman" panose="02020603050405020304" pitchFamily="18" charset="0"/>
                <a:cs typeface="Times New Roman" panose="02020603050405020304" pitchFamily="18" charset="0"/>
              </a:rPr>
              <a:t>During an interview, you are asked to describe a situation in which you had a disagreement with a team member while working on an important project. Explain how you can use the STAR method to structure your response and demonstrate your conflict-management skills. (8 marks)</a:t>
            </a:r>
          </a:p>
          <a:p>
            <a:r>
              <a:rPr lang="en-US" sz="1600" dirty="0">
                <a:latin typeface="Times New Roman" panose="02020603050405020304" pitchFamily="18" charset="0"/>
                <a:cs typeface="Times New Roman" panose="02020603050405020304" pitchFamily="18" charset="0"/>
              </a:rPr>
              <a:t>During an interview, you are asked to describe a situation in which you had to take the lead when your team was struggling to meet a project deadline. Explain how you can use the STAR method to structure your response and highlight your leadership skills. (8 marks)</a:t>
            </a:r>
          </a:p>
          <a:p>
            <a:pPr algn="just">
              <a:lnSpc>
                <a:spcPct val="115000"/>
              </a:lnSpc>
              <a:spcAft>
                <a:spcPts val="1000"/>
              </a:spcAft>
            </a:pPr>
            <a:r>
              <a:rPr lang="en-US" sz="1600" dirty="0">
                <a:latin typeface="Times New Roman" panose="02020603050405020304" pitchFamily="18" charset="0"/>
                <a:cs typeface="Times New Roman" panose="02020603050405020304" pitchFamily="18" charset="0"/>
              </a:rPr>
              <a:t>During an interview, you are asked to describe a situation in which your team encountered an unexpected problem while completing a project. Explain how you can use the STAR method to structure your response and demonstrate your problem-solving and decision-making abilities. (8 marks)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849E12E0-299C-C3FA-D683-BD1B5C624EBC}"/>
              </a:ext>
            </a:extLst>
          </p:cNvPr>
          <p:cNvSpPr>
            <a:spLocks noGrp="1"/>
          </p:cNvSpPr>
          <p:nvPr>
            <p:ph type="title"/>
          </p:nvPr>
        </p:nvSpPr>
        <p:spPr/>
        <p:txBody>
          <a:bodyPr/>
          <a:lstStyle/>
          <a:p>
            <a:r>
              <a:rPr lang="en-IN" dirty="0"/>
              <a:t>Possible Questions</a:t>
            </a:r>
          </a:p>
        </p:txBody>
      </p:sp>
    </p:spTree>
    <p:extLst>
      <p:ext uri="{BB962C8B-B14F-4D97-AF65-F5344CB8AC3E}">
        <p14:creationId xmlns:p14="http://schemas.microsoft.com/office/powerpoint/2010/main" val="232751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8D988B-3A91-B360-1F94-6A59B98483D5}"/>
              </a:ext>
            </a:extLst>
          </p:cNvPr>
          <p:cNvSpPr>
            <a:spLocks noGrp="1"/>
          </p:cNvSpPr>
          <p:nvPr>
            <p:ph type="dt" sz="half" idx="2"/>
          </p:nvPr>
        </p:nvSpPr>
        <p:spPr/>
        <p:txBody>
          <a:bodyPr/>
          <a:lstStyle/>
          <a:p>
            <a:fld id="{C5DB74C9-B808-4394-A017-79C83B2524EF}" type="datetime1">
              <a:rPr lang="en-US" smtClean="0"/>
              <a:t>9/21/2026</a:t>
            </a:fld>
            <a:endParaRPr lang="en-US" dirty="0"/>
          </a:p>
        </p:txBody>
      </p:sp>
      <p:sp>
        <p:nvSpPr>
          <p:cNvPr id="3" name="Slide Number Placeholder 2">
            <a:extLst>
              <a:ext uri="{FF2B5EF4-FFF2-40B4-BE49-F238E27FC236}">
                <a16:creationId xmlns:a16="http://schemas.microsoft.com/office/drawing/2014/main" id="{4B263FAD-8F7D-7475-2C8B-01D7546ADBD8}"/>
              </a:ext>
            </a:extLst>
          </p:cNvPr>
          <p:cNvSpPr>
            <a:spLocks noGrp="1"/>
          </p:cNvSpPr>
          <p:nvPr>
            <p:ph type="sldNum" sz="quarter" idx="4"/>
          </p:nvPr>
        </p:nvSpPr>
        <p:spPr/>
        <p:txBody>
          <a:bodyPr/>
          <a:lstStyle/>
          <a:p>
            <a:fld id="{294A09A9-5501-47C1-A89A-A340965A2BE2}" type="slidenum">
              <a:rPr lang="en-US" smtClean="0"/>
              <a:pPr/>
              <a:t>18</a:t>
            </a:fld>
            <a:endParaRPr lang="en-US" dirty="0"/>
          </a:p>
        </p:txBody>
      </p:sp>
      <p:sp>
        <p:nvSpPr>
          <p:cNvPr id="5" name="Title 4">
            <a:extLst>
              <a:ext uri="{FF2B5EF4-FFF2-40B4-BE49-F238E27FC236}">
                <a16:creationId xmlns:a16="http://schemas.microsoft.com/office/drawing/2014/main" id="{63F67921-C341-4F42-4E3D-88F774869976}"/>
              </a:ext>
            </a:extLst>
          </p:cNvPr>
          <p:cNvSpPr>
            <a:spLocks noGrp="1"/>
          </p:cNvSpPr>
          <p:nvPr>
            <p:ph type="title"/>
          </p:nvPr>
        </p:nvSpPr>
        <p:spPr/>
        <p:txBody>
          <a:bodyPr/>
          <a:lstStyle/>
          <a:p>
            <a:r>
              <a:rPr lang="en-IN" dirty="0"/>
              <a:t>Possible Questions</a:t>
            </a:r>
          </a:p>
        </p:txBody>
      </p:sp>
      <p:sp>
        <p:nvSpPr>
          <p:cNvPr id="6" name="Rectangle 1">
            <a:extLst>
              <a:ext uri="{FF2B5EF4-FFF2-40B4-BE49-F238E27FC236}">
                <a16:creationId xmlns:a16="http://schemas.microsoft.com/office/drawing/2014/main" id="{A07565BF-792A-82BA-5051-FE966AD31EC4}"/>
              </a:ext>
            </a:extLst>
          </p:cNvPr>
          <p:cNvSpPr>
            <a:spLocks noGrp="1" noChangeArrowheads="1"/>
          </p:cNvSpPr>
          <p:nvPr>
            <p:ph sz="quarter" idx="11"/>
          </p:nvPr>
        </p:nvSpPr>
        <p:spPr bwMode="auto">
          <a:xfrm>
            <a:off x="854075" y="1855463"/>
            <a:ext cx="1029480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how an interviewer can use follow-up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 to assess a candidate’s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problem-solving and teamwork skills. (4 marks)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Discuss how an interviewer can use situational questions to evaluate a candidate’s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decision-making and conflict-management abilities. (4 marks)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how an interviewer can frame advanced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 to assess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candidate’s adaptability and leadership skills. (4 marks)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Discuss how probing questions can help an interviewer evaluate a candidate’s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ability to handle challenging workplace situations and make effective decisions. (4 marks)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how an interviewer can use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questions based on real-life workplace scenarios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assess a candidate’s communication, judgement, and problem-solving abilities. (4 marks) </a:t>
            </a:r>
          </a:p>
        </p:txBody>
      </p:sp>
    </p:spTree>
    <p:extLst>
      <p:ext uri="{BB962C8B-B14F-4D97-AF65-F5344CB8AC3E}">
        <p14:creationId xmlns:p14="http://schemas.microsoft.com/office/powerpoint/2010/main" val="4190166835"/>
      </p:ext>
    </p:extLst>
  </p:cSld>
  <p:clrMapOvr>
    <a:masterClrMapping/>
  </p:clrMapOvr>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2.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color presentation</Template>
  <TotalTime>188</TotalTime>
  <Words>1645</Words>
  <Application>Microsoft Office PowerPoint</Application>
  <PresentationFormat>Widescreen</PresentationFormat>
  <Paragraphs>213</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Biome Light</vt:lpstr>
      <vt:lpstr>Calibri</vt:lpstr>
      <vt:lpstr>Times New Roman</vt:lpstr>
      <vt:lpstr>Office Theme</vt:lpstr>
      <vt:lpstr>Behavioural and Situational Interviewing Using the STAR Method </vt:lpstr>
      <vt:lpstr>Introduction </vt:lpstr>
      <vt:lpstr>Behavioural Interviewing</vt:lpstr>
      <vt:lpstr>What behavioural questions assess</vt:lpstr>
      <vt:lpstr>Situational Interviewing</vt:lpstr>
      <vt:lpstr>Behavioural vs Situational</vt:lpstr>
      <vt:lpstr>The STAR method</vt:lpstr>
      <vt:lpstr>S – Situation </vt:lpstr>
      <vt:lpstr>T – Task </vt:lpstr>
      <vt:lpstr>A – Action </vt:lpstr>
      <vt:lpstr>Example for Action</vt:lpstr>
      <vt:lpstr>R – Result </vt:lpstr>
      <vt:lpstr>PowerPoint Presentation</vt:lpstr>
      <vt:lpstr>PowerPoint Presentation</vt:lpstr>
      <vt:lpstr>Advanced Behavioural Questions </vt:lpstr>
      <vt:lpstr>Summary</vt:lpstr>
      <vt:lpstr>Possible Questions</vt:lpstr>
      <vt:lpstr>Possible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Behavioural and Situational Interviewing Using the STAR Method </dc:title>
  <dc:creator>MARTHA KARUNAKAR</dc:creator>
  <cp:lastModifiedBy>MARTHA KARUNAKAR</cp:lastModifiedBy>
  <cp:revision>21</cp:revision>
  <dcterms:created xsi:type="dcterms:W3CDTF">2026-09-21T07:28:03Z</dcterms:created>
  <dcterms:modified xsi:type="dcterms:W3CDTF">2026-09-21T10:36:39Z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