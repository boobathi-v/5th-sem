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5" r:id="rId2"/>
    <p:sldId id="286" r:id="rId3"/>
    <p:sldId id="287" r:id="rId4"/>
    <p:sldId id="268" r:id="rId5"/>
    <p:sldId id="257" r:id="rId6"/>
    <p:sldId id="282" r:id="rId7"/>
    <p:sldId id="283" r:id="rId8"/>
    <p:sldId id="284" r:id="rId9"/>
    <p:sldId id="288" r:id="rId10"/>
    <p:sldId id="276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45189-1EDF-4DF1-8CE0-E16FE74B92D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A5687-7405-4F11-94B9-1E52D7D47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135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F3B2-E43E-6E6A-AB81-62D31E090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B1978-BD6A-2DCD-E126-A6D837C4D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9031B-8D46-94A6-FEE0-766B90F37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E949-935D-4322-CB92-675DB387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D8DFB-3D50-DA94-7650-2847AE3A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63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1548-DC2B-E4A3-A463-DE87AC9D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7E3D1-ACD0-3773-F74D-C1566AE3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595FA-B342-8ABA-0E43-3AB98B01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B0B5-8943-88E2-6C9F-D9381829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6F7D6-7E0B-58C1-81C2-3AAC03EC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91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CBAD-0665-8354-8930-1D0C9F5D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E39A8-8A74-CA73-BF71-79BA72571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B429C-1BD4-7B19-99C0-78B9E885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8176-9B9C-C657-D5FE-AB0C8C31B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DB1A9-659F-9F0C-F6C9-F62C0A80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265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D7C66-24AD-C509-F118-3CDC3E96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BD89E-8968-8ED9-1DE0-EA8AB3450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114A6-0DBA-0839-ACFC-5CF5EEC7F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93BC6-71E1-1BFE-73D7-46566863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01793-B36E-2FF8-308B-D958C8D7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0FF54-D95A-4A71-1352-C80113D3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4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F619-5BAD-981C-990D-8B897F5E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B463A-80F0-8C54-8718-B5E28473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6170F-9A52-6A39-A132-78839EB0F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78C45-9B41-BC99-85A2-B4174B6DA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CFF26-69C0-03EF-9A05-5C3FA5018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507FE-74FD-A3B4-27CA-D34F27D5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DE5AB-2E7E-DC5C-B18C-FFB45D57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3EAD1-A61B-67FC-1C3F-E897FB52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93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CA1A-E1E1-2F19-7F1F-7B5ACF59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938E7-E2F3-28BC-0114-6136039D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47A9D-FF46-B3F3-D666-F76DC81A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E702D-0DDC-7CE6-1875-B68999E1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37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D9E82-0A55-FB07-D945-BDBEAC69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9F8E3-0E60-8F39-FBC7-A2628158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B917D-1C5D-CF0A-0AA0-6886876F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93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0E86-4109-59DF-84AD-11BD3C2E6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B0944-F83E-7805-CF10-8A85A46A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51778-0D42-C297-4C64-995FB5980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02DE7-990D-EA3D-9A63-04834535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A5ED7-094A-22CC-277F-CA674703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70916-A356-0616-BEB6-78E5605D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15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7DC8-1B30-BBDA-FE17-68FDA3C0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6ADEBA-B5C2-3518-5720-9BB81303B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B16DB-C713-2B87-D3E4-81B5D7E07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D2B58-44C7-21C7-197B-87AA2890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C7981-E3E2-B95F-DBA2-955AE97B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FC574-072E-BEF3-00D5-816424DE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51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DA26-04D8-39D1-2F36-1D3306EB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11967-7904-A65A-32CE-709457F44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E3760-641D-CD21-DAE9-5542E954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A54A-DD45-387E-61BE-E109C51C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BA68F-615E-E27C-8419-008FDAC8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13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F5F90-0054-80BF-CE8A-C3A9CA58D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8713F-1F5F-4381-8F26-81FAEDE80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F826C-9248-C3AA-E69A-02B2A00D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E43E-AA14-F18A-FD82-01E66B11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941A5-675A-2884-8EE0-1B2C88B2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23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9E342-C46E-15DC-A07B-C3324183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3D9B7-46F7-1197-BA10-D835E06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D3664-BD65-3576-EF60-BD2DD950B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DCC00-F14C-413E-99AF-44FBAF1CD53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80ADF-A0CB-40AD-2059-760301D20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0EA9A-AB66-EB3B-C136-F50EA5FBD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6B1F5-D1FF-4108-9AD3-F296A6FBF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491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A15E-87BC-8EA1-6464-F55A86B3C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Cross-cultural communication in GDs: </a:t>
            </a:r>
            <a:r>
              <a:rPr lang="en-US" dirty="0"/>
              <a:t>Navigating Cultural Diversity in Group Settings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34099-4716-A8E0-CED8-8060A0F8C2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Martha Karunakar</a:t>
            </a:r>
          </a:p>
          <a:p>
            <a:r>
              <a:rPr lang="en-IN" sz="2800" dirty="0"/>
              <a:t>18.08.2026</a:t>
            </a:r>
          </a:p>
        </p:txBody>
      </p:sp>
    </p:spTree>
    <p:extLst>
      <p:ext uri="{BB962C8B-B14F-4D97-AF65-F5344CB8AC3E}">
        <p14:creationId xmlns:p14="http://schemas.microsoft.com/office/powerpoint/2010/main" val="881864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8254-579B-D386-46E6-A8A437C3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Cross-cultural communication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4576-BD27-39E6-9DD9-DB2BC8BA0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Cross-cultural communication</a:t>
            </a:r>
            <a:r>
              <a:rPr lang="en-US" dirty="0"/>
              <a:t> refers to the exchange of ideas, information, and meaning between people from different cultural backgrounds.</a:t>
            </a:r>
          </a:p>
          <a:p>
            <a:r>
              <a:rPr lang="en-US" dirty="0"/>
              <a:t>In a </a:t>
            </a:r>
            <a:r>
              <a:rPr lang="en-US" b="1" dirty="0"/>
              <a:t>Group Discussion (GD)</a:t>
            </a:r>
            <a:r>
              <a:rPr lang="en-US" dirty="0"/>
              <a:t>, participants may differ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Language and accent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Communication styles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norms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Attitudes toward authority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Approaches to disagreement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684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2BC0-A7EA-8F57-E0FA-85528406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</a:t>
            </a:r>
            <a:r>
              <a:rPr lang="en-US" b="1" dirty="0"/>
              <a:t>Group Discussion (GD)</a:t>
            </a:r>
            <a:r>
              <a:rPr lang="en-US" dirty="0"/>
              <a:t>, participants may differ in: (</a:t>
            </a:r>
            <a:r>
              <a:rPr lang="en-US" dirty="0" err="1"/>
              <a:t>contd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86C3-FDEE-3892-B41D-B3276999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Attitudes toward authority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 to disagreement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Levels of directness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Listening and turn-taking habits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versus group orientation </a:t>
            </a:r>
            <a:endParaRPr lang="en-US" sz="2400" dirty="0"/>
          </a:p>
          <a:p>
            <a:r>
              <a:rPr lang="en-US" dirty="0"/>
              <a:t>Effective communication in a diverse group is not simply about speaking good English; it is about understanding how culture influences the way people speak, listen, disagree, persuade, and interpret others.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84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DA94BC-F1B2-88A7-D473-E48DEAF3B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249" y="3111382"/>
            <a:ext cx="4870472" cy="3947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D8B263-FA9A-A92D-21F3-DDC7BF4FE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238" y="0"/>
            <a:ext cx="7396007" cy="3383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30BA79-B9B0-DD16-955F-B95F8D15B3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05" t="2897" b="13507"/>
          <a:stretch/>
        </p:blipFill>
        <p:spPr>
          <a:xfrm>
            <a:off x="0" y="3111382"/>
            <a:ext cx="3961446" cy="348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0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2EBF-9F02-60A8-0073-B3CF04AF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18255"/>
            <a:ext cx="10515600" cy="1325563"/>
          </a:xfrm>
        </p:spPr>
        <p:txBody>
          <a:bodyPr/>
          <a:lstStyle/>
          <a:p>
            <a:r>
              <a:rPr lang="en-US" dirty="0"/>
              <a:t>Cross-cultural competence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41839-3CAC-47D2-7965-F7B0E20A4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120876"/>
            <a:ext cx="11592232" cy="5353665"/>
          </a:xfrm>
        </p:spPr>
        <p:txBody>
          <a:bodyPr>
            <a:normAutofit/>
          </a:bodyPr>
          <a:lstStyle/>
          <a:p>
            <a:r>
              <a:rPr lang="en-US" dirty="0"/>
              <a:t>Williams (2001) defined cultural competence as "the ability of individuals and systems to work or respond effectively across cultures in a way that acknowledges and respects the culture of the person or organization being served" </a:t>
            </a:r>
          </a:p>
          <a:p>
            <a:r>
              <a:rPr lang="en-US" dirty="0"/>
              <a:t>Cultural intelligence is the ability to interpret the stranger's behavior the way the stranger's compatriots would (</a:t>
            </a:r>
            <a:r>
              <a:rPr lang="en-US" dirty="0" err="1"/>
              <a:t>Muzychenko</a:t>
            </a:r>
            <a:r>
              <a:rPr lang="en-US" dirty="0"/>
              <a:t> 2008). If employees don't feel as if their manager understands or respects their culture, employees may find it hard to trust the leader or work as a team.</a:t>
            </a:r>
          </a:p>
          <a:p>
            <a:r>
              <a:rPr lang="en-US" dirty="0"/>
              <a:t>Having cross-cultural competence means you can be effective in your interactions with people from most any culture.</a:t>
            </a:r>
          </a:p>
          <a:p>
            <a:r>
              <a:rPr lang="en-US" dirty="0"/>
              <a:t>Cross-cultural competence helps you develop the mutual understanding and human relationships that are necessary for achieving your professional goals.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016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6156-D714-90BD-D5A2-1F535D34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Disagreement Across Cultures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1375D-7A9D-5751-7E55-D6B0D4F15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Disagreement is inevitable in a GD: The objective is not to </a:t>
            </a:r>
            <a:r>
              <a:rPr lang="en-US" b="1" dirty="0"/>
              <a:t>eliminate disagreement</a:t>
            </a:r>
            <a:r>
              <a:rPr lang="en-US" dirty="0"/>
              <a:t>, but to make disagreement productive.</a:t>
            </a:r>
          </a:p>
          <a:p>
            <a:r>
              <a:rPr lang="en-US" b="1" dirty="0"/>
              <a:t>Useful expressions</a:t>
            </a:r>
          </a:p>
          <a:p>
            <a:r>
              <a:rPr lang="en-US" b="1" dirty="0"/>
              <a:t>Agreeing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“I agree with your point because…”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“I would like to build on that idea.”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“That's an interesting perspective.” </a:t>
            </a:r>
          </a:p>
          <a:p>
            <a:r>
              <a:rPr lang="en-US" b="1" dirty="0"/>
              <a:t>Partially agreeing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“I agree to some extent, but I would also consider…”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“That is a valid point; however…”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772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1C37-EDA6-E0F2-BAA0-611D5EF5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Disagreement Across Cultures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751F-220C-3FD2-1CB1-2E0CE501B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Disagreeing respectfully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“I see the issue somewhat differently.”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“I understand your argument, but I would suggest another interpretation.”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“Could we also consider the possibility that…?” </a:t>
            </a:r>
          </a:p>
          <a:p>
            <a:r>
              <a:rPr lang="en-US" b="1"/>
              <a:t>Clarifying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“Could you elaborate on that point?”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“If I understand you correctly, you are suggesting that…?”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7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F5E1-2C67-D546-BED8-6686C39B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"3 Cs" of Cross-Cultural GDs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2E22E2-93B5-B44A-21B9-45FB2933B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62411"/>
            <a:ext cx="6805261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useful framework for students: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Curiosity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 rather than assume.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your meaning explicit and seek clarification.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others may have different communication norms.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Curiosity prevents assumptions.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Clarity prevents misunderstandings.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 builds inclusion.</a:t>
            </a:r>
          </a:p>
        </p:txBody>
      </p:sp>
    </p:spTree>
    <p:extLst>
      <p:ext uri="{BB962C8B-B14F-4D97-AF65-F5344CB8AC3E}">
        <p14:creationId xmlns:p14="http://schemas.microsoft.com/office/powerpoint/2010/main" val="329702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EF2C-323D-1305-C24B-25FD1D67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Major Challenges in Cross-Cultural GDs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F9A05-EB41-5130-9F23-CC9FA8BBA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Language Differences: </a:t>
            </a:r>
            <a:r>
              <a:rPr lang="en-US" dirty="0"/>
              <a:t>Participants may have different levels of proficiency in the language used for the discussion.</a:t>
            </a:r>
          </a:p>
          <a:p>
            <a:r>
              <a:rPr lang="en-US" dirty="0"/>
              <a:t>Possible problems: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Difficulty finding the right words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Accent-related misunderstandings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Fear of making grammatical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Unequal participation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Misinterpretation of expressions or idioms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32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5F8F-5699-5BEF-CF47-97A438B7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 Cultural Awareness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0E6B5-CB58-9768-0928-156C800FB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 about other cultures</a:t>
            </a:r>
            <a:r>
              <a:rPr lang="en-US" dirty="0"/>
              <a:t>: Understand different cultural norms, values, and traditions. Study how people from different cultures communicate, including verbal and non-verbal cues.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 open-minded</a:t>
            </a:r>
            <a:r>
              <a:rPr lang="en-US" dirty="0"/>
              <a:t>: Acknowledge that your cultural perspectives are not universal. Approach cultural differences with curiosity and respect.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805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A2FA-D805-39ED-72D7-0D101EE1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Enhance Active Listening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2D8E5-B676-0CC0-AF1B-6CD4B4C6A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Listen attentively</a:t>
            </a:r>
            <a:r>
              <a:rPr lang="en-US" dirty="0"/>
              <a:t>: In cross-cultural communication, misunderstandings can occur easily. Pay close attention to both what is being said and the context in which it’s said.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 patient</a:t>
            </a:r>
            <a:r>
              <a:rPr lang="en-US" dirty="0"/>
              <a:t>: People from different cultures may express themselves more slowly or differently. Avoid interrupting and allow space for the other person to communicate their thoughts fully.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492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397B-D93B-94F6-2C39-1222ECE0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Adapt Your Communication Style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A0640-467E-6F39-0147-894AF3DCF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 mindful of language barriers</a:t>
            </a:r>
            <a:r>
              <a:rPr lang="en-US" dirty="0"/>
              <a:t>: Speak clearly and avoid jargon or idioms that might confuse someone who is not familiar with your language. Use simple and direct language when possible.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Adjust to non-verbal cues</a:t>
            </a:r>
            <a:r>
              <a:rPr lang="en-US" dirty="0"/>
              <a:t>: Different cultures have different interpretations of body language, facial expressions, and personal space. Be observant of the other person's non-verbal signals and adjust accordingly.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73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E53C-D747-9ABF-3DB8-8555AB94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Show Respect for Cultural Differences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339A-D990-6A5D-822C-30735590A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Acknowledge different perspectives</a:t>
            </a:r>
            <a:r>
              <a:rPr lang="en-US" dirty="0"/>
              <a:t>: Understand that people from different cultures might have varying worldviews. Respect these differences without making judgments.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Avoid stereotyping</a:t>
            </a:r>
            <a:r>
              <a:rPr lang="en-US" dirty="0"/>
              <a:t>: Don’t assume that everyone from a specific culture behaves or thinks the same way. Embrace individuality within cultural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108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3BE2-833B-5602-7C39-73E0C151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Seek Feedback and Learn from Mistakes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8703-0A98-7B9F-F048-0BD6CC3B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Ask for feedback</a:t>
            </a:r>
            <a:r>
              <a:rPr lang="en-US" dirty="0"/>
              <a:t>: If you're unsure about something in cross-cultural communication, ask for feedback from someone with cultural expertise or the person you are communicating with.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 from missteps</a:t>
            </a:r>
            <a:r>
              <a:rPr lang="en-US" dirty="0"/>
              <a:t>: If a misunderstanding or mistake occurs, acknowledge it and use it as an opportunity for learning and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798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66B0-8578-DB75-274E-D18E39587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Practice Empathy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8B352-8E4D-A81F-8A33-23599A4A7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Put yourself in others’ shoes</a:t>
            </a:r>
            <a:r>
              <a:rPr lang="en-US" dirty="0"/>
              <a:t>: Try to understand the feelings, thoughts, and perspectives of people from different cultures. This empathy can help you communicate more effectively and build better relationships.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79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829</Words>
  <Application>Microsoft Office PowerPoint</Application>
  <PresentationFormat>Widescreen</PresentationFormat>
  <Paragraphs>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Cross-cultural communication in GDs: Navigating Cultural Diversity in Group Settings</vt:lpstr>
      <vt:lpstr>Cross-cultural communication</vt:lpstr>
      <vt:lpstr>In a Group Discussion (GD), participants may differ in: (contd)</vt:lpstr>
      <vt:lpstr>PowerPoint Presentation</vt:lpstr>
      <vt:lpstr>Cross-cultural competence</vt:lpstr>
      <vt:lpstr>Managing Disagreement Across Cultures </vt:lpstr>
      <vt:lpstr>Managing Disagreement Across Cultures</vt:lpstr>
      <vt:lpstr>The "3 Cs" of Cross-Cultural GDs </vt:lpstr>
      <vt:lpstr>Major Challenges in Cross-Cultural GDs </vt:lpstr>
      <vt:lpstr>Develop Cultural Awareness </vt:lpstr>
      <vt:lpstr>Enhance Active Listening </vt:lpstr>
      <vt:lpstr>Adapt Your Communication Style </vt:lpstr>
      <vt:lpstr>Show Respect for Cultural Differences </vt:lpstr>
      <vt:lpstr>Seek Feedback and Learn from Mistakes </vt:lpstr>
      <vt:lpstr>Practice Empathy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 cultural competence</dc:title>
  <dc:creator>Lakshmi Anand</dc:creator>
  <cp:lastModifiedBy>MARTHA KARUNAKAR</cp:lastModifiedBy>
  <cp:revision>20</cp:revision>
  <dcterms:created xsi:type="dcterms:W3CDTF">2022-06-17T05:05:08Z</dcterms:created>
  <dcterms:modified xsi:type="dcterms:W3CDTF">2026-08-18T07:21:33Z</dcterms:modified>
</cp:coreProperties>
</file>