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56" r:id="rId5"/>
    <p:sldId id="299" r:id="rId6"/>
    <p:sldId id="300" r:id="rId7"/>
    <p:sldId id="302" r:id="rId8"/>
    <p:sldId id="303" r:id="rId9"/>
    <p:sldId id="305" r:id="rId10"/>
    <p:sldId id="307" r:id="rId11"/>
    <p:sldId id="286" r:id="rId12"/>
    <p:sldId id="312" r:id="rId13"/>
    <p:sldId id="313" r:id="rId14"/>
    <p:sldId id="308" r:id="rId15"/>
    <p:sldId id="311" r:id="rId16"/>
    <p:sldId id="314" r:id="rId17"/>
    <p:sldId id="315" r:id="rId18"/>
    <p:sldId id="317" r:id="rId19"/>
    <p:sldId id="29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5646" autoAdjust="0"/>
  </p:normalViewPr>
  <p:slideViewPr>
    <p:cSldViewPr snapToGrid="0">
      <p:cViewPr varScale="1">
        <p:scale>
          <a:sx n="77" d="100"/>
          <a:sy n="77" d="100"/>
        </p:scale>
        <p:origin x="232" y="60"/>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8/18/2026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8/18/2026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61" r:id="rId8"/>
    <p:sldLayoutId id="2147483666" r:id="rId9"/>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pPr algn="ctr">
              <a:lnSpc>
                <a:spcPct val="100000"/>
              </a:lnSpc>
            </a:pPr>
            <a:r>
              <a:rPr lang="en-US" sz="3600" b="0" dirty="0">
                <a:latin typeface="Times New Roman" panose="02020603050405020304" pitchFamily="18" charset="0"/>
                <a:cs typeface="Times New Roman" panose="02020603050405020304" pitchFamily="18" charset="0"/>
              </a:rPr>
              <a:t>Crisis Communication: Strategies for Handling Sensitive Topics </a:t>
            </a:r>
            <a:br>
              <a:rPr lang="en-US" sz="3600" b="0" dirty="0">
                <a:latin typeface="Times New Roman" panose="02020603050405020304" pitchFamily="18" charset="0"/>
                <a:cs typeface="Times New Roman" panose="02020603050405020304" pitchFamily="18" charset="0"/>
              </a:rPr>
            </a:br>
            <a:r>
              <a:rPr lang="en-US" sz="3600" b="0" dirty="0">
                <a:latin typeface="Times New Roman" panose="02020603050405020304" pitchFamily="18" charset="0"/>
                <a:cs typeface="Times New Roman" panose="02020603050405020304" pitchFamily="18" charset="0"/>
              </a:rPr>
              <a:t>&amp; </a:t>
            </a:r>
            <a:br>
              <a:rPr lang="en-US" sz="3600" b="0" dirty="0">
                <a:latin typeface="Times New Roman" panose="02020603050405020304" pitchFamily="18" charset="0"/>
                <a:cs typeface="Times New Roman" panose="02020603050405020304" pitchFamily="18" charset="0"/>
              </a:rPr>
            </a:br>
            <a:r>
              <a:rPr lang="en-US" sz="3600" b="0" dirty="0">
                <a:latin typeface="Times New Roman" panose="02020603050405020304" pitchFamily="18" charset="0"/>
                <a:cs typeface="Times New Roman" panose="02020603050405020304" pitchFamily="18" charset="0"/>
              </a:rPr>
              <a:t>Managing Discussions in High-Stress Environments</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E530-A6C5-84EA-1AA3-8FCE237F7129}"/>
              </a:ext>
            </a:extLst>
          </p:cNvPr>
          <p:cNvSpPr>
            <a:spLocks noGrp="1"/>
          </p:cNvSpPr>
          <p:nvPr>
            <p:ph type="title"/>
          </p:nvPr>
        </p:nvSpPr>
        <p:spPr/>
        <p:txBody>
          <a:bodyPr/>
          <a:lstStyle/>
          <a:p>
            <a:r>
              <a:rPr lang="en-US" b="0" dirty="0">
                <a:latin typeface="Times New Roman" panose="02020603050405020304" pitchFamily="18" charset="0"/>
                <a:cs typeface="Times New Roman" panose="02020603050405020304" pitchFamily="18" charset="0"/>
              </a:rPr>
              <a:t>What is Crisis Communication?</a:t>
            </a:r>
            <a:br>
              <a:rPr lang="en-US" b="0" dirty="0">
                <a:latin typeface="Times New Roman" panose="02020603050405020304" pitchFamily="18" charset="0"/>
                <a:cs typeface="Times New Roman" panose="02020603050405020304" pitchFamily="18" charset="0"/>
              </a:rPr>
            </a:br>
            <a:endParaRPr lang="en-IN" b="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575F5A-E394-37D4-F14E-3E2A234F81EE}"/>
              </a:ext>
            </a:extLst>
          </p:cNvPr>
          <p:cNvSpPr>
            <a:spLocks noGrp="1"/>
          </p:cNvSpPr>
          <p:nvPr>
            <p:ph idx="1"/>
          </p:nvPr>
        </p:nvSpPr>
        <p:spPr/>
        <p:txBody>
          <a:bodyPr>
            <a:noAutofit/>
          </a:bodyPr>
          <a:lstStyle/>
          <a:p>
            <a:r>
              <a:rPr lang="en-US" sz="1800" dirty="0">
                <a:latin typeface="Times New Roman" panose="02020603050405020304" pitchFamily="18" charset="0"/>
                <a:cs typeface="Times New Roman" panose="02020603050405020304" pitchFamily="18" charset="0"/>
              </a:rPr>
              <a:t>Crisis communication refers to the process of communicating effectively during situations involving uncertainty, risk, conflict, emotional distress, or significant consequences. Examples include:</a:t>
            </a:r>
          </a:p>
          <a:p>
            <a:pPr>
              <a:buFont typeface="Arial" panose="020B0604020202020204" pitchFamily="34" charset="0"/>
              <a:buChar char="•"/>
            </a:pPr>
            <a:r>
              <a:rPr lang="en-US" sz="1800" dirty="0" err="1">
                <a:latin typeface="Times New Roman" panose="02020603050405020304" pitchFamily="18" charset="0"/>
                <a:cs typeface="Times New Roman" panose="02020603050405020304" pitchFamily="18" charset="0"/>
              </a:rPr>
              <a:t>Organisational</a:t>
            </a:r>
            <a:r>
              <a:rPr lang="en-US" sz="1800" dirty="0">
                <a:latin typeface="Times New Roman" panose="02020603050405020304" pitchFamily="18" charset="0"/>
                <a:cs typeface="Times New Roman" panose="02020603050405020304" pitchFamily="18" charset="0"/>
              </a:rPr>
              <a:t> crises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Accidents or disasters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Public controversies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Workplace conflicts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Institutional failures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Sensitive social or political issues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Health or safety emergencies </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Situations involving reputational damage </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6246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BC4C-667D-F11A-3DFC-01E84F3FFC1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Key Principles of Effective Crisis Communication</a:t>
            </a:r>
            <a:br>
              <a:rPr lang="en-US" b="1" dirty="0"/>
            </a:br>
            <a:endParaRPr lang="en-IN" dirty="0"/>
          </a:p>
        </p:txBody>
      </p:sp>
      <p:sp>
        <p:nvSpPr>
          <p:cNvPr id="3" name="Content Placeholder 2">
            <a:extLst>
              <a:ext uri="{FF2B5EF4-FFF2-40B4-BE49-F238E27FC236}">
                <a16:creationId xmlns:a16="http://schemas.microsoft.com/office/drawing/2014/main" id="{528B9DAB-90A2-4661-A512-49FC44BA15C5}"/>
              </a:ext>
            </a:extLst>
          </p:cNvPr>
          <p:cNvSpPr>
            <a:spLocks noGrp="1"/>
          </p:cNvSpPr>
          <p:nvPr>
            <p:ph idx="1"/>
          </p:nvPr>
        </p:nvSpPr>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A useful framework is: C.A.L.M.</a:t>
            </a:r>
          </a:p>
          <a:p>
            <a:r>
              <a:rPr lang="en-US" sz="2400" dirty="0">
                <a:latin typeface="Times New Roman" panose="02020603050405020304" pitchFamily="18" charset="0"/>
                <a:cs typeface="Times New Roman" panose="02020603050405020304" pitchFamily="18" charset="0"/>
              </a:rPr>
              <a:t>C – Communicate clearly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 Acknowledge concerns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 – Listen actively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 – Manage emotions and misinformation</a:t>
            </a:r>
          </a:p>
          <a:p>
            <a:r>
              <a:rPr lang="en-US" sz="2400" dirty="0">
                <a:latin typeface="Times New Roman" panose="02020603050405020304" pitchFamily="18" charset="0"/>
                <a:cs typeface="Times New Roman" panose="02020603050405020304" pitchFamily="18" charset="0"/>
              </a:rPr>
              <a:t>A leader or facilitator should avoid reacting impulsively. The goal is not simply to provide information but to reduce confusion, maintain trust, and guide people towards constructive action. </a:t>
            </a:r>
          </a:p>
          <a:p>
            <a:r>
              <a:rPr lang="en-US" sz="2400" dirty="0">
                <a:latin typeface="Times New Roman" panose="02020603050405020304" pitchFamily="18" charset="0"/>
                <a:cs typeface="Times New Roman" panose="02020603050405020304" pitchFamily="18" charset="0"/>
              </a:rPr>
              <a:t>The challenge is to communicate clearly, calmly, credibly, empathetically, and responsibly.</a:t>
            </a: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0185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5428C-2E6A-AB30-E26B-8B4614D1E31A}"/>
              </a:ext>
            </a:extLst>
          </p:cNvPr>
          <p:cNvSpPr>
            <a:spLocks noGrp="1"/>
          </p:cNvSpPr>
          <p:nvPr>
            <p:ph type="title"/>
          </p:nvPr>
        </p:nvSpPr>
        <p:spPr/>
        <p:txBody>
          <a:bodyPr/>
          <a:lstStyle/>
          <a:p>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Communicating Clearly Under Pressure</a:t>
            </a:r>
            <a:endParaRPr lang="en-IN" dirty="0"/>
          </a:p>
        </p:txBody>
      </p:sp>
      <p:sp>
        <p:nvSpPr>
          <p:cNvPr id="3" name="Content Placeholder 2">
            <a:extLst>
              <a:ext uri="{FF2B5EF4-FFF2-40B4-BE49-F238E27FC236}">
                <a16:creationId xmlns:a16="http://schemas.microsoft.com/office/drawing/2014/main" id="{9F822AB5-ECCC-9690-E43D-1D3195CB41A8}"/>
              </a:ext>
            </a:extLst>
          </p:cNvPr>
          <p:cNvSpPr>
            <a:spLocks noGrp="1"/>
          </p:cNvSpPr>
          <p:nvPr>
            <p:ph idx="1"/>
          </p:nvPr>
        </p:nvSpPr>
        <p:spPr/>
        <p:txBody>
          <a:bodyPr>
            <a:normAutofit fontScale="700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During a crisis, people may experience: Anxiety, Fear, Anger, Confusion, Uncertainty, and  Information overload. Therefore, communication should be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and structured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three questions: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do we know?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do we not yet know?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are we doing next?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are aware of the situation and are currently investigating the cause. We do not yet have complete information. Our immediate priority is ensuring everyone's safety, and we will provide an update as soon as more information is confirmed."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prevents speculation while demonstrating that the situation is being addressed.</a:t>
            </a:r>
          </a:p>
          <a:p>
            <a:endParaRPr lang="en-IN" dirty="0"/>
          </a:p>
        </p:txBody>
      </p:sp>
    </p:spTree>
    <p:extLst>
      <p:ext uri="{BB962C8B-B14F-4D97-AF65-F5344CB8AC3E}">
        <p14:creationId xmlns:p14="http://schemas.microsoft.com/office/powerpoint/2010/main" val="3948687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F527-837B-51FE-C74C-090FA0B5624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Handling Sensitive Topics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5182A-18B1-48C9-54F1-226BA50554AD}"/>
              </a:ext>
            </a:extLst>
          </p:cNvPr>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Sensitive discussions may involve: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Death or loss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Discrimination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Harassment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Cultural or religious differences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Organizational failure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Personal grievances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Ethical disagreements </a:t>
            </a:r>
          </a:p>
          <a:p>
            <a:r>
              <a:rPr lang="en-US" dirty="0">
                <a:latin typeface="Times New Roman" panose="02020603050405020304" pitchFamily="18" charset="0"/>
                <a:cs typeface="Times New Roman" panose="02020603050405020304" pitchFamily="18" charset="0"/>
              </a:rPr>
              <a:t>The facilitator should create an environment where people can express concerns without letting the discussion become hostile.</a:t>
            </a:r>
          </a:p>
          <a:p>
            <a:endParaRPr lang="en-IN" dirty="0"/>
          </a:p>
        </p:txBody>
      </p:sp>
    </p:spTree>
    <p:extLst>
      <p:ext uri="{BB962C8B-B14F-4D97-AF65-F5344CB8AC3E}">
        <p14:creationId xmlns:p14="http://schemas.microsoft.com/office/powerpoint/2010/main" val="243337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D704B-8151-E0DA-E142-E3738F296EB4}"/>
              </a:ext>
            </a:extLst>
          </p:cNvPr>
          <p:cNvSpPr>
            <a:spLocks noGrp="1"/>
          </p:cNvSpPr>
          <p:nvPr>
            <p:ph type="title"/>
          </p:nvPr>
        </p:nvSpPr>
        <p:spPr/>
        <p:txBody>
          <a:bodyPr/>
          <a:lstStyle/>
          <a:p>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Acknowledge emotions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80AEB5-0178-7751-6A7C-6FCA64FB4D7F}"/>
              </a:ext>
            </a:extLst>
          </p:cNvPr>
          <p:cNvSpPr>
            <a:spLocks noGrp="1"/>
          </p:cNvSpPr>
          <p:nvPr>
            <p:ph idx="1"/>
          </p:nvPr>
        </p:nvSpPr>
        <p:spPr/>
        <p:txBody>
          <a:bodyPr>
            <a:normAutofit fontScale="92500" lnSpcReduction="10000"/>
          </a:bodyPr>
          <a:lstStyle/>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Acknowledge emotions without allowing emotions to control the discussion.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Instead of saying: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"Please calm down."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understand that this situation is causing considerable frustration. Let's make sure we understand the concern clearly and discuss what can be done."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response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acknowledges the emotion while redirecting the conversation toward problem-solving.</a:t>
            </a:r>
          </a:p>
          <a:p>
            <a:endParaRPr lang="en-IN" dirty="0"/>
          </a:p>
        </p:txBody>
      </p:sp>
    </p:spTree>
    <p:extLst>
      <p:ext uri="{BB962C8B-B14F-4D97-AF65-F5344CB8AC3E}">
        <p14:creationId xmlns:p14="http://schemas.microsoft.com/office/powerpoint/2010/main" val="2268398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7E8F0-AF22-6703-82C7-4F3BB02ECF71}"/>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Separate People from the Problem</a:t>
            </a:r>
            <a:b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60D9A59-3A01-0FCA-7D5D-8EA6D1A345DA}"/>
              </a:ext>
            </a:extLst>
          </p:cNvPr>
          <p:cNvSpPr>
            <a:spLocks noGrp="1"/>
          </p:cNvSpPr>
          <p:nvPr>
            <p:ph idx="1"/>
          </p:nvPr>
        </p:nvSpPr>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major strategy in crisis discussions is to avoid turning disagreements into personal conflicts.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Instead of: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are responsible for this failure."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Reframe the discussion 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"Let's identify the factors that contributed to this situation and determine how we can address them."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shifts the focus from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blame to analysis and resolution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9965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5486400" cy="4114800"/>
          </a:xfrm>
        </p:spPr>
        <p:txBody>
          <a:bodyPr/>
          <a:lstStyle/>
          <a:p>
            <a:r>
              <a:rPr lang="en-US" b="0" dirty="0">
                <a:latin typeface="Times New Roman" panose="02020603050405020304" pitchFamily="18" charset="0"/>
                <a:cs typeface="Times New Roman" panose="02020603050405020304" pitchFamily="18" charset="0"/>
              </a:rPr>
              <a:t>Managing Discussions in High-Stress Environments</a:t>
            </a:r>
          </a:p>
        </p:txBody>
      </p:sp>
      <p:pic>
        <p:nvPicPr>
          <p:cNvPr id="7" name="Picture Placeholder 6">
            <a:extLst>
              <a:ext uri="{FF2B5EF4-FFF2-40B4-BE49-F238E27FC236}">
                <a16:creationId xmlns:a16="http://schemas.microsoft.com/office/drawing/2014/main" id="{0F27BB6A-BD78-C19D-43E6-7DF9674F06DE}"/>
              </a:ext>
            </a:extLst>
          </p:cNvPr>
          <p:cNvPicPr>
            <a:picLocks noGrp="1" noChangeAspect="1"/>
          </p:cNvPicPr>
          <p:nvPr>
            <p:ph type="pic" sz="quarter" idx="10"/>
          </p:nvPr>
        </p:nvPicPr>
        <p:blipFill>
          <a:blip r:embed="rId3"/>
          <a:srcRect l="16819" r="16819"/>
          <a:stretch>
            <a:fillRect/>
          </a:stretch>
        </p:blipFill>
        <p:spPr/>
      </p:pic>
    </p:spTree>
    <p:extLst>
      <p:ext uri="{BB962C8B-B14F-4D97-AF65-F5344CB8AC3E}">
        <p14:creationId xmlns:p14="http://schemas.microsoft.com/office/powerpoint/2010/main" val="366267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DCCD3-1CED-AA43-F9AC-F4C48B343A5B}"/>
              </a:ext>
            </a:extLst>
          </p:cNvPr>
          <p:cNvSpPr>
            <a:spLocks noGrp="1"/>
          </p:cNvSpPr>
          <p:nvPr>
            <p:ph type="title"/>
          </p:nvPr>
        </p:nvSpPr>
        <p:spPr/>
        <p:txBody>
          <a:bodyPr/>
          <a:lstStyle/>
          <a:p>
            <a:r>
              <a:rPr lang="en-US" b="0" dirty="0">
                <a:latin typeface="Times New Roman" panose="02020603050405020304" pitchFamily="18" charset="0"/>
                <a:cs typeface="Times New Roman" panose="02020603050405020304" pitchFamily="18" charset="0"/>
              </a:rPr>
              <a:t>Managing Discussions in High-Stress Environments</a:t>
            </a:r>
            <a:endParaRPr lang="en-IN" b="0" dirty="0"/>
          </a:p>
        </p:txBody>
      </p:sp>
      <p:sp>
        <p:nvSpPr>
          <p:cNvPr id="3" name="Content Placeholder 2">
            <a:extLst>
              <a:ext uri="{FF2B5EF4-FFF2-40B4-BE49-F238E27FC236}">
                <a16:creationId xmlns:a16="http://schemas.microsoft.com/office/drawing/2014/main" id="{5E69A730-D112-4E22-F1D7-1B95DCB4A16D}"/>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A facilitator should provide </a:t>
            </a:r>
            <a:r>
              <a:rPr lang="en-US" b="1" dirty="0">
                <a:latin typeface="Times New Roman" panose="02020603050405020304" pitchFamily="18" charset="0"/>
                <a:cs typeface="Times New Roman" panose="02020603050405020304" pitchFamily="18" charset="0"/>
              </a:rPr>
              <a:t>structure</a:t>
            </a:r>
            <a:r>
              <a:rPr lang="en-US" dirty="0">
                <a:latin typeface="Times New Roman" panose="02020603050405020304" pitchFamily="18" charset="0"/>
                <a:cs typeface="Times New Roman" panose="02020603050405020304" pitchFamily="18" charset="0"/>
              </a:rPr>
              <a:t>, especially when participants are anxious or emotionally reactive.</a:t>
            </a:r>
          </a:p>
          <a:p>
            <a:r>
              <a:rPr lang="en-US" dirty="0">
                <a:latin typeface="Times New Roman" panose="02020603050405020304" pitchFamily="18" charset="0"/>
                <a:cs typeface="Times New Roman" panose="02020603050405020304" pitchFamily="18" charset="0"/>
              </a:rPr>
              <a:t>A useful sequence is: FACTS → CONCERNS → OPTIONS → ACTION</a:t>
            </a:r>
          </a:p>
          <a:p>
            <a:r>
              <a:rPr lang="en-US" b="1" dirty="0">
                <a:latin typeface="Times New Roman" panose="02020603050405020304" pitchFamily="18" charset="0"/>
                <a:cs typeface="Times New Roman" panose="02020603050405020304" pitchFamily="18" charset="0"/>
              </a:rPr>
              <a:t>1. Facts - </a:t>
            </a:r>
            <a:r>
              <a:rPr lang="en-US" dirty="0">
                <a:latin typeface="Times New Roman" panose="02020603050405020304" pitchFamily="18" charset="0"/>
                <a:cs typeface="Times New Roman" panose="02020603050405020304" pitchFamily="18" charset="0"/>
              </a:rPr>
              <a:t>What information has been verified?</a:t>
            </a:r>
          </a:p>
          <a:p>
            <a:r>
              <a:rPr lang="en-US" b="1" dirty="0">
                <a:latin typeface="Times New Roman" panose="02020603050405020304" pitchFamily="18" charset="0"/>
                <a:cs typeface="Times New Roman" panose="02020603050405020304" pitchFamily="18" charset="0"/>
              </a:rPr>
              <a:t>2. Concerns - </a:t>
            </a:r>
            <a:r>
              <a:rPr lang="en-US" dirty="0">
                <a:latin typeface="Times New Roman" panose="02020603050405020304" pitchFamily="18" charset="0"/>
                <a:cs typeface="Times New Roman" panose="02020603050405020304" pitchFamily="18" charset="0"/>
              </a:rPr>
              <a:t>What are the major risks or concerns?</a:t>
            </a:r>
          </a:p>
          <a:p>
            <a:r>
              <a:rPr lang="en-US" b="1" dirty="0">
                <a:latin typeface="Times New Roman" panose="02020603050405020304" pitchFamily="18" charset="0"/>
                <a:cs typeface="Times New Roman" panose="02020603050405020304" pitchFamily="18" charset="0"/>
              </a:rPr>
              <a:t>3. Options - </a:t>
            </a:r>
            <a:r>
              <a:rPr lang="en-US" dirty="0">
                <a:latin typeface="Times New Roman" panose="02020603050405020304" pitchFamily="18" charset="0"/>
                <a:cs typeface="Times New Roman" panose="02020603050405020304" pitchFamily="18" charset="0"/>
              </a:rPr>
              <a:t>What possible responses are available?</a:t>
            </a:r>
          </a:p>
          <a:p>
            <a:r>
              <a:rPr lang="en-US" b="1" dirty="0">
                <a:latin typeface="Times New Roman" panose="02020603050405020304" pitchFamily="18" charset="0"/>
                <a:cs typeface="Times New Roman" panose="02020603050405020304" pitchFamily="18" charset="0"/>
              </a:rPr>
              <a:t>4. Action - </a:t>
            </a:r>
            <a:r>
              <a:rPr lang="en-US" dirty="0">
                <a:latin typeface="Times New Roman" panose="02020603050405020304" pitchFamily="18" charset="0"/>
                <a:cs typeface="Times New Roman" panose="02020603050405020304" pitchFamily="18" charset="0"/>
              </a:rPr>
              <a:t>What will be done, by whom, and by when?</a:t>
            </a:r>
          </a:p>
          <a:p>
            <a:r>
              <a:rPr lang="en-US" dirty="0">
                <a:latin typeface="Times New Roman" panose="02020603050405020304" pitchFamily="18" charset="0"/>
                <a:cs typeface="Times New Roman" panose="02020603050405020304" pitchFamily="18" charset="0"/>
              </a:rPr>
              <a:t>This prevents the discussion from becoming dominated by speculation or emotional reactions.</a:t>
            </a:r>
          </a:p>
          <a:p>
            <a:endParaRPr lang="en-IN" dirty="0"/>
          </a:p>
        </p:txBody>
      </p:sp>
    </p:spTree>
    <p:extLst>
      <p:ext uri="{BB962C8B-B14F-4D97-AF65-F5344CB8AC3E}">
        <p14:creationId xmlns:p14="http://schemas.microsoft.com/office/powerpoint/2010/main" val="1747089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877AE-87BD-4403-943A-AAEB7C302446}"/>
              </a:ext>
            </a:extLst>
          </p:cNvPr>
          <p:cNvSpPr>
            <a:spLocks noGrp="1"/>
          </p:cNvSpPr>
          <p:nvPr>
            <p:ph type="title"/>
          </p:nvPr>
        </p:nvSpPr>
        <p:spPr/>
        <p:txBody>
          <a:bodyPr/>
          <a:lstStyle/>
          <a:p>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Dealing with Difficult Questions</a:t>
            </a:r>
            <a:endParaRPr lang="en-IN" b="0" dirty="0"/>
          </a:p>
        </p:txBody>
      </p:sp>
      <p:sp>
        <p:nvSpPr>
          <p:cNvPr id="3" name="Content Placeholder 2">
            <a:extLst>
              <a:ext uri="{FF2B5EF4-FFF2-40B4-BE49-F238E27FC236}">
                <a16:creationId xmlns:a16="http://schemas.microsoft.com/office/drawing/2014/main" id="{711B9E32-C05F-46EB-9B10-806EB05E709A}"/>
              </a:ext>
            </a:extLst>
          </p:cNvPr>
          <p:cNvSpPr>
            <a:spLocks noGrp="1"/>
          </p:cNvSpPr>
          <p:nvPr>
            <p:ph idx="1"/>
          </p:nvPr>
        </p:nvSpPr>
        <p:spPr/>
        <p:txBody>
          <a:bodyPr>
            <a:normAutofit fontScale="92500"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crisis, leaders may be asked questions for which they do not yet have answers.</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Guessing, Speculating, Becoming defensive, and Providing false reassurance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Instead, say: "That is an important question. At this stage, I do not have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sufficient verified information to give you an accurate answer.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 are looking into it and will share an update when the information is confirmed."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Honesty about uncertainty strengthens credibility.</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896967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80AA-2670-4EDD-F4AC-5DA18AE2CCB4}"/>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Misinformation</a:t>
            </a:r>
            <a:br>
              <a:rPr kumimoji="0" lang="en-US" altLang="en-US" sz="4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lang="en-IN" dirty="0"/>
          </a:p>
        </p:txBody>
      </p:sp>
      <p:sp>
        <p:nvSpPr>
          <p:cNvPr id="4" name="Rectangle 1">
            <a:extLst>
              <a:ext uri="{FF2B5EF4-FFF2-40B4-BE49-F238E27FC236}">
                <a16:creationId xmlns:a16="http://schemas.microsoft.com/office/drawing/2014/main" id="{1328D1CC-DEB1-B53E-DE5F-B1A84D5F4D87}"/>
              </a:ext>
            </a:extLst>
          </p:cNvPr>
          <p:cNvSpPr>
            <a:spLocks noGrp="1" noChangeArrowheads="1"/>
          </p:cNvSpPr>
          <p:nvPr>
            <p:ph idx="1"/>
          </p:nvPr>
        </p:nvSpPr>
        <p:spPr bwMode="auto">
          <a:xfrm>
            <a:off x="1158865" y="1992714"/>
            <a:ext cx="915507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High-stress environments often create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rumours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misinformation.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leader should: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incorrect information.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Correct it calmly.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verified information.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repeatedly amplifying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rumours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 a reliable source for future updates.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"There has been some confusion regarding this issue.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the information currently verified, the situation is as follows..."</a:t>
            </a:r>
          </a:p>
        </p:txBody>
      </p:sp>
    </p:spTree>
    <p:extLst>
      <p:ext uri="{BB962C8B-B14F-4D97-AF65-F5344CB8AC3E}">
        <p14:creationId xmlns:p14="http://schemas.microsoft.com/office/powerpoint/2010/main" val="3459262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89924-F44C-5004-044A-FFCDE93A8A7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Role of Empathy</a:t>
            </a:r>
            <a:br>
              <a:rPr lang="en-US" b="1" dirty="0"/>
            </a:br>
            <a:endParaRPr lang="en-IN" dirty="0"/>
          </a:p>
        </p:txBody>
      </p:sp>
      <p:sp>
        <p:nvSpPr>
          <p:cNvPr id="3" name="Content Placeholder 2">
            <a:extLst>
              <a:ext uri="{FF2B5EF4-FFF2-40B4-BE49-F238E27FC236}">
                <a16:creationId xmlns:a16="http://schemas.microsoft.com/office/drawing/2014/main" id="{9AA8B044-EFD9-F93F-D65E-DF5EF2B1B7D9}"/>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Empathy does not mean agreeing with every individual. It means </a:t>
            </a:r>
            <a:r>
              <a:rPr lang="en-US" dirty="0" err="1">
                <a:latin typeface="Times New Roman" panose="02020603050405020304" pitchFamily="18" charset="0"/>
                <a:cs typeface="Times New Roman" panose="02020603050405020304" pitchFamily="18" charset="0"/>
              </a:rPr>
              <a:t>recognising</a:t>
            </a:r>
            <a:r>
              <a:rPr lang="en-US" dirty="0">
                <a:latin typeface="Times New Roman" panose="02020603050405020304" pitchFamily="18" charset="0"/>
                <a:cs typeface="Times New Roman" panose="02020603050405020304" pitchFamily="18" charset="0"/>
              </a:rPr>
              <a:t> how the situation affects the person.</a:t>
            </a:r>
          </a:p>
          <a:p>
            <a:r>
              <a:rPr lang="en-US" dirty="0">
                <a:latin typeface="Times New Roman" panose="02020603050405020304" pitchFamily="18" charset="0"/>
                <a:cs typeface="Times New Roman" panose="02020603050405020304" pitchFamily="18" charset="0"/>
              </a:rPr>
              <a:t>Useful expressions include: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 understand why this is concerning."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has clearly affected many people."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"Your concerns are valid and deserve to be addressed."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a:t>
            </a:r>
            <a:r>
              <a:rPr lang="en-US" dirty="0" err="1">
                <a:latin typeface="Times New Roman" panose="02020603050405020304" pitchFamily="18" charset="0"/>
                <a:cs typeface="Times New Roman" panose="02020603050405020304" pitchFamily="18" charset="0"/>
              </a:rPr>
              <a:t>recognise</a:t>
            </a:r>
            <a:r>
              <a:rPr lang="en-US" dirty="0">
                <a:latin typeface="Times New Roman" panose="02020603050405020304" pitchFamily="18" charset="0"/>
                <a:cs typeface="Times New Roman" panose="02020603050405020304" pitchFamily="18" charset="0"/>
              </a:rPr>
              <a:t> the impact this situation has had." </a:t>
            </a:r>
          </a:p>
          <a:p>
            <a:r>
              <a:rPr lang="en-US" dirty="0">
                <a:latin typeface="Times New Roman" panose="02020603050405020304" pitchFamily="18" charset="0"/>
                <a:cs typeface="Times New Roman" panose="02020603050405020304" pitchFamily="18" charset="0"/>
              </a:rPr>
              <a:t>Empathy can help maintain trust and cooperation, particularly when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cannot immediately provide a complete solution.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4320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9C20F-5047-A7E4-4F38-B3128BD75DE6}"/>
              </a:ext>
            </a:extLst>
          </p:cNvPr>
          <p:cNvSpPr>
            <a:spLocks noGrp="1"/>
          </p:cNvSpPr>
          <p:nvPr>
            <p:ph type="title"/>
          </p:nvPr>
        </p:nvSpPr>
        <p:spPr/>
        <p:txBody>
          <a:bodyPr/>
          <a:lstStyle/>
          <a:p>
            <a:r>
              <a:rPr lang="en-US" b="0" dirty="0">
                <a:latin typeface="Times New Roman" panose="02020603050405020304" pitchFamily="18" charset="0"/>
                <a:cs typeface="Times New Roman" panose="02020603050405020304" pitchFamily="18" charset="0"/>
              </a:rPr>
              <a:t>A Simple Framework for Crisis Discussions: S.T.E.A.D.Y.</a:t>
            </a:r>
            <a:br>
              <a:rPr lang="en-US" b="1" dirty="0"/>
            </a:br>
            <a:endParaRPr lang="en-IN" dirty="0"/>
          </a:p>
        </p:txBody>
      </p:sp>
      <p:sp>
        <p:nvSpPr>
          <p:cNvPr id="3" name="Content Placeholder 2">
            <a:extLst>
              <a:ext uri="{FF2B5EF4-FFF2-40B4-BE49-F238E27FC236}">
                <a16:creationId xmlns:a16="http://schemas.microsoft.com/office/drawing/2014/main" id="{E5103286-0EDF-93F7-2556-E0AB5D8B1A1A}"/>
              </a:ext>
            </a:extLst>
          </p:cNvPr>
          <p:cNvSpPr>
            <a:spLocks noGrp="1"/>
          </p:cNvSpPr>
          <p:nvPr>
            <p:ph idx="1"/>
          </p:nvPr>
        </p:nvSpPr>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S – </a:t>
            </a:r>
            <a:r>
              <a:rPr lang="en-US" b="1" dirty="0" err="1">
                <a:latin typeface="Times New Roman" panose="02020603050405020304" pitchFamily="18" charset="0"/>
                <a:cs typeface="Times New Roman" panose="02020603050405020304" pitchFamily="18" charset="0"/>
              </a:rPr>
              <a:t>Stabilise</a:t>
            </a:r>
            <a:r>
              <a:rPr lang="en-US" b="1" dirty="0">
                <a:latin typeface="Times New Roman" panose="02020603050405020304" pitchFamily="18" charset="0"/>
                <a:cs typeface="Times New Roman" panose="02020603050405020304" pitchFamily="18" charset="0"/>
              </a:rPr>
              <a:t> the situation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Remain calm and establish immediate priorities.</a:t>
            </a:r>
          </a:p>
          <a:p>
            <a:r>
              <a:rPr lang="en-US" b="1" dirty="0">
                <a:latin typeface="Times New Roman" panose="02020603050405020304" pitchFamily="18" charset="0"/>
                <a:cs typeface="Times New Roman" panose="02020603050405020304" pitchFamily="18" charset="0"/>
              </a:rPr>
              <a:t>T – Tell what is known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Communicate verified facts.</a:t>
            </a:r>
          </a:p>
          <a:p>
            <a:r>
              <a:rPr lang="en-US" b="1" dirty="0">
                <a:latin typeface="Times New Roman" panose="02020603050405020304" pitchFamily="18" charset="0"/>
                <a:cs typeface="Times New Roman" panose="02020603050405020304" pitchFamily="18" charset="0"/>
              </a:rPr>
              <a:t>E – </a:t>
            </a:r>
            <a:r>
              <a:rPr lang="en-US" b="1" dirty="0" err="1">
                <a:latin typeface="Times New Roman" panose="02020603050405020304" pitchFamily="18" charset="0"/>
                <a:cs typeface="Times New Roman" panose="02020603050405020304" pitchFamily="18" charset="0"/>
              </a:rPr>
              <a:t>Empathise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Acknowledge the impact on people.</a:t>
            </a:r>
          </a:p>
          <a:p>
            <a:r>
              <a:rPr lang="en-US" b="1" dirty="0">
                <a:latin typeface="Times New Roman" panose="02020603050405020304" pitchFamily="18" charset="0"/>
                <a:cs typeface="Times New Roman" panose="02020603050405020304" pitchFamily="18" charset="0"/>
              </a:rPr>
              <a:t>A – Address concerns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Listen and respond to important questions.</a:t>
            </a:r>
          </a:p>
          <a:p>
            <a:r>
              <a:rPr lang="en-US" b="1" dirty="0">
                <a:latin typeface="Times New Roman" panose="02020603050405020304" pitchFamily="18" charset="0"/>
                <a:cs typeface="Times New Roman" panose="02020603050405020304" pitchFamily="18" charset="0"/>
              </a:rPr>
              <a:t>D – Decide on action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Identify responsibilities and next steps.</a:t>
            </a:r>
          </a:p>
          <a:p>
            <a:r>
              <a:rPr lang="en-US" b="1" dirty="0">
                <a:latin typeface="Times New Roman" panose="02020603050405020304" pitchFamily="18" charset="0"/>
                <a:cs typeface="Times New Roman" panose="02020603050405020304" pitchFamily="18" charset="0"/>
              </a:rPr>
              <a:t>Y – Yield updates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Continue communication as the situation develops.</a:t>
            </a:r>
          </a:p>
          <a:p>
            <a:endParaRPr lang="en-IN" dirty="0"/>
          </a:p>
        </p:txBody>
      </p:sp>
    </p:spTree>
    <p:extLst>
      <p:ext uri="{BB962C8B-B14F-4D97-AF65-F5344CB8AC3E}">
        <p14:creationId xmlns:p14="http://schemas.microsoft.com/office/powerpoint/2010/main" val="2504148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576AC-0EAC-1FA7-F30C-57B548D487F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Common Mistakes to Avoid</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64732DD-AFC0-6222-8A57-BB9AEA650D25}"/>
              </a:ext>
            </a:extLst>
          </p:cNvPr>
          <p:cNvSpPr>
            <a:spLocks noGrp="1"/>
          </p:cNvSpPr>
          <p:nvPr>
            <p:ph idx="1"/>
          </p:nvPr>
        </p:nvSpPr>
        <p:spPr/>
        <p:txBody>
          <a:bodyPr>
            <a:normAutofit fontScale="77500" lnSpcReduction="20000"/>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Providing information before it is verified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Ignoring or dismissing emotions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Becoming defensive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Blaming individuals prematurely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Overloading people with information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Making promises that cannot be kept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Avoiding difficult questions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Allowing one person to dominate the discussion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Failing to provide follow-up communication</a:t>
            </a:r>
          </a:p>
          <a:p>
            <a:endParaRPr lang="en-IN" dirty="0"/>
          </a:p>
        </p:txBody>
      </p:sp>
    </p:spTree>
    <p:extLst>
      <p:ext uri="{BB962C8B-B14F-4D97-AF65-F5344CB8AC3E}">
        <p14:creationId xmlns:p14="http://schemas.microsoft.com/office/powerpoint/2010/main" val="44218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15908-F330-479A-8ECE-6F5CC98A231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Summary</a:t>
            </a:r>
          </a:p>
        </p:txBody>
      </p:sp>
      <p:sp>
        <p:nvSpPr>
          <p:cNvPr id="3" name="Content Placeholder 2">
            <a:extLst>
              <a:ext uri="{FF2B5EF4-FFF2-40B4-BE49-F238E27FC236}">
                <a16:creationId xmlns:a16="http://schemas.microsoft.com/office/drawing/2014/main" id="{D619BE61-CD55-D34D-6046-C1875D6D9ADE}"/>
              </a:ext>
            </a:extLst>
          </p:cNvPr>
          <p:cNvSpPr>
            <a:spLocks noGrp="1"/>
          </p:cNvSpPr>
          <p:nvPr>
            <p:ph idx="1"/>
          </p:nvPr>
        </p:nvSpPr>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 crisis communication requires a leader to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balance information, emotion, and 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successful crisis facilitator should: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Remain calm → establish facts → acknowledge concerns → listen actively → manage conflict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correct misinformation → encourage respectful discussion → communicate clear actions → provide regular updates.</a:t>
            </a:r>
            <a:endParaRPr lang="en-IN" dirty="0"/>
          </a:p>
        </p:txBody>
      </p:sp>
    </p:spTree>
    <p:extLst>
      <p:ext uri="{BB962C8B-B14F-4D97-AF65-F5344CB8AC3E}">
        <p14:creationId xmlns:p14="http://schemas.microsoft.com/office/powerpoint/2010/main" val="2554741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endParaRPr lang="en-US" dirty="0"/>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41</TotalTime>
  <Words>978</Words>
  <Application>Microsoft Office PowerPoint</Application>
  <PresentationFormat>Widescreen</PresentationFormat>
  <Paragraphs>114</Paragraphs>
  <Slides>16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Tenorite</vt:lpstr>
      <vt:lpstr>Times New Roman</vt:lpstr>
      <vt:lpstr>Custom</vt:lpstr>
      <vt:lpstr>Crisis Communication: Strategies for Handling Sensitive Topics  &amp;  Managing Discussions in High-Stress Environments</vt:lpstr>
      <vt:lpstr>What is Crisis Communication? </vt:lpstr>
      <vt:lpstr>Key Principles of Effective Crisis Communication </vt:lpstr>
      <vt:lpstr>Communicating Clearly Under Pressure</vt:lpstr>
      <vt:lpstr>Handling Sensitive Topics</vt:lpstr>
      <vt:lpstr>Acknowledge emotions</vt:lpstr>
      <vt:lpstr>Separate People from the Problem </vt:lpstr>
      <vt:lpstr>Managing Discussions in High-Stress Environments</vt:lpstr>
      <vt:lpstr>Managing Discussions in High-Stress Environments</vt:lpstr>
      <vt:lpstr>Dealing with Difficult Questions</vt:lpstr>
      <vt:lpstr>Managing Misinformation </vt:lpstr>
      <vt:lpstr>The Role of Empathy </vt:lpstr>
      <vt:lpstr>A Simple Framework for Crisis Discussions: S.T.E.A.D.Y. </vt:lpstr>
      <vt:lpstr>Common Mistakes to Avoid </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 Communication: Strategies for Handling Sensitive Topics and Managing Discussions in High-Stress Environments</dc:title>
  <dc:creator>MARTHA KARUNAKAR</dc:creator>
  <cp:lastModifiedBy>MARTHA KARUNAKAR</cp:lastModifiedBy>
  <cp:revision>18</cp:revision>
  <dcterms:created xsi:type="dcterms:W3CDTF">2026-08-18T06:15:36Z</dcterms:created>
  <dcterms:modified xsi:type="dcterms:W3CDTF">2026-08-18T06:57:18Z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