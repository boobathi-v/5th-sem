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6" r:id="rId5"/>
    <p:sldId id="298" r:id="rId6"/>
    <p:sldId id="299" r:id="rId7"/>
    <p:sldId id="301" r:id="rId8"/>
    <p:sldId id="302" r:id="rId9"/>
    <p:sldId id="303" r:id="rId10"/>
    <p:sldId id="304" r:id="rId11"/>
    <p:sldId id="307" r:id="rId12"/>
    <p:sldId id="306" r:id="rId13"/>
    <p:sldId id="308" r:id="rId14"/>
    <p:sldId id="309" r:id="rId15"/>
    <p:sldId id="310" r:id="rId16"/>
    <p:sldId id="311" r:id="rId17"/>
    <p:sldId id="312" r:id="rId18"/>
    <p:sldId id="28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7887" autoAdjust="0"/>
  </p:normalViewPr>
  <p:slideViewPr>
    <p:cSldViewPr snapToGrid="0" showGuides="1">
      <p:cViewPr varScale="1">
        <p:scale>
          <a:sx n="77" d="100"/>
          <a:sy n="77" d="100"/>
        </p:scale>
        <p:origin x="23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8/13/2026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0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/>
          <a:lstStyle/>
          <a:p>
            <a:r>
              <a:rPr lang="en-US" dirty="0"/>
              <a:t>High Stakes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Martha Karunakar</a:t>
            </a:r>
          </a:p>
          <a:p>
            <a:r>
              <a:rPr lang="en-US" sz="2000" dirty="0"/>
              <a:t>11.08.2026</a:t>
            </a:r>
          </a:p>
        </p:txBody>
      </p:sp>
    </p:spTree>
    <p:extLst>
      <p:ext uri="{BB962C8B-B14F-4D97-AF65-F5344CB8AC3E}">
        <p14:creationId xmlns:p14="http://schemas.microsoft.com/office/powerpoint/2010/main" val="128263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61B7-9AC9-1D1E-682C-5CBCCD3A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="1" dirty="0"/>
              <a:t>igh-stakes discussion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E023-5395-0FC9-97F9-C46DAE892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high-stakes discussion</a:t>
            </a:r>
            <a:r>
              <a:rPr lang="en-US" dirty="0"/>
              <a:t> is a conversation in which the outcome has significant consequences for individuals, teams, or </a:t>
            </a:r>
            <a:r>
              <a:rPr lang="en-US" dirty="0" err="1"/>
              <a:t>organisations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team deciding whether to launch a product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Discussing a serious project failure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Negotiating deadlines with senior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Resolving conflict between team members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Discussing layoffs, restructuring, or budget cuts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Making a critical decision during a crisis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Debating an ethically sensitive issue </a:t>
            </a:r>
          </a:p>
          <a:p>
            <a:r>
              <a:rPr lang="en-US" b="1" dirty="0"/>
              <a:t>Key challenge:</a:t>
            </a:r>
            <a:br>
              <a:rPr lang="en-US" dirty="0"/>
            </a:br>
            <a:r>
              <a:rPr lang="en-US" dirty="0"/>
              <a:t>The facilitator must balance </a:t>
            </a:r>
            <a:r>
              <a:rPr lang="en-US" b="1" dirty="0"/>
              <a:t>people, emotions, information, conflict, time, and outcomes</a:t>
            </a:r>
            <a:r>
              <a:rPr lang="en-US" dirty="0"/>
              <a:t> simultaneously.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91BAC-7FEC-5B80-D01A-59F838D2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04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927A-62EC-BD2B-6228-F9F868B6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Role of a Facilitator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8C765-280E-4418-9C91-4116831A873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leader may have the authority to make the final decision, whereas a facilitator's primary responsibility is to </a:t>
            </a:r>
            <a:r>
              <a:rPr lang="en-US" b="1" dirty="0"/>
              <a:t>enable productive group thinking</a:t>
            </a:r>
            <a:r>
              <a:rPr lang="en-US" dirty="0"/>
              <a:t>.</a:t>
            </a:r>
          </a:p>
          <a:p>
            <a:r>
              <a:rPr lang="en-US" b="1" dirty="0"/>
              <a:t>A good facilitator: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Keeps the discussion focused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balanced participation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Clarifies disagreements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personal attacks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Encourages evidence-based reasoning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Manages emotions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the group reach a decision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that decisions are clearly recorded </a:t>
            </a:r>
          </a:p>
          <a:p>
            <a:endParaRPr lang="en-US" b="1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2734F-E2FC-557E-27DC-502FB509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24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DE8C-3585-5B6A-6E8B-8E3D60EF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Preparing for a High-Stakes Discussion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E805A-04F2-DDEA-FFE1-2EBCB2D09AD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Effective facilitation begins </a:t>
            </a:r>
            <a:r>
              <a:rPr lang="en-US" b="1" dirty="0"/>
              <a:t>before the meeting</a:t>
            </a:r>
            <a:r>
              <a:rPr lang="en-US" dirty="0"/>
              <a:t>.</a:t>
            </a:r>
          </a:p>
          <a:p>
            <a:r>
              <a:rPr lang="en-US" b="1" dirty="0"/>
              <a:t>Define the objective – Ask  - What must we accomplish by the end?</a:t>
            </a:r>
            <a:endParaRPr lang="en-US" dirty="0"/>
          </a:p>
          <a:p>
            <a:r>
              <a:rPr lang="en-US" dirty="0"/>
              <a:t>Possible objectives: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Reach a decision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Generate solutions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Resolve a disagreement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alternatives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risks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consensus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Communicate a difficult decision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516CB-E8F8-5A3A-86D3-830DB9F3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1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1EB8-16D1-AF46-1E77-5279DBB46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Identify stakeholders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079D1-3CFF-9950-FF8A-27DD72C9DE1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Consider: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is directly affected?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has decision-making authority?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has relevant expertise?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may resist the decision?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has information others do not have?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D232A-A7C7-389D-C9CB-D9A8EC3B6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65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CEFA-E4B1-2DD7-87BB-9D9C6FD11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Establish ground rules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56E4-150F-D68D-0155-3372DA2297B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Examples:</a:t>
            </a:r>
          </a:p>
          <a:p>
            <a:pPr>
              <a:buFont typeface="+mj-lt"/>
              <a:buAutoNum type="arabicPeriod"/>
            </a:pPr>
            <a:r>
              <a:rPr lang="en-US" dirty="0"/>
              <a:t>Critique ideas, not people. </a:t>
            </a:r>
          </a:p>
          <a:p>
            <a:pPr>
              <a:buFont typeface="+mj-lt"/>
              <a:buAutoNum type="arabicPeriod"/>
            </a:pPr>
            <a:r>
              <a:rPr lang="en-US" dirty="0"/>
              <a:t>One person speaks at a time. 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evidence wherever possible. </a:t>
            </a:r>
          </a:p>
          <a:p>
            <a:pPr>
              <a:buFont typeface="+mj-lt"/>
              <a:buAutoNum type="arabicPeriod"/>
            </a:pPr>
            <a:r>
              <a:rPr lang="en-US" dirty="0"/>
              <a:t>Disagreement is acceptable; disrespect is not. </a:t>
            </a:r>
          </a:p>
          <a:p>
            <a:pPr>
              <a:buFont typeface="+mj-lt"/>
              <a:buAutoNum type="arabicPeriod"/>
            </a:pPr>
            <a:r>
              <a:rPr lang="en-US" dirty="0"/>
              <a:t>Everyone gets an opportunity to contribute. </a:t>
            </a:r>
          </a:p>
          <a:p>
            <a:pPr>
              <a:buFont typeface="+mj-lt"/>
              <a:buAutoNum type="arabicPeriod"/>
            </a:pPr>
            <a:r>
              <a:rPr lang="en-US" dirty="0"/>
              <a:t>Listen to understand before responding. </a:t>
            </a:r>
          </a:p>
          <a:p>
            <a:pPr>
              <a:buFont typeface="+mj-lt"/>
              <a:buAutoNum type="arabicPeriod"/>
            </a:pPr>
            <a:r>
              <a:rPr lang="en-US" dirty="0"/>
              <a:t>Confidential information stays within the group.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2EE5E-CE9D-7E89-3B21-62512B09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649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1B5598F-E49B-9338-DC45-097D475B7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931596"/>
              </p:ext>
            </p:extLst>
          </p:nvPr>
        </p:nvGraphicFramePr>
        <p:xfrm>
          <a:off x="838200" y="2218214"/>
          <a:ext cx="10515600" cy="35661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3217642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467971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61088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Participant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Typical behaviour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Facilitator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5083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Dominant speaker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Talks frequently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Politely limit airtime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84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Silent participant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Rarely contributes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Invite their perspective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97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Expert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Relies heavily on expertise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Ask for evidence/explanation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0048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Sceptic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Challenges everything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Ask for constructive alternatives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369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Agreeable participant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Avoids disagreement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Ask for independent views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654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Emotional participant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Reacts strongly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Acknowledge emotion, return to issue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667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Side-conversationalist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Distracts others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Redirect attention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4827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Devil's advocate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Challenges assumptions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 constructively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065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5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AF54E-C27F-195C-DFB5-75183B7C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High-stakes discussions should distinguish between: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FB47C-C65B-725B-42E8-50F77C48FF8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Facts → Interpretations → Opinions → Assumptions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"Sales declined by 15%." —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Fact/data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"The decline is probably because of the new pricing." —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 think the pricing strategy is wrong." —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Opinion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"Customers will definitely leave if prices increase." —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Assumption/prediction</a:t>
            </a: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6C639-56B8-5942-721B-58198B12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939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FF4F-341B-00EA-87EE-CDE0176A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Socratic Questioning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CC855-661D-E1B3-0365-70BFEE1A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4C9933-AA87-7013-5631-F95D41B28632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1207008" y="-634547"/>
            <a:ext cx="11577208" cy="95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Socratic questioning is particularly useful in high-stakes discussions because 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encourages participants to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examine their own reasoning.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Six useful categories: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Clarification: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exactly do you mean?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Evidence: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evidence supports this?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Assumptions: What are we assuming?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Perspectives: How might another stakeholder view this?“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Implications: What are the consequences if we are wrong?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Alternatives: Is there another explanation?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1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2F78-D6E0-3FD2-3973-9358494B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Leading Teams Under Pressure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B2D4E-294B-F897-7FD6-30857FF70F0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When teams operate under pressure, leaders need to balance </a:t>
            </a:r>
            <a:r>
              <a:rPr lang="en-US" b="1" dirty="0"/>
              <a:t>task achievement with emotional and interpersonal management</a:t>
            </a:r>
            <a:r>
              <a:rPr lang="en-US" dirty="0"/>
              <a:t>.</a:t>
            </a:r>
          </a:p>
          <a:p>
            <a:r>
              <a:rPr lang="en-US" b="1" dirty="0"/>
              <a:t>Key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Limited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Uncertainty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Conflicting priorities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Emotional reactions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Information overload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Fear of failure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Dominant personalities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Poor listening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Pressure to reach immediate decisions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D384B-EB33-8B81-654B-945BB262A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56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D7FD6-B675-D41B-EB6F-165AF90B2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Group Dynamics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53CEC-4372-E764-40FF-327CB5D09CA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35964" y="2523744"/>
            <a:ext cx="9720072" cy="325526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Group dynamics</a:t>
            </a:r>
            <a:r>
              <a:rPr lang="en-US" dirty="0"/>
              <a:t> refers to the ways in which individuals interact and influence one another within a group.</a:t>
            </a:r>
          </a:p>
          <a:p>
            <a:r>
              <a:rPr lang="en-US" dirty="0"/>
              <a:t>A facilitator must pay attention not only to </a:t>
            </a:r>
            <a:r>
              <a:rPr lang="en-US" b="1" dirty="0"/>
              <a:t>what people are saying</a:t>
            </a:r>
            <a:r>
              <a:rPr lang="en-US" dirty="0"/>
              <a:t>, but also to </a:t>
            </a:r>
            <a:r>
              <a:rPr lang="en-US" b="1" dirty="0"/>
              <a:t>who is speaking, who is silent, and how power operates within the group</a:t>
            </a:r>
            <a:r>
              <a:rPr lang="en-US" dirty="0"/>
              <a:t>.</a:t>
            </a:r>
          </a:p>
          <a:p>
            <a:r>
              <a:rPr lang="en-US" b="1" dirty="0"/>
              <a:t>Common Group-Dynamic Problems: </a:t>
            </a:r>
            <a:r>
              <a:rPr lang="en-US" dirty="0"/>
              <a:t>Dominant Speaker - One person controls the discussion.</a:t>
            </a:r>
          </a:p>
          <a:p>
            <a:r>
              <a:rPr lang="en-US" b="1" dirty="0"/>
              <a:t>Strategy: </a:t>
            </a:r>
            <a:r>
              <a:rPr lang="en-US" dirty="0"/>
              <a:t>"Thank you. I'd like to hear from someone who hasn't spoken yet."</a:t>
            </a:r>
          </a:p>
          <a:p>
            <a:r>
              <a:rPr lang="en-US" b="1" dirty="0"/>
              <a:t>Silent Participants: </a:t>
            </a:r>
            <a:r>
              <a:rPr lang="en-US" dirty="0"/>
              <a:t>Some members hesitate to contribute.</a:t>
            </a:r>
          </a:p>
          <a:p>
            <a:r>
              <a:rPr lang="en-US" b="1" dirty="0"/>
              <a:t>Strategy: </a:t>
            </a:r>
            <a:r>
              <a:rPr lang="en-US" dirty="0"/>
              <a:t>Invite them directly. Use small-group discussion. Give participants time to think before responding.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8A6A9-1245-FEF5-F43A-BEF7CB6E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782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53F56-BFA6-AE27-2EE1-D29AAA8A9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Group Dynamics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FC527-7F99-5034-5AD8-9F600D25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492F510-4CDE-C876-0CFB-109D57877395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1207008" y="2812548"/>
            <a:ext cx="862210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Groupthink: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prioritise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agreement over critical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Warning signs: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"Everyone seems to agree."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one questions the proposal.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Alternative perspectives are dismissed.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Introduce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devil's advocate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ask: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"What could go wrong with this proposal?"</a:t>
            </a:r>
          </a:p>
        </p:txBody>
      </p:sp>
    </p:spTree>
    <p:extLst>
      <p:ext uri="{BB962C8B-B14F-4D97-AF65-F5344CB8AC3E}">
        <p14:creationId xmlns:p14="http://schemas.microsoft.com/office/powerpoint/2010/main" val="3385262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81C5-D62D-6ACB-CC20-64F1726F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Managing Group Dynamics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8288E0-D0ED-061A-ADDA-5C30C9E0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1DE089-1775-53E9-0FF2-0ED4B556F0BB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1207008" y="2812548"/>
            <a:ext cx="775084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Conflict Between Individuals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 disagreements can derail the discussion.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Move from: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"You never listen to me."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"What specific concern do you have about the proposal?"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converts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 conflict into issue-based discussion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8953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DDF74-33EB-CCBC-DA16-4499B2454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Steering Productive Debates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22FEE-7583-7577-FD44-8419F1A0ED4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A productive debate is not one in which everyone agrees. It is one in which </a:t>
            </a:r>
            <a:r>
              <a:rPr lang="en-US" b="1" dirty="0"/>
              <a:t>different perspectives are examined systematically and respectfully</a:t>
            </a:r>
            <a:r>
              <a:rPr lang="en-US" dirty="0"/>
              <a:t>.</a:t>
            </a:r>
          </a:p>
          <a:p>
            <a:r>
              <a:rPr lang="en-US" b="1" dirty="0"/>
              <a:t>The facilitator should distinguish between:</a:t>
            </a:r>
          </a:p>
          <a:p>
            <a:r>
              <a:rPr lang="en-US" b="1" dirty="0"/>
              <a:t>Disagreement</a:t>
            </a:r>
            <a:r>
              <a:rPr lang="en-US" dirty="0"/>
              <a:t> → "I disagree with your conclusion."</a:t>
            </a:r>
          </a:p>
          <a:p>
            <a:r>
              <a:rPr lang="en-US" b="1" dirty="0"/>
              <a:t>Personal attack</a:t>
            </a:r>
            <a:r>
              <a:rPr lang="en-US" dirty="0"/>
              <a:t> → "You don't understand the issue."</a:t>
            </a:r>
          </a:p>
          <a:p>
            <a:r>
              <a:rPr lang="en-US" dirty="0"/>
              <a:t>The first can contribute to productive debate; the second should be redirected.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BCDA7-C8B9-30B3-2955-DF024666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912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0A6B8-78EB-52CA-3D46-A46FC880D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  <a:noFill/>
        </p:spPr>
        <p:txBody>
          <a:bodyPr vert="horz" lIns="91440" tIns="45720" rIns="91440" bIns="45720" rtlCol="0" anchor="t" anchorCtr="0">
            <a:norm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1251</TotalTime>
  <Words>845</Words>
  <Application>Microsoft Office PowerPoint</Application>
  <PresentationFormat>Widescreen</PresentationFormat>
  <Paragraphs>163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Custom</vt:lpstr>
      <vt:lpstr>High Stakes Discussion</vt:lpstr>
      <vt:lpstr>High-stakes discussion </vt:lpstr>
      <vt:lpstr>The Role of a Facilitator </vt:lpstr>
      <vt:lpstr>Preparing for a High-Stakes Discussion </vt:lpstr>
      <vt:lpstr>Identify stakeholders </vt:lpstr>
      <vt:lpstr>Establish ground rules </vt:lpstr>
      <vt:lpstr>PowerPoint Presentation</vt:lpstr>
      <vt:lpstr>High-stakes discussions should distinguish between: </vt:lpstr>
      <vt:lpstr>Socratic Questioning </vt:lpstr>
      <vt:lpstr>Leading Teams Under Pressure </vt:lpstr>
      <vt:lpstr>Managing Group Dynamics </vt:lpstr>
      <vt:lpstr>Managing Group Dynamics</vt:lpstr>
      <vt:lpstr>Managing Group Dynamics</vt:lpstr>
      <vt:lpstr>Steering Productive Debates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 strategies</dc:title>
  <dc:creator>MARTHA KARUNAKAR</dc:creator>
  <cp:lastModifiedBy>MARTHA KARUNAKAR</cp:lastModifiedBy>
  <cp:revision>13</cp:revision>
  <dcterms:created xsi:type="dcterms:W3CDTF">2026-08-10T13:26:43Z</dcterms:created>
  <dcterms:modified xsi:type="dcterms:W3CDTF">2026-08-13T09:09:15Z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