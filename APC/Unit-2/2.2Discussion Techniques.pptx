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1DB5-8C8B-8D52-D2FF-6F90D154B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Discussion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D2965-4C9E-0773-0BC1-CF073C21E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Martha Karunakar</a:t>
            </a:r>
          </a:p>
          <a:p>
            <a:r>
              <a:rPr lang="en-IN" dirty="0"/>
              <a:t>06.08.2026</a:t>
            </a:r>
          </a:p>
        </p:txBody>
      </p:sp>
    </p:spTree>
    <p:extLst>
      <p:ext uri="{BB962C8B-B14F-4D97-AF65-F5344CB8AC3E}">
        <p14:creationId xmlns:p14="http://schemas.microsoft.com/office/powerpoint/2010/main" val="289561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DA02-5B7B-78FE-0D41-185AA08F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C479-FE94-D46F-DD48-2938D7F40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none" strike="noStrike" dirty="0">
                <a:effectLst/>
                <a:latin typeface="Google Sans"/>
              </a:rPr>
              <a:t>Discussion techniques like Socratic questioning, dialectical reasoning, and evidence-based argumentation help people explore ideas, test beliefs, and find truth. They use guided questions, opposing views, and hard facts to build deep and clear understanding.</a:t>
            </a:r>
            <a:r>
              <a:rPr lang="en-US" dirty="0"/>
              <a:t> </a:t>
            </a:r>
          </a:p>
          <a:p>
            <a:r>
              <a:rPr lang="en-US" dirty="0"/>
              <a:t>Discussion techniques help participants </a:t>
            </a:r>
          </a:p>
          <a:p>
            <a:r>
              <a:rPr lang="en-US" dirty="0"/>
              <a:t>analyze ideas critically, </a:t>
            </a:r>
          </a:p>
          <a:p>
            <a:r>
              <a:rPr lang="en-US" dirty="0"/>
              <a:t>communicate effectively, </a:t>
            </a:r>
          </a:p>
          <a:p>
            <a:r>
              <a:rPr lang="en-US" dirty="0"/>
              <a:t>and reach well-reasoned conclusions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40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8CC9-4F81-B3CF-C6C2-2EE3C103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Socratic Questioning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F4EA5-31D4-B2FE-D4C8-AB401D2D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 structured method of inquiry that uses probing questions to challenge assumptions and deepen understanding rather than simply providing answers.</a:t>
            </a:r>
          </a:p>
          <a:p>
            <a:r>
              <a:rPr lang="en-US" b="1" dirty="0"/>
              <a:t>Purpose:  </a:t>
            </a:r>
            <a:r>
              <a:rPr lang="en-US" dirty="0"/>
              <a:t>Clarify concepts, Examine assumptions, Explore evidence, Reveal implications, Encourage critical thinking </a:t>
            </a:r>
          </a:p>
          <a:p>
            <a:r>
              <a:rPr lang="en-US" b="1" dirty="0"/>
              <a:t>Examples of questions: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do you mean by that?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evidence supports your claim?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assumptions are you making?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Could there be another explanation?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would happen if your assumption were false? </a:t>
            </a:r>
          </a:p>
          <a:p>
            <a:r>
              <a:rPr lang="en-US" b="1" dirty="0"/>
              <a:t>Example: </a:t>
            </a:r>
            <a:r>
              <a:rPr lang="en-US" dirty="0"/>
              <a:t>Student: "Social media always harms mental health."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92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DF70-6688-81EE-FFEC-6597CFE0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Socratic Questioning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333D8E-BA1C-BC53-8E97-08DEDE1A0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358"/>
            <a:ext cx="7289175" cy="2223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Uses disciplined, deep questions.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Focuses on finding the core truth of a belief.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Uncovers hidden assumptions.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Explores logical consequences.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Asks for clarity and evidence instead of lecturing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09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4563-A882-2152-89AE-0982B264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Dialectical Reasoning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729DC-B651-A48E-8E0F-9E1F6DAD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u="none" strike="noStrike" dirty="0">
                <a:effectLst/>
                <a:latin typeface="Google Sans"/>
              </a:rPr>
              <a:t>Dialectical reasoning is a method of thought and argument where an original idea, called a </a:t>
            </a:r>
            <a:r>
              <a:rPr lang="en-US" b="1" u="none" strike="noStrike" dirty="0">
                <a:effectLst/>
                <a:latin typeface="Google Sans"/>
              </a:rPr>
              <a:t>thesis</a:t>
            </a:r>
            <a:r>
              <a:rPr lang="en-US" dirty="0"/>
              <a:t>, is confronted by a contradictory idea, called an </a:t>
            </a:r>
            <a:r>
              <a:rPr lang="en-US" b="1" u="none" strike="noStrike" dirty="0">
                <a:effectLst/>
                <a:latin typeface="Google Sans"/>
              </a:rPr>
              <a:t>antithesis</a:t>
            </a:r>
            <a:r>
              <a:rPr lang="en-US" dirty="0"/>
              <a:t>. By working through these opposing views, a person reaches a higher truth or a combined solution known as a </a:t>
            </a:r>
            <a:r>
              <a:rPr lang="en-US" b="1" u="none" strike="noStrike" dirty="0">
                <a:effectLst/>
                <a:latin typeface="Google Sans"/>
              </a:rPr>
              <a:t>synthesis</a:t>
            </a:r>
          </a:p>
          <a:p>
            <a:r>
              <a:rPr lang="en-US" b="1" dirty="0"/>
              <a:t>Structure: Thesis:</a:t>
            </a:r>
            <a:r>
              <a:rPr lang="en-US" dirty="0"/>
              <a:t> Initial argument, </a:t>
            </a:r>
            <a:r>
              <a:rPr lang="en-IN" dirty="0"/>
              <a:t>position, belief, or idea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Antithesis:</a:t>
            </a:r>
            <a:r>
              <a:rPr lang="en-US" dirty="0"/>
              <a:t> Opposing argument, Identify the flaws, limits, or direct opposite of that first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Synthesis:</a:t>
            </a:r>
            <a:r>
              <a:rPr lang="en-US" dirty="0"/>
              <a:t> A balanced conclusion integrating insights from both - Combine the valid parts of both sides into a new, more complete understanding.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open-mindedness, reduce </a:t>
            </a:r>
            <a:r>
              <a:rPr lang="en-US" dirty="0" err="1"/>
              <a:t>polarisation</a:t>
            </a:r>
            <a:r>
              <a:rPr lang="en-US" dirty="0"/>
              <a:t>, develop nuanced conclusions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57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9817-539D-8F04-EA72-8178C50E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6847-C94E-02F8-741E-FD362C42C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/>
              <a:t>Thesis:</a:t>
            </a:r>
            <a:r>
              <a:rPr lang="en-US" dirty="0"/>
              <a:t> Artificial Intelligence improves education.</a:t>
            </a:r>
          </a:p>
          <a:p>
            <a:r>
              <a:rPr lang="en-US" b="1" dirty="0"/>
              <a:t>Antithesis:</a:t>
            </a:r>
            <a:r>
              <a:rPr lang="en-US" dirty="0"/>
              <a:t> AI reduces critical thinking and human interaction.</a:t>
            </a:r>
          </a:p>
          <a:p>
            <a:r>
              <a:rPr lang="en-US" b="1" dirty="0"/>
              <a:t>Synthesis:</a:t>
            </a:r>
            <a:r>
              <a:rPr lang="en-US" dirty="0"/>
              <a:t> AI enhances learning when used as a supportive tool alongside effective teaching rather than replacing educators.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60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D192-C1B1-8EFF-0C47-F7508E61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Evidence-Based Argumentation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7619-CDB7-485E-E702-6104E078F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Making claims supported by credible evidence rather than personal opinion.</a:t>
            </a:r>
          </a:p>
          <a:p>
            <a:r>
              <a:rPr lang="en-US" b="1" dirty="0"/>
              <a:t>Components: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Claim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Evidence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Reasoning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Counterargument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Rebuttal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18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32B5-0AAF-68C4-5545-0F1BC09A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D220-64E9-29B5-7B51-113914BD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en-US" dirty="0"/>
            </a:br>
            <a:r>
              <a:rPr lang="en-US" dirty="0"/>
              <a:t>Claim: Online learning can be as effective as classroom instruction.</a:t>
            </a:r>
          </a:p>
          <a:p>
            <a:r>
              <a:rPr lang="en-US" dirty="0"/>
              <a:t>Evidence: Studies comparing student outcomes in online and face-to-face courses.</a:t>
            </a:r>
          </a:p>
          <a:p>
            <a:r>
              <a:rPr lang="en-US" dirty="0"/>
              <a:t>Reasoning: Interactive digital platforms enable personalized learning and flexible pacing.</a:t>
            </a:r>
          </a:p>
          <a:p>
            <a:r>
              <a:rPr lang="en-US" dirty="0"/>
              <a:t>Counterargument: Students may feel isolated.</a:t>
            </a:r>
          </a:p>
          <a:p>
            <a:r>
              <a:rPr lang="en-US" dirty="0"/>
              <a:t>Rebuttal: </a:t>
            </a:r>
            <a:r>
              <a:rPr lang="en-US" sz="1600" dirty="0"/>
              <a:t>(is a formal or reasoned response that disproves, denies, or counters an opposing argument, claim, or accusation using logic and evidence)</a:t>
            </a:r>
            <a:r>
              <a:rPr lang="en-US" dirty="0"/>
              <a:t> Blended learning and collaborative online activities can reduce isolation.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823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B4FD-63BD-8A1E-1389-BFCA7B89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Fishbowl Discussion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6EB3-D311-2B60-3021-1A9843A79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small group discusses an issue while others observe. Participants can rotate into the discussion.</a:t>
            </a:r>
          </a:p>
          <a:p>
            <a:r>
              <a:rPr lang="en-US" dirty="0"/>
              <a:t>Useful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groups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Sensitive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Academic discussions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Leadership training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225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{0E9ED5F3-D2AA-43CD-BC1C-F3B23F023F18}TF37254b02-f5b5-44b0-803d-e6af9466a024d8712c6d-28d3f990fef7</Template>
  <TotalTime>16</TotalTime>
  <Words>485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Google Sans</vt:lpstr>
      <vt:lpstr>MS Shell Dlg 2</vt:lpstr>
      <vt:lpstr>Wingdings</vt:lpstr>
      <vt:lpstr>Wingdings 3</vt:lpstr>
      <vt:lpstr>Madison</vt:lpstr>
      <vt:lpstr>Discussion Techniques</vt:lpstr>
      <vt:lpstr>Introduction</vt:lpstr>
      <vt:lpstr>Socratic Questioning </vt:lpstr>
      <vt:lpstr>Socratic Questioning</vt:lpstr>
      <vt:lpstr>Dialectical Reasoning </vt:lpstr>
      <vt:lpstr>Example:</vt:lpstr>
      <vt:lpstr>Evidence-Based Argumentation </vt:lpstr>
      <vt:lpstr>Example:</vt:lpstr>
      <vt:lpstr>Fishbowl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Discussion Techniques</dc:title>
  <dc:creator>MARTHA KARUNAKAR</dc:creator>
  <cp:lastModifiedBy>MARTHA KARUNAKAR</cp:lastModifiedBy>
  <cp:revision>9</cp:revision>
  <dcterms:created xsi:type="dcterms:W3CDTF">2026-08-06T03:35:16Z</dcterms:created>
  <dcterms:modified xsi:type="dcterms:W3CDTF">2026-08-13T09:07:13Z</dcterms:modified>
</cp:coreProperties>
</file>