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81" r:id="rId6"/>
    <p:sldId id="282" r:id="rId7"/>
    <p:sldId id="283" r:id="rId8"/>
    <p:sldId id="285" r:id="rId9"/>
    <p:sldId id="277" r:id="rId10"/>
    <p:sldId id="286" r:id="rId11"/>
    <p:sldId id="288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301" r:id="rId20"/>
    <p:sldId id="297" r:id="rId21"/>
    <p:sldId id="298" r:id="rId22"/>
    <p:sldId id="299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216" autoAdjust="0"/>
  </p:normalViewPr>
  <p:slideViewPr>
    <p:cSldViewPr snapToGrid="0">
      <p:cViewPr varScale="1">
        <p:scale>
          <a:sx n="72" d="100"/>
          <a:sy n="72" d="100"/>
        </p:scale>
        <p:origin x="420" y="48"/>
      </p:cViewPr>
      <p:guideLst>
        <p:guide pos="576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FD71-DE7D-47EA-BD5F-935596C85A92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89DD0-1E8D-4B61-ADE9-B87318B81B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3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9DD0-1E8D-4B61-ADE9-B87318B81B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3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603504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724" y="3236493"/>
            <a:ext cx="5149596" cy="1448385"/>
          </a:xfrm>
          <a:solidFill>
            <a:schemeClr val="bg1">
              <a:alpha val="80000"/>
            </a:schemeClr>
          </a:solidFill>
        </p:spPr>
        <p:txBody>
          <a:bodyPr lIns="502920" bIns="137160" anchor="b">
            <a:normAutofit/>
          </a:bodyPr>
          <a:lstStyle>
            <a:lvl1pPr algn="l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  <a:solidFill>
            <a:schemeClr val="bg1">
              <a:alpha val="80000"/>
            </a:schemeClr>
          </a:solidFill>
        </p:spPr>
        <p:txBody>
          <a:bodyPr lIns="502920">
            <a:normAutofit/>
          </a:bodyPr>
          <a:lstStyle>
            <a:lvl1pPr marL="0" indent="0" algn="l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6C8C1-E81C-436D-A310-A71CAAE33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86500" y="946404"/>
            <a:ext cx="5486400" cy="49651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103120"/>
            <a:ext cx="3848101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421" y="1600200"/>
            <a:ext cx="2743199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F7B6DF9-E76A-44ED-B84C-1391CD5D5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93262"/>
            <a:ext cx="2743200" cy="3071477"/>
          </a:xfrm>
        </p:spPr>
        <p:txBody>
          <a:bodyPr anchor="ctr" anchorCtr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CB9306-A7FD-4B22-8E8A-E0B8D7862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624728" y="3747150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2583" y="2102720"/>
            <a:ext cx="5422217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143000"/>
            <a:ext cx="5486400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C2C3F7-8611-4C35-8251-0FD61D72D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0" y="3500407"/>
            <a:ext cx="4572000" cy="1888373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5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-2"/>
            <a:ext cx="12188952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67250"/>
            <a:ext cx="9144000" cy="121218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>
            <a:normAutofit/>
          </a:bodyPr>
          <a:lstStyle>
            <a:lvl1pPr marL="0" indent="0" algn="ctr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42BA18D-167B-42CD-8DD5-844A2087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19A9BF1-35FD-4BDE-9C59-E08CB7A7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2A2A47-BED9-43DF-8914-AD1EB274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0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BA353-19B1-4A04-A7EE-345F93C189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2491" y="946404"/>
            <a:ext cx="5486400" cy="4965192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4857A-B6DC-4F0A-AD6B-243F6C085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109" y="2386584"/>
            <a:ext cx="4315968" cy="2084832"/>
          </a:xfrm>
        </p:spPr>
        <p:txBody>
          <a:bodyPr anchor="t">
            <a:normAutofit/>
          </a:bodyPr>
          <a:lstStyle>
            <a:lvl1pPr>
              <a:defRPr sz="3400" spc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8717D35-8E1B-4C94-BA72-91D4DCA657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471416"/>
            <a:ext cx="3584448" cy="63767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spc="1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15B60AE-D6AB-472C-8342-2A3EB5349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93208" y="1600200"/>
            <a:ext cx="2286000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B5B262-532A-4EE4-98E7-0EB6A8C56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27251" y="114592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11277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52808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3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376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17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117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91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9175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7498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7498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4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725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4077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97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97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1719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1718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9720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9719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349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4349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3896D737-6139-4405-A7F2-E08C421815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9730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721A36A5-FCF3-4EE8-B5F2-41805C3F6A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49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630D673-CB21-40A3-A7BE-C996B20D681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97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0C83EF20-1DF8-43B4-B982-A382FF884E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46082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D09C98-5809-41AD-B215-493A3D741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002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9E3214F0-FC83-402F-BAC5-ED48275327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02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39B0FB7F-A1FC-40D1-ACFC-C3C966F9BC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51767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15EB3CBA-DD9B-449B-9B72-1917801771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1766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BA47B66D-8891-4AE7-98BE-3CFE9CDB5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9768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929AE99A-6054-4B2F-B99D-FE4F682613D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99767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D1F32591-7BBD-4006-AEA0-29F43CDADC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54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7BC780CD-8E77-4D0E-A436-DCB2AA0C15C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54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2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spc="3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8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F765-81DF-4CD4-A737-DDE62C84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67C45-8307-4F47-91BB-229B740A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F83D-D593-4D91-ADFA-C49B837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776643-6C33-46CD-A918-AB0CEA571F00}"/>
              </a:ext>
            </a:extLst>
          </p:cNvPr>
          <p:cNvSpPr/>
          <p:nvPr userDrawn="1"/>
        </p:nvSpPr>
        <p:spPr>
          <a:xfrm>
            <a:off x="6086475" y="1682496"/>
            <a:ext cx="563880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E62D2-A055-4712-92CC-4B02419D51FB}"/>
              </a:ext>
            </a:extLst>
          </p:cNvPr>
          <p:cNvSpPr/>
          <p:nvPr userDrawn="1"/>
        </p:nvSpPr>
        <p:spPr>
          <a:xfrm>
            <a:off x="457200" y="1681163"/>
            <a:ext cx="563880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9640" y="1844259"/>
            <a:ext cx="3657600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9640" y="2668171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0133" y="1808163"/>
            <a:ext cx="4703841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0134" y="2632075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C89FBE-3029-4F92-8308-F830BB14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58712" y="1681163"/>
            <a:ext cx="374904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0A4C88-FF32-4096-9EA9-EC22D3682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1097" y="1682496"/>
            <a:ext cx="374904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7559B-132E-4A6E-ADBE-41DB38EC8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76" y="1681163"/>
            <a:ext cx="3749040" cy="45720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90825"/>
            <a:ext cx="2971800" cy="3248025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101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188" y="2790825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F7BCB16-19B7-48F6-94CD-563F439887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34" y="1976438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FBB2F8D-6092-468C-BA48-836286C6B7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800350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63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5633F8-C03D-4CEE-BEDD-1B6648554C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628" y="685800"/>
            <a:ext cx="3200400" cy="5486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DC27-A467-4265-AAB1-754D3F86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50230"/>
            <a:ext cx="5009147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CC7B6-D9ED-464B-8206-98055EB53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490788"/>
            <a:ext cx="4572000" cy="353695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 spc="30" baseline="0"/>
            </a:lvl1pPr>
            <a:lvl2pPr marL="457200" indent="0">
              <a:lnSpc>
                <a:spcPts val="2400"/>
              </a:lnSpc>
              <a:buNone/>
              <a:defRPr sz="1400" spc="30" baseline="0"/>
            </a:lvl2pPr>
            <a:lvl3pPr marL="914400" indent="0">
              <a:lnSpc>
                <a:spcPts val="2400"/>
              </a:lnSpc>
              <a:buNone/>
              <a:defRPr sz="1400" spc="30" baseline="0"/>
            </a:lvl3pPr>
            <a:lvl4pPr marL="1371600" indent="0">
              <a:lnSpc>
                <a:spcPts val="2400"/>
              </a:lnSpc>
              <a:buNone/>
              <a:defRPr sz="1400" spc="30" baseline="0"/>
            </a:lvl4pPr>
            <a:lvl5pPr marL="1828800" indent="0">
              <a:lnSpc>
                <a:spcPts val="2400"/>
              </a:lnSpc>
              <a:buNone/>
              <a:defRPr sz="1400" spc="3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743C040-0A81-4A38-879D-07BBD18423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81800" y="2492375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BDD4A8-3B48-439C-B601-8D04B871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761136" y="5210984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587044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3490624"/>
            <a:ext cx="4571999" cy="1235382"/>
          </a:xfrm>
          <a:solidFill>
            <a:schemeClr val="bg1">
              <a:alpha val="80000"/>
            </a:schemeClr>
          </a:solidFill>
        </p:spPr>
        <p:txBody>
          <a:bodyPr lIns="457200" bIns="137160" anchor="b">
            <a:normAutofit/>
          </a:bodyPr>
          <a:lstStyle>
            <a:lvl1pPr algn="l">
              <a:defRPr sz="36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  <a:solidFill>
            <a:schemeClr val="bg1">
              <a:alpha val="80000"/>
            </a:schemeClr>
          </a:solidFill>
        </p:spPr>
        <p:txBody>
          <a:bodyPr lIns="502920" rIns="2103120">
            <a:normAutofit/>
          </a:bodyPr>
          <a:lstStyle>
            <a:lvl1pPr marL="0" indent="0" algn="l">
              <a:buNone/>
              <a:defRPr sz="1400" spc="40" baseline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B6E25-C828-48BC-8628-82D1E81A50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0386C-9F0A-4DAC-822E-DEC8EA1DDE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A59EB-A4AA-43EC-A853-BDDFB7AB3D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7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62B82C-34E9-4F3B-9B0F-A3207161C41E}"/>
              </a:ext>
            </a:extLst>
          </p:cNvPr>
          <p:cNvSpPr/>
          <p:nvPr userDrawn="1"/>
        </p:nvSpPr>
        <p:spPr>
          <a:xfrm>
            <a:off x="10820400" y="813816"/>
            <a:ext cx="137160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70" r:id="rId4"/>
    <p:sldLayoutId id="2147483672" r:id="rId5"/>
    <p:sldLayoutId id="2147483654" r:id="rId6"/>
    <p:sldLayoutId id="2147483658" r:id="rId7"/>
    <p:sldLayoutId id="2147483660" r:id="rId8"/>
    <p:sldLayoutId id="2147483671" r:id="rId9"/>
    <p:sldLayoutId id="2147483650" r:id="rId10"/>
    <p:sldLayoutId id="2147483667" r:id="rId11"/>
    <p:sldLayoutId id="2147483668" r:id="rId12"/>
    <p:sldLayoutId id="2147483662" r:id="rId13"/>
    <p:sldLayoutId id="214748366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" baseline="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392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frosty pine leaves&#10;">
            <a:extLst>
              <a:ext uri="{FF2B5EF4-FFF2-40B4-BE49-F238E27FC236}">
                <a16:creationId xmlns:a16="http://schemas.microsoft.com/office/drawing/2014/main" id="{E700099C-08E5-415B-A866-CD9A073DCD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724" y="411480"/>
            <a:ext cx="11274552" cy="60350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3236493"/>
            <a:ext cx="5149596" cy="1448385"/>
          </a:xfrm>
        </p:spPr>
        <p:txBody>
          <a:bodyPr>
            <a:normAutofit/>
          </a:bodyPr>
          <a:lstStyle/>
          <a:p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Presentation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</p:spPr>
        <p:txBody>
          <a:bodyPr>
            <a:normAutofit/>
          </a:bodyPr>
          <a:lstStyle/>
          <a:p>
            <a:r>
              <a:rPr lang="en-US" dirty="0"/>
              <a:t>25.08.2026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9BE6-7174-65EF-C958-470A07EE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Presentation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630F-92CB-BF4F-8C48-D1F3E6DC6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effective presentation is not simply a collection of slides.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strategically designed communication experience in which the presenter considers: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is the audience? → What do they need? → What is the central message? → How should the ideas be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organised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 → How can visuals reinforce the message?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presentation design therefore combines content, structure, audience awareness, storytelling, and visual communication.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9E835-7B97-35B8-532F-475A7F0F3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EBE39-9353-EE2C-5548-A54CE0DE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B3A2-6401-CBA0-A26B-C44C41A1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38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69D3-4F10-F9D2-9A89-43074E36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 Analysis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0282F-A461-6DEE-F454-DA60EF706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designing the presentation, the presenter must understand the audience.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to 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my audience?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 they already know about the topic?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 they need to know?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their interests or concerns?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their expectations?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attitudes or opinions might they already have?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action or response do I want from them?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7C46E-6F1F-3AE5-48EA-70256332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A5060-5794-C848-171C-FAE57E61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D373E-576E-E7FA-9348-CC164756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2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6F75-E4B3-D39E-0BFA-A27F628C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audience</a:t>
            </a:r>
            <a:b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E01E-6B10-1983-93D4-3156CB8F5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 Audience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Already familiar with the subject.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depth, evidence, and technical detail.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excessive explanation of basic concepts.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Non-Expert Audience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have limited knowledge of the topic.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clear explanations and simple language.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examples and analogies.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2E8E7-EA04-4992-D5A1-3E72E8793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22BF6-01DF-2878-23C1-CB930A50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53B46-A24B-E2EC-0CCA-54BEAA0F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09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B3BF-0F35-18FA-2E63-5E9623ED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audience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9BBDE-3877-930C-09B0-E87B7850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Mixed Audience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people with different levels of knowledge.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 accessibility with sufficient depth.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 technical terms without oversimplifying the discussion.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Suppose the topic is Artificial Intelligence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teachers: Focus on classroom applications and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administrators: Focus on implementation, cost, policy, and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students: Focus on learning experiences, benefits, and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the same topic differently depending on the audience.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987A0-BA0B-B92C-21FC-7BEA5BAB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D639-F33C-134F-2341-3CBB79E9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37E2-2EF2-A4B4-2572-EFC99C5E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6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snow covered tree tops">
            <a:extLst>
              <a:ext uri="{FF2B5EF4-FFF2-40B4-BE49-F238E27FC236}">
                <a16:creationId xmlns:a16="http://schemas.microsoft.com/office/drawing/2014/main" id="{9D81C5EE-2261-4083-8002-E23F98920B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" y="-2"/>
            <a:ext cx="12188952" cy="4572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3122"/>
            <a:ext cx="9144000" cy="1356310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id="{47A90702-7E26-474B-9F44-97E536C0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AE6D2-3EE3-39C6-BEED-2DB7B3BD9F28}"/>
              </a:ext>
            </a:extLst>
          </p:cNvPr>
          <p:cNvSpPr txBox="1"/>
          <p:nvPr/>
        </p:nvSpPr>
        <p:spPr>
          <a:xfrm>
            <a:off x="3005051" y="2961701"/>
            <a:ext cx="61763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Storyboarding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9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605F-A7BA-705D-52D8-74527455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Storyboarding?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2D87A-2C7B-F057-95C3-83BA2EDA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storyboard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visual or written plan that maps the sequence of a presentation before the slides are designed.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immediately creating PowerPoint slides, first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of ideas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Storyboard: Topic: Workplace Stress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Hook</a:t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"Why are employees experiencing increasing levels of stress?"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2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The Problem</a:t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issue using a statistic or scenario.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3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Causes</a:t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workload, uncertainty, poor communication, and work-life imbalance.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6A0BE-3DB7-276E-9768-0129705E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B44BA-621E-A9E1-1BFF-24135410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330B-07B0-0083-8FE0-1B58AA92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5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AC95-DD19-1480-6340-0A90D3E5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Storyboarding Example (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9552-34E5-182A-2372-935E401EA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4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Impact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 effects on productivity and well-being.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5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Possible Solutions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individual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6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Key Takeaway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"Reducing workplace stress requires both individual resilience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responsibility."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BA188-4999-E921-9D95-551A2373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CC382-91DC-F6EC-A65C-4A13BA4B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70833-15A2-63D5-E1C8-65EE0546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88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CC0A-4E59-4F39-79E3-0567DB66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Storyboard Structure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FFAAC8A-00A6-8DE4-41A9-F8FC7FCE0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13769"/>
              </p:ext>
            </p:extLst>
          </p:nvPr>
        </p:nvGraphicFramePr>
        <p:xfrm>
          <a:off x="1047404" y="2538254"/>
          <a:ext cx="7656022" cy="2926080"/>
        </p:xfrm>
        <a:graphic>
          <a:graphicData uri="http://schemas.openxmlformats.org/drawingml/2006/table">
            <a:tbl>
              <a:tblPr/>
              <a:tblGrid>
                <a:gridCol w="3828011">
                  <a:extLst>
                    <a:ext uri="{9D8B030D-6E8A-4147-A177-3AD203B41FA5}">
                      <a16:colId xmlns:a16="http://schemas.microsoft.com/office/drawing/2014/main" val="4080184102"/>
                    </a:ext>
                  </a:extLst>
                </a:gridCol>
                <a:gridCol w="3828011">
                  <a:extLst>
                    <a:ext uri="{9D8B030D-6E8A-4147-A177-3AD203B41FA5}">
                      <a16:colId xmlns:a16="http://schemas.microsoft.com/office/drawing/2014/main" val="3533179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414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Opening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 attention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460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why the topic matters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20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key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940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evidence or perspectives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51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 recommendations or alternatives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Conclusion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 the key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006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 Call to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 what should happen next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57129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4991-1D83-14BD-5A45-46785044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8F5F9-AFE0-9126-C875-767E07133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02455-8807-55F7-FEA3-9056EAEE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90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08439-8E01-6D69-35FC-8F6818E1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Narrative Flow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4FEEC-132E-CA2B-D012-F23BA4191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strong presentation should feel like a journey, rather than a series of disconnected slides.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useful structure is: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Situation → Problem → Complication → Solution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Situation: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is increasingly being used in education.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concerns about academic integrity.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Complication: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banning AI may not be practical.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AI literacy and responsible-use policies.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logical progression and keeps the audience engaged.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6EA51-823F-428C-8AF9-BF13575F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E93B4-6C62-C39E-EE76-EF642944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3BEF-F3BF-9313-1B04-3151BDD8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810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8BA0-CF39-3700-B588-2DF13ED6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 Principles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14B9-ED9B-8F00-40D8-75C7DC0D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2291F-D4CD-7235-1F7F-DB70A9F0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496D7-A9DE-34D2-F666-D794F138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FBEC786-2590-4813-1D9F-AF60375E3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982512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Visuals should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the message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merely decorate the slide.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Simplicity: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overcrowding slides.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slide: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paragraphs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 many bullet points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charts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Excessive animations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approach: One key idea per slide.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Ask: "What is the one thing I want the audience to remember from this slide?"</a:t>
            </a:r>
          </a:p>
        </p:txBody>
      </p:sp>
    </p:spTree>
    <p:extLst>
      <p:ext uri="{BB962C8B-B14F-4D97-AF65-F5344CB8AC3E}">
        <p14:creationId xmlns:p14="http://schemas.microsoft.com/office/powerpoint/2010/main" val="3166898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0652C-8CD9-9634-12E6-A6023C04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 Principles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B5739-E44D-64A1-1395-0E35381D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D32A-4020-A080-112D-9BE7D1A1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E29C-B611-84A8-A418-44611618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1AD094B-1514-CC31-39CD-B4909B1278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1108906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Visual Hierarchy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hierarchy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guides the audience's attention towards the most important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text for key ideas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Headings and subheadings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use of white space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positioning of important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audience should immediately understand: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should I look at first?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851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15FF-94FB-856D-44E5-6F2015EC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 Principles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EA70-9B12-9536-8340-2D19E0FFE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Consistency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consistency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choices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Heading styles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layouts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elements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 makes the presentation appear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organised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professional.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705F5-9C9E-87B4-71E6-D107205A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903DE-3448-1D5D-667C-A1E3BD27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DA7B3-4AF7-6B52-7EF5-6FB74B5B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62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45324-E72B-9E21-ADAD-9BF37948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 Principles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AB8C3-C811-40FA-CD16-1CA201153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Alignment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should appear intentionally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organised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randomly placing: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boxes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alignment creates a sense of order and improves readability.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157E2-6843-5BD5-D62D-DC97B3E7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68760-1CAF-94E3-6468-B0AE465C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A5A69-24B2-76F2-8A1E-0AA6317D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87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1A92-4941-E132-FD0E-3351DAF1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Cognitive Overload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D4E6D-DC69-0D1D-40AF-DB83856DA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Audiences have limited attention. A cluttered slide forces people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visuals  —all at the same time.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Therefore: Avoid reading large amounts of text directly from the slide.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6A3B1-D8AA-9567-5D4E-9C61A1CA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D6F0F-195B-D6F7-E5B2-9C25CCD4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91D38-F785-B54D-49D4-E0510F9F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34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snow covered tree tops">
            <a:extLst>
              <a:ext uri="{FF2B5EF4-FFF2-40B4-BE49-F238E27FC236}">
                <a16:creationId xmlns:a16="http://schemas.microsoft.com/office/drawing/2014/main" id="{9D81C5EE-2261-4083-8002-E23F98920B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" y="-2"/>
            <a:ext cx="12188952" cy="4572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3122"/>
            <a:ext cx="9144000" cy="1356310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id="{47A90702-7E26-474B-9F44-97E536C0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AE6D2-3EE3-39C6-BEED-2DB7B3BD9F28}"/>
              </a:ext>
            </a:extLst>
          </p:cNvPr>
          <p:cNvSpPr txBox="1"/>
          <p:nvPr/>
        </p:nvSpPr>
        <p:spPr>
          <a:xfrm>
            <a:off x="3005051" y="2961701"/>
            <a:ext cx="61763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Storytelling techniques for Presentation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639D-440A-B5FE-7BB1-B70F782D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Storytelling Techniques for Presentations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8E00E-F5F3-849D-6603-732A0BEB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CEB9E-0310-9F4D-C567-28948405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7389B-59D3-4B34-27BA-AF8920EB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68BD2C-1E27-40B7-5DBF-2B1A57B20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108468"/>
            <a:ext cx="1040092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Storytelling makes information more memorable and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turns a dry presentation into a memorable experience by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emotional connections and making complex facts easy to grasp.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useful structure is: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 → Challenge → Conflict → 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A new employee joins 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struggles with unclear communication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faces repeated misunderstandings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conflict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benefits when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introduces transparent communication practices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29975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1331-19CE-FCFF-36DE-92C487EB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impactful presentation should balance 3 elements:</a:t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39ED-2982-33C3-B473-5FA28D96F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LOGOS –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Evidence, Data, Reasoning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ETHOS – Credibility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Expertise, Reliable sources, Professional communication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PATHOS – Emotional Connection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Stories, Human experiences, Relevant examples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that uses only data may feel impersonal, while one that relies only on emotion may lack credibility. Strategic design balances all three.</a:t>
            </a:r>
          </a:p>
          <a:p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316A4-E0E2-0FBF-86CF-3E2B04E6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9843A-A71F-1BF8-6C59-B5424FEC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66D87-34FC-7156-E26C-EF916E8A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55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8393-A12B-BBA9-F400-C93DBB91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C9D5E-BA97-FE93-9E78-0747892F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FD70-81F4-1A57-B5DF-97F91688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ECB69-DFDB-8093-03E2-E94ACCC6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0B42022-AFCC-C259-CCC2-8D08C8F8AA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1"/>
            <a:ext cx="1066349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impactful presentation is strategically designed around the following sequence: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 your audience → Define your purpose → Identify the core message →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Storyboard the narrative → Select meaningful visuals → Design for clarity →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 with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effective presentations do not simply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information;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guide the audience through a carefully structured experience that helps them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understand, remember, and respond to the central message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effective presentations guide audiences through a structured experience,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turning this framework into a slide-by-slide storyboard with message-driven titles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the design immediately usable.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922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top view of snow covered pine trees&#10;">
            <a:extLst>
              <a:ext uri="{FF2B5EF4-FFF2-40B4-BE49-F238E27FC236}">
                <a16:creationId xmlns:a16="http://schemas.microsoft.com/office/drawing/2014/main" id="{51C7B78B-F743-4CBD-8A4C-876D008563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" b="35"/>
          <a:stretch/>
        </p:blipFill>
        <p:spPr>
          <a:xfrm>
            <a:off x="192394" y="-156691"/>
            <a:ext cx="11274552" cy="5870448"/>
          </a:xfr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B4A6BAED-EBE6-4796-91D1-762EB5936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3490624"/>
            <a:ext cx="4571999" cy="123538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26CC2-F73D-41DF-A99E-E86D860BD51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54AFD-12FC-4AE5-AA18-D006F459D1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E58EF-CE6D-472E-8AF9-E91E9F7AD3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15A1E29-FE68-C618-CDDC-C5D5FD939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EF2"/>
      </a:accent1>
      <a:accent2>
        <a:srgbClr val="9CD3D9"/>
      </a:accent2>
      <a:accent3>
        <a:srgbClr val="387373"/>
      </a:accent3>
      <a:accent4>
        <a:srgbClr val="022E40"/>
      </a:accent4>
      <a:accent5>
        <a:srgbClr val="F2E4C9"/>
      </a:accent5>
      <a:accent6>
        <a:srgbClr val="FFFFF5"/>
      </a:accent6>
      <a:hlink>
        <a:srgbClr val="0563C1"/>
      </a:hlink>
      <a:folHlink>
        <a:srgbClr val="954F72"/>
      </a:folHlink>
    </a:clrScheme>
    <a:fontScheme name="Custom 114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nowscape_tm44613219_Win32_JB_SL_v3" id="{1C87AC08-773C-4510-A4A8-B1D3594C4029}" vid="{72F6DBE6-EDB8-4427-B790-8ECF5ED625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473F6E9-2FA5-4F36-A42B-ED7213C4AA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1B5A3C-8B2E-4B35-A109-4713D9D356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576AF5-45CB-4D7F-8506-5C2B8F7E0C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Snowscape presentation</Template>
  <TotalTime>213</TotalTime>
  <Words>1117</Words>
  <Application>Microsoft Office PowerPoint</Application>
  <PresentationFormat>Widescreen</PresentationFormat>
  <Paragraphs>221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Bodoni MT</vt:lpstr>
      <vt:lpstr>Calibri</vt:lpstr>
      <vt:lpstr>Source Sans Pro Light</vt:lpstr>
      <vt:lpstr>Times New Roman</vt:lpstr>
      <vt:lpstr>Office Theme</vt:lpstr>
      <vt:lpstr>Strategic Presentation Design</vt:lpstr>
      <vt:lpstr>Strategic Presentation Design</vt:lpstr>
      <vt:lpstr>Audience Analysis </vt:lpstr>
      <vt:lpstr>Types of audience </vt:lpstr>
      <vt:lpstr>Types of audience</vt:lpstr>
      <vt:lpstr>PowerPoint Presentation</vt:lpstr>
      <vt:lpstr>What is Storyboarding? </vt:lpstr>
      <vt:lpstr>Storyboarding Example (Contd)</vt:lpstr>
      <vt:lpstr>Basic Storyboard Structure</vt:lpstr>
      <vt:lpstr>Creating a Narrative Flow </vt:lpstr>
      <vt:lpstr>Visual Design Principles </vt:lpstr>
      <vt:lpstr>Visual Design Principles</vt:lpstr>
      <vt:lpstr>Visual Design Principles</vt:lpstr>
      <vt:lpstr>Visual Design Principles</vt:lpstr>
      <vt:lpstr>Reducing Cognitive Overload</vt:lpstr>
      <vt:lpstr>PowerPoint Presentation</vt:lpstr>
      <vt:lpstr>Storytelling Techniques for Presentations </vt:lpstr>
      <vt:lpstr>An impactful presentation should balance 3 elements: 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</dc:title>
  <dc:creator>MARTHA KARUNAKAR</dc:creator>
  <cp:lastModifiedBy>MARTHA KARUNAKAR</cp:lastModifiedBy>
  <cp:revision>17</cp:revision>
  <dcterms:created xsi:type="dcterms:W3CDTF">2026-08-18T09:28:50Z</dcterms:created>
  <dcterms:modified xsi:type="dcterms:W3CDTF">2026-08-18T13:01:55Z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